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2855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z="1000" spc="-50" b="0">
                <a:latin typeface="Arial"/>
                <a:cs typeface="Arial"/>
              </a:rPr>
              <a:t>#</a:t>
            </a:fld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2855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z="1000" spc="-50" b="0">
                <a:latin typeface="Arial"/>
                <a:cs typeface="Arial"/>
              </a:rPr>
              <a:t>#</a:t>
            </a:fld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28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2855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36270" y="1701164"/>
            <a:ext cx="4606290" cy="419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z="1000" spc="-50" b="0">
                <a:latin typeface="Arial"/>
                <a:cs typeface="Arial"/>
              </a:rPr>
              <a:t>#</a:t>
            </a:fld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2855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z="1000" spc="-50" b="0">
                <a:latin typeface="Arial"/>
                <a:cs typeface="Arial"/>
              </a:rPr>
              <a:t>#</a:t>
            </a:fld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z="1000" spc="-50" b="0">
                <a:latin typeface="Arial"/>
                <a:cs typeface="Arial"/>
              </a:rPr>
              <a:t>#</a:t>
            </a:fld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285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53116" y="6243828"/>
            <a:ext cx="1280159" cy="2910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274701"/>
            <a:ext cx="11254740" cy="953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2855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6551" y="1517650"/>
            <a:ext cx="5845175" cy="4438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19100" y="6298356"/>
            <a:ext cx="2615565" cy="261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dirty="0" sz="1000" spc="-50" b="0">
                <a:latin typeface="Arial"/>
                <a:cs typeface="Arial"/>
              </a:rPr>
              <a:t>#</a:t>
            </a:fld>
            <a:endParaRPr sz="1000">
              <a:latin typeface="Arial"/>
              <a:cs typeface="Arial"/>
            </a:endParaRP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hyperlink" Target="https://twitter.com/Gartner_inc" TargetMode="External"/><Relationship Id="rId5" Type="http://schemas.openxmlformats.org/officeDocument/2006/relationships/image" Target="../media/image7.png"/><Relationship Id="rId6" Type="http://schemas.openxmlformats.org/officeDocument/2006/relationships/hyperlink" Target="https://www.linkedin.com/company/gartner/" TargetMode="External"/><Relationship Id="rId7" Type="http://schemas.openxmlformats.org/officeDocument/2006/relationships/image" Target="../media/image8.png"/><Relationship Id="rId8" Type="http://schemas.openxmlformats.org/officeDocument/2006/relationships/hyperlink" Target="https://www.gartner.com/analyst/16165" TargetMode="External"/><Relationship Id="rId9" Type="http://schemas.openxmlformats.org/officeDocument/2006/relationships/hyperlink" Target="https://www.linkedin.com/in/efgoodness/" TargetMode="External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hyperlink" Target="https://www.linkedin.com/in/annette-jump-5571397/" TargetMode="External"/><Relationship Id="rId13" Type="http://schemas.openxmlformats.org/officeDocument/2006/relationships/image" Target="../media/image11.jpg"/><Relationship Id="rId14" Type="http://schemas.openxmlformats.org/officeDocument/2006/relationships/hyperlink" Target="https://www.linkedin.com/in/vibha-chitkara-150121147/" TargetMode="External"/><Relationship Id="rId15" Type="http://schemas.openxmlformats.org/officeDocument/2006/relationships/image" Target="../media/image12.jpg"/><Relationship Id="rId16" Type="http://schemas.openxmlformats.org/officeDocument/2006/relationships/hyperlink" Target="https://www.gartner.com/analyst/11416" TargetMode="External"/><Relationship Id="rId17" Type="http://schemas.openxmlformats.org/officeDocument/2006/relationships/hyperlink" Target="https://www.gartner.com/analyst/97589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hyperlink" Target="https://huggingface.co/spaces/stabilityai/stable-diffusion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1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artner.com/document/code/757883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narrativa.com/4-benefits-of-automating-clinical-study-reports-csrs/" TargetMode="External"/><Relationship Id="rId3" Type="http://schemas.openxmlformats.org/officeDocument/2006/relationships/hyperlink" Target="https://www.narrativa.com/narrativa-lls-bring-ai-generated-reporting-to-the-clinical-trial-process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trypencil.com/mini-case-studies" TargetMode="External"/><Relationship Id="rId3" Type="http://schemas.openxmlformats.org/officeDocument/2006/relationships/image" Target="../media/image25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png"/><Relationship Id="rId5" Type="http://schemas.openxmlformats.org/officeDocument/2006/relationships/image" Target="../media/image30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hyperlink" Target="https://www.gartner.com/en/industries/high-tech/trends/top-trends-for-tech-providers?utm_source=Bizzabo&amp;utm_medium=in-webinar&amp;utm_campaign=RM_GB_YOY_HT_NPP_WB1_TTTSP23&amp;utm_term=gi" TargetMode="External"/><Relationship Id="rId4" Type="http://schemas.openxmlformats.org/officeDocument/2006/relationships/image" Target="../media/image39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jpg"/><Relationship Id="rId4" Type="http://schemas.openxmlformats.org/officeDocument/2006/relationships/hyperlink" Target="https://twitter.com/Gartner_inc?utm_source=Bizzabo&amp;utm_medium=social&amp;utm_campaign=RM_GB_2023_WB23_NPP_WB1_COMPANYTWITTER2023&amp;utm_term=wb&amp;utm_content=twitter" TargetMode="External"/><Relationship Id="rId5" Type="http://schemas.openxmlformats.org/officeDocument/2006/relationships/image" Target="../media/image42.png"/><Relationship Id="rId6" Type="http://schemas.openxmlformats.org/officeDocument/2006/relationships/hyperlink" Target="https://www.linkedin.com/showcase/gartner-for-high-tech/?utm_source=Bizzabo&amp;utm_medium=in-webinar&amp;utm_campaign=RM_GB_2023_WB23_NPP_WB1_HTTPLINKEDINPROMO23&amp;utm_content=linkedin" TargetMode="External"/><Relationship Id="rId7" Type="http://schemas.openxmlformats.org/officeDocument/2006/relationships/image" Target="../media/image43.png"/><Relationship Id="rId8" Type="http://schemas.openxmlformats.org/officeDocument/2006/relationships/hyperlink" Target="https://www.gartner.com/en/industries/high-tech/newsletter-signup?utm_source=Bizzabo&amp;utm_medium=email&amp;utm_campaign=RM_GB_2023_WB23_NPP_WB1_HTTPNEWSLETTERPROM23&amp;utm_term=wb&amp;utm_content=tw-gartner-it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www.gartner.com/en/become-a-client?utm_source=Bizzabo&amp;utm_medium=in-webinar&amp;utm_campaign=RM_GB_2023_WB23_NPP_WB1_BAC2023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://www.gartner.com/webinars?utm_source=Bizzabo&amp;utm_medium=in-webinar&amp;utm_campaign=RM_GB_2023_WB23_NPP_WB1_BIZZABOCALENDAR2023" TargetMode="External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6.jpg"/><Relationship Id="rId4" Type="http://schemas.openxmlformats.org/officeDocument/2006/relationships/image" Target="../media/image47.jpg"/><Relationship Id="rId5" Type="http://schemas.openxmlformats.org/officeDocument/2006/relationships/image" Target="../media/image48.jp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591056" y="1344180"/>
              <a:ext cx="5633085" cy="3291840"/>
            </a:xfrm>
            <a:custGeom>
              <a:avLst/>
              <a:gdLst/>
              <a:ahLst/>
              <a:cxnLst/>
              <a:rect l="l" t="t" r="r" b="b"/>
              <a:pathLst>
                <a:path w="5633084" h="3291840">
                  <a:moveTo>
                    <a:pt x="164592" y="0"/>
                  </a:moveTo>
                  <a:lnTo>
                    <a:pt x="0" y="0"/>
                  </a:lnTo>
                  <a:lnTo>
                    <a:pt x="0" y="3291827"/>
                  </a:lnTo>
                  <a:lnTo>
                    <a:pt x="164592" y="3291827"/>
                  </a:lnTo>
                  <a:lnTo>
                    <a:pt x="164592" y="0"/>
                  </a:lnTo>
                  <a:close/>
                </a:path>
                <a:path w="5633084" h="3291840">
                  <a:moveTo>
                    <a:pt x="5632704" y="0"/>
                  </a:moveTo>
                  <a:lnTo>
                    <a:pt x="5468112" y="0"/>
                  </a:lnTo>
                  <a:lnTo>
                    <a:pt x="5468112" y="3291827"/>
                  </a:lnTo>
                  <a:lnTo>
                    <a:pt x="5632704" y="3291827"/>
                  </a:lnTo>
                  <a:lnTo>
                    <a:pt x="5632704" y="0"/>
                  </a:lnTo>
                  <a:close/>
                </a:path>
              </a:pathLst>
            </a:custGeom>
            <a:solidFill>
              <a:srgbClr val="FF530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86543" y="6056376"/>
              <a:ext cx="2057400" cy="46786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24201" y="1549349"/>
            <a:ext cx="3109595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50"/>
              </a:spcBef>
            </a:pPr>
            <a:r>
              <a:rPr dirty="0" sz="4800" spc="-10"/>
              <a:t>Gartner Webinars</a:t>
            </a:r>
            <a:endParaRPr sz="4800"/>
          </a:p>
        </p:txBody>
      </p:sp>
      <p:sp>
        <p:nvSpPr>
          <p:cNvPr id="7" name="object 7" descr=""/>
          <p:cNvSpPr txBox="1"/>
          <p:nvPr/>
        </p:nvSpPr>
        <p:spPr>
          <a:xfrm>
            <a:off x="2191004" y="3199892"/>
            <a:ext cx="4818380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Gartner</a:t>
            </a:r>
            <a:r>
              <a:rPr dirty="0" sz="2000" spc="-7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delivers</a:t>
            </a:r>
            <a:r>
              <a:rPr dirty="0" sz="2000" spc="-2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actionable,</a:t>
            </a:r>
            <a:r>
              <a:rPr dirty="0" sz="2000" spc="-5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2855"/>
                </a:solidFill>
                <a:latin typeface="Arial"/>
                <a:cs typeface="Arial"/>
              </a:rPr>
              <a:t>objective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insight,</a:t>
            </a:r>
            <a:r>
              <a:rPr dirty="0" sz="2000" spc="-4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guidance</a:t>
            </a:r>
            <a:r>
              <a:rPr dirty="0" sz="2000" spc="-1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and</a:t>
            </a:r>
            <a:r>
              <a:rPr dirty="0" sz="20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tools</a:t>
            </a:r>
            <a:r>
              <a:rPr dirty="0" sz="20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to</a:t>
            </a:r>
            <a:r>
              <a:rPr dirty="0" sz="20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2855"/>
                </a:solidFill>
                <a:latin typeface="Arial"/>
                <a:cs typeface="Arial"/>
              </a:rPr>
              <a:t>enable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stronger</a:t>
            </a:r>
            <a:r>
              <a:rPr dirty="0" sz="2000" spc="-6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performance</a:t>
            </a:r>
            <a:r>
              <a:rPr dirty="0" sz="2000" spc="-7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on</a:t>
            </a:r>
            <a:r>
              <a:rPr dirty="0" sz="2000" spc="-4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002855"/>
                </a:solidFill>
                <a:latin typeface="Arial"/>
                <a:cs typeface="Arial"/>
              </a:rPr>
              <a:t>your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organization’s</a:t>
            </a:r>
            <a:r>
              <a:rPr dirty="0" sz="2000" spc="-5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mission</a:t>
            </a:r>
            <a:r>
              <a:rPr dirty="0" sz="20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2855"/>
                </a:solidFill>
                <a:latin typeface="Arial"/>
                <a:cs typeface="Arial"/>
              </a:rPr>
              <a:t>critical</a:t>
            </a:r>
            <a:r>
              <a:rPr dirty="0" sz="2000" spc="-5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2855"/>
                </a:solidFill>
                <a:latin typeface="Arial"/>
                <a:cs typeface="Arial"/>
              </a:rPr>
              <a:t>priorities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2303"/>
            <a:ext cx="1280159" cy="292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5447" rIns="0" bIns="0" rtlCol="0" vert="horz">
            <a:spAutoFit/>
          </a:bodyPr>
          <a:lstStyle/>
          <a:p>
            <a:pPr marL="40767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62B53"/>
                </a:solidFill>
              </a:rPr>
              <a:t>Enhance</a:t>
            </a:r>
            <a:r>
              <a:rPr dirty="0" spc="-155">
                <a:solidFill>
                  <a:srgbClr val="162B53"/>
                </a:solidFill>
              </a:rPr>
              <a:t> </a:t>
            </a:r>
            <a:r>
              <a:rPr dirty="0">
                <a:solidFill>
                  <a:srgbClr val="162B53"/>
                </a:solidFill>
              </a:rPr>
              <a:t>your</a:t>
            </a:r>
            <a:r>
              <a:rPr dirty="0" spc="-130">
                <a:solidFill>
                  <a:srgbClr val="162B53"/>
                </a:solidFill>
              </a:rPr>
              <a:t> </a:t>
            </a:r>
            <a:r>
              <a:rPr dirty="0">
                <a:solidFill>
                  <a:srgbClr val="162B53"/>
                </a:solidFill>
              </a:rPr>
              <a:t>webinar</a:t>
            </a:r>
            <a:r>
              <a:rPr dirty="0" spc="-135">
                <a:solidFill>
                  <a:srgbClr val="162B53"/>
                </a:solidFill>
              </a:rPr>
              <a:t> </a:t>
            </a:r>
            <a:r>
              <a:rPr dirty="0" spc="-10">
                <a:solidFill>
                  <a:srgbClr val="162B53"/>
                </a:solidFill>
              </a:rPr>
              <a:t>experience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5760720" y="2551176"/>
            <a:ext cx="946785" cy="993775"/>
          </a:xfrm>
          <a:custGeom>
            <a:avLst/>
            <a:gdLst/>
            <a:ahLst/>
            <a:cxnLst/>
            <a:rect l="l" t="t" r="r" b="b"/>
            <a:pathLst>
              <a:path w="946784" h="993775">
                <a:moveTo>
                  <a:pt x="680338" y="0"/>
                </a:moveTo>
                <a:lnTo>
                  <a:pt x="627751" y="4784"/>
                </a:lnTo>
                <a:lnTo>
                  <a:pt x="578056" y="19129"/>
                </a:lnTo>
                <a:lnTo>
                  <a:pt x="532195" y="43023"/>
                </a:lnTo>
                <a:lnTo>
                  <a:pt x="491108" y="76453"/>
                </a:lnTo>
                <a:lnTo>
                  <a:pt x="0" y="565658"/>
                </a:lnTo>
                <a:lnTo>
                  <a:pt x="56260" y="621664"/>
                </a:lnTo>
                <a:lnTo>
                  <a:pt x="552450" y="132461"/>
                </a:lnTo>
                <a:lnTo>
                  <a:pt x="578219" y="109448"/>
                </a:lnTo>
                <a:lnTo>
                  <a:pt x="608774" y="93614"/>
                </a:lnTo>
                <a:lnTo>
                  <a:pt x="643139" y="84472"/>
                </a:lnTo>
                <a:lnTo>
                  <a:pt x="680338" y="81534"/>
                </a:lnTo>
                <a:lnTo>
                  <a:pt x="717609" y="84472"/>
                </a:lnTo>
                <a:lnTo>
                  <a:pt x="782530" y="109448"/>
                </a:lnTo>
                <a:lnTo>
                  <a:pt x="832127" y="161051"/>
                </a:lnTo>
                <a:lnTo>
                  <a:pt x="860734" y="227758"/>
                </a:lnTo>
                <a:lnTo>
                  <a:pt x="864488" y="264922"/>
                </a:lnTo>
                <a:lnTo>
                  <a:pt x="860734" y="299219"/>
                </a:lnTo>
                <a:lnTo>
                  <a:pt x="832127" y="363862"/>
                </a:lnTo>
                <a:lnTo>
                  <a:pt x="317118" y="881507"/>
                </a:lnTo>
                <a:lnTo>
                  <a:pt x="283253" y="904438"/>
                </a:lnTo>
                <a:lnTo>
                  <a:pt x="245554" y="912082"/>
                </a:lnTo>
                <a:lnTo>
                  <a:pt x="207855" y="904438"/>
                </a:lnTo>
                <a:lnTo>
                  <a:pt x="173989" y="881507"/>
                </a:lnTo>
                <a:lnTo>
                  <a:pt x="150915" y="847756"/>
                </a:lnTo>
                <a:lnTo>
                  <a:pt x="143224" y="810196"/>
                </a:lnTo>
                <a:lnTo>
                  <a:pt x="150915" y="772636"/>
                </a:lnTo>
                <a:lnTo>
                  <a:pt x="173989" y="738886"/>
                </a:lnTo>
                <a:lnTo>
                  <a:pt x="659891" y="239522"/>
                </a:lnTo>
                <a:lnTo>
                  <a:pt x="700913" y="239522"/>
                </a:lnTo>
                <a:lnTo>
                  <a:pt x="705992" y="280288"/>
                </a:lnTo>
                <a:lnTo>
                  <a:pt x="214883" y="779652"/>
                </a:lnTo>
                <a:lnTo>
                  <a:pt x="276225" y="840739"/>
                </a:lnTo>
                <a:lnTo>
                  <a:pt x="762253" y="341375"/>
                </a:lnTo>
                <a:lnTo>
                  <a:pt x="785288" y="305101"/>
                </a:lnTo>
                <a:lnTo>
                  <a:pt x="792987" y="264922"/>
                </a:lnTo>
                <a:lnTo>
                  <a:pt x="785288" y="220392"/>
                </a:lnTo>
                <a:lnTo>
                  <a:pt x="762253" y="183387"/>
                </a:lnTo>
                <a:lnTo>
                  <a:pt x="723201" y="160527"/>
                </a:lnTo>
                <a:lnTo>
                  <a:pt x="680338" y="152908"/>
                </a:lnTo>
                <a:lnTo>
                  <a:pt x="637539" y="160528"/>
                </a:lnTo>
                <a:lnTo>
                  <a:pt x="598551" y="183387"/>
                </a:lnTo>
                <a:lnTo>
                  <a:pt x="117601" y="682751"/>
                </a:lnTo>
                <a:lnTo>
                  <a:pt x="87809" y="721458"/>
                </a:lnTo>
                <a:lnTo>
                  <a:pt x="69934" y="764695"/>
                </a:lnTo>
                <a:lnTo>
                  <a:pt x="63976" y="810196"/>
                </a:lnTo>
                <a:lnTo>
                  <a:pt x="69934" y="855697"/>
                </a:lnTo>
                <a:lnTo>
                  <a:pt x="87809" y="898934"/>
                </a:lnTo>
                <a:lnTo>
                  <a:pt x="117601" y="937640"/>
                </a:lnTo>
                <a:lnTo>
                  <a:pt x="177736" y="979027"/>
                </a:lnTo>
                <a:lnTo>
                  <a:pt x="245490" y="993648"/>
                </a:lnTo>
                <a:lnTo>
                  <a:pt x="280699" y="989915"/>
                </a:lnTo>
                <a:lnTo>
                  <a:pt x="349164" y="961447"/>
                </a:lnTo>
                <a:lnTo>
                  <a:pt x="869696" y="448437"/>
                </a:lnTo>
                <a:lnTo>
                  <a:pt x="903273" y="407600"/>
                </a:lnTo>
                <a:lnTo>
                  <a:pt x="927242" y="362442"/>
                </a:lnTo>
                <a:lnTo>
                  <a:pt x="941615" y="314402"/>
                </a:lnTo>
                <a:lnTo>
                  <a:pt x="946403" y="264922"/>
                </a:lnTo>
                <a:lnTo>
                  <a:pt x="941615" y="212578"/>
                </a:lnTo>
                <a:lnTo>
                  <a:pt x="927242" y="163067"/>
                </a:lnTo>
                <a:lnTo>
                  <a:pt x="903273" y="117367"/>
                </a:lnTo>
                <a:lnTo>
                  <a:pt x="869696" y="76453"/>
                </a:lnTo>
                <a:lnTo>
                  <a:pt x="828589" y="43023"/>
                </a:lnTo>
                <a:lnTo>
                  <a:pt x="782685" y="19129"/>
                </a:lnTo>
                <a:lnTo>
                  <a:pt x="732946" y="4784"/>
                </a:lnTo>
                <a:lnTo>
                  <a:pt x="680338" y="0"/>
                </a:lnTo>
                <a:close/>
              </a:path>
            </a:pathLst>
          </a:custGeom>
          <a:solidFill>
            <a:srgbClr val="FF53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929383" y="2551176"/>
            <a:ext cx="1115695" cy="993775"/>
          </a:xfrm>
          <a:custGeom>
            <a:avLst/>
            <a:gdLst/>
            <a:ahLst/>
            <a:cxnLst/>
            <a:rect l="l" t="t" r="r" b="b"/>
            <a:pathLst>
              <a:path w="1115695" h="993775">
                <a:moveTo>
                  <a:pt x="1115568" y="0"/>
                </a:moveTo>
                <a:lnTo>
                  <a:pt x="0" y="0"/>
                </a:lnTo>
                <a:lnTo>
                  <a:pt x="0" y="794893"/>
                </a:lnTo>
                <a:lnTo>
                  <a:pt x="239014" y="794893"/>
                </a:lnTo>
                <a:lnTo>
                  <a:pt x="239014" y="993648"/>
                </a:lnTo>
                <a:lnTo>
                  <a:pt x="442245" y="824738"/>
                </a:lnTo>
                <a:lnTo>
                  <a:pt x="318770" y="824738"/>
                </a:lnTo>
                <a:lnTo>
                  <a:pt x="318770" y="715390"/>
                </a:lnTo>
                <a:lnTo>
                  <a:pt x="79629" y="715390"/>
                </a:lnTo>
                <a:lnTo>
                  <a:pt x="79629" y="79501"/>
                </a:lnTo>
                <a:lnTo>
                  <a:pt x="1115568" y="79501"/>
                </a:lnTo>
                <a:lnTo>
                  <a:pt x="1115568" y="0"/>
                </a:lnTo>
                <a:close/>
              </a:path>
              <a:path w="1115695" h="993775">
                <a:moveTo>
                  <a:pt x="1115568" y="79501"/>
                </a:moveTo>
                <a:lnTo>
                  <a:pt x="1035939" y="79501"/>
                </a:lnTo>
                <a:lnTo>
                  <a:pt x="1035939" y="715390"/>
                </a:lnTo>
                <a:lnTo>
                  <a:pt x="448183" y="715390"/>
                </a:lnTo>
                <a:lnTo>
                  <a:pt x="318770" y="824738"/>
                </a:lnTo>
                <a:lnTo>
                  <a:pt x="442245" y="824738"/>
                </a:lnTo>
                <a:lnTo>
                  <a:pt x="478155" y="794893"/>
                </a:lnTo>
                <a:lnTo>
                  <a:pt x="1115568" y="794893"/>
                </a:lnTo>
                <a:lnTo>
                  <a:pt x="1115568" y="79501"/>
                </a:lnTo>
                <a:close/>
              </a:path>
              <a:path w="1115695" h="993775">
                <a:moveTo>
                  <a:pt x="557784" y="536575"/>
                </a:moveTo>
                <a:lnTo>
                  <a:pt x="537414" y="540136"/>
                </a:lnTo>
                <a:lnTo>
                  <a:pt x="521700" y="550211"/>
                </a:lnTo>
                <a:lnTo>
                  <a:pt x="511581" y="565882"/>
                </a:lnTo>
                <a:lnTo>
                  <a:pt x="508000" y="586232"/>
                </a:lnTo>
                <a:lnTo>
                  <a:pt x="511581" y="606581"/>
                </a:lnTo>
                <a:lnTo>
                  <a:pt x="521700" y="622252"/>
                </a:lnTo>
                <a:lnTo>
                  <a:pt x="537414" y="632327"/>
                </a:lnTo>
                <a:lnTo>
                  <a:pt x="557784" y="635888"/>
                </a:lnTo>
                <a:lnTo>
                  <a:pt x="578153" y="632327"/>
                </a:lnTo>
                <a:lnTo>
                  <a:pt x="593867" y="622252"/>
                </a:lnTo>
                <a:lnTo>
                  <a:pt x="603986" y="606581"/>
                </a:lnTo>
                <a:lnTo>
                  <a:pt x="607568" y="586232"/>
                </a:lnTo>
                <a:lnTo>
                  <a:pt x="603986" y="565882"/>
                </a:lnTo>
                <a:lnTo>
                  <a:pt x="593867" y="550211"/>
                </a:lnTo>
                <a:lnTo>
                  <a:pt x="578153" y="540136"/>
                </a:lnTo>
                <a:lnTo>
                  <a:pt x="557784" y="536575"/>
                </a:lnTo>
                <a:close/>
              </a:path>
              <a:path w="1115695" h="993775">
                <a:moveTo>
                  <a:pt x="680152" y="238506"/>
                </a:moveTo>
                <a:lnTo>
                  <a:pt x="562737" y="238506"/>
                </a:lnTo>
                <a:lnTo>
                  <a:pt x="580320" y="244080"/>
                </a:lnTo>
                <a:lnTo>
                  <a:pt x="595106" y="253380"/>
                </a:lnTo>
                <a:lnTo>
                  <a:pt x="606153" y="266420"/>
                </a:lnTo>
                <a:lnTo>
                  <a:pt x="612521" y="283210"/>
                </a:lnTo>
                <a:lnTo>
                  <a:pt x="613735" y="297237"/>
                </a:lnTo>
                <a:lnTo>
                  <a:pt x="610711" y="309895"/>
                </a:lnTo>
                <a:lnTo>
                  <a:pt x="604877" y="321625"/>
                </a:lnTo>
                <a:lnTo>
                  <a:pt x="597662" y="332866"/>
                </a:lnTo>
                <a:lnTo>
                  <a:pt x="572770" y="357759"/>
                </a:lnTo>
                <a:lnTo>
                  <a:pt x="549463" y="382702"/>
                </a:lnTo>
                <a:lnTo>
                  <a:pt x="532230" y="412369"/>
                </a:lnTo>
                <a:lnTo>
                  <a:pt x="521567" y="445734"/>
                </a:lnTo>
                <a:lnTo>
                  <a:pt x="517906" y="481964"/>
                </a:lnTo>
                <a:lnTo>
                  <a:pt x="517906" y="496824"/>
                </a:lnTo>
                <a:lnTo>
                  <a:pt x="597662" y="496824"/>
                </a:lnTo>
                <a:lnTo>
                  <a:pt x="597662" y="481964"/>
                </a:lnTo>
                <a:lnTo>
                  <a:pt x="599521" y="463375"/>
                </a:lnTo>
                <a:lnTo>
                  <a:pt x="605107" y="445262"/>
                </a:lnTo>
                <a:lnTo>
                  <a:pt x="614431" y="428101"/>
                </a:lnTo>
                <a:lnTo>
                  <a:pt x="627507" y="412369"/>
                </a:lnTo>
                <a:lnTo>
                  <a:pt x="652399" y="387476"/>
                </a:lnTo>
                <a:lnTo>
                  <a:pt x="671917" y="362690"/>
                </a:lnTo>
                <a:lnTo>
                  <a:pt x="685387" y="334152"/>
                </a:lnTo>
                <a:lnTo>
                  <a:pt x="692332" y="303734"/>
                </a:lnTo>
                <a:lnTo>
                  <a:pt x="692277" y="273303"/>
                </a:lnTo>
                <a:lnTo>
                  <a:pt x="680152" y="238506"/>
                </a:lnTo>
                <a:close/>
              </a:path>
              <a:path w="1115695" h="993775">
                <a:moveTo>
                  <a:pt x="543792" y="158851"/>
                </a:moveTo>
                <a:lnTo>
                  <a:pt x="491456" y="177166"/>
                </a:lnTo>
                <a:lnTo>
                  <a:pt x="448526" y="214177"/>
                </a:lnTo>
                <a:lnTo>
                  <a:pt x="426098" y="264310"/>
                </a:lnTo>
                <a:lnTo>
                  <a:pt x="423291" y="293115"/>
                </a:lnTo>
                <a:lnTo>
                  <a:pt x="423291" y="318008"/>
                </a:lnTo>
                <a:lnTo>
                  <a:pt x="503047" y="318008"/>
                </a:lnTo>
                <a:lnTo>
                  <a:pt x="503047" y="293115"/>
                </a:lnTo>
                <a:lnTo>
                  <a:pt x="503945" y="283210"/>
                </a:lnTo>
                <a:lnTo>
                  <a:pt x="531233" y="246864"/>
                </a:lnTo>
                <a:lnTo>
                  <a:pt x="562737" y="238506"/>
                </a:lnTo>
                <a:lnTo>
                  <a:pt x="680152" y="238506"/>
                </a:lnTo>
                <a:lnTo>
                  <a:pt x="677765" y="231655"/>
                </a:lnTo>
                <a:lnTo>
                  <a:pt x="651144" y="197485"/>
                </a:lnTo>
                <a:lnTo>
                  <a:pt x="615213" y="172648"/>
                </a:lnTo>
                <a:lnTo>
                  <a:pt x="572770" y="159003"/>
                </a:lnTo>
                <a:lnTo>
                  <a:pt x="543792" y="158851"/>
                </a:lnTo>
                <a:close/>
              </a:path>
            </a:pathLst>
          </a:custGeom>
          <a:solidFill>
            <a:srgbClr val="FF53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607058" y="3979926"/>
            <a:ext cx="175958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2448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Arial Black"/>
                <a:cs typeface="Arial Black"/>
              </a:rPr>
              <a:t>Ask</a:t>
            </a:r>
            <a:r>
              <a:rPr dirty="0" sz="2800" spc="-60">
                <a:latin typeface="Arial Black"/>
                <a:cs typeface="Arial Black"/>
              </a:rPr>
              <a:t> </a:t>
            </a:r>
            <a:r>
              <a:rPr dirty="0" sz="2800" spc="-50">
                <a:latin typeface="Arial Black"/>
                <a:cs typeface="Arial Black"/>
              </a:rPr>
              <a:t>a </a:t>
            </a:r>
            <a:r>
              <a:rPr dirty="0" sz="2800" spc="-10">
                <a:latin typeface="Arial Black"/>
                <a:cs typeface="Arial Black"/>
              </a:rPr>
              <a:t>Question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75097" y="3979926"/>
            <a:ext cx="251904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94005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Arial Black"/>
                <a:cs typeface="Arial Black"/>
              </a:rPr>
              <a:t>Download </a:t>
            </a:r>
            <a:r>
              <a:rPr dirty="0" sz="2800" spc="-20">
                <a:latin typeface="Arial Black"/>
                <a:cs typeface="Arial Black"/>
              </a:rPr>
              <a:t>Attachments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256521" y="3979926"/>
            <a:ext cx="122872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865" marR="5080" indent="-50800">
              <a:lnSpc>
                <a:spcPct val="100000"/>
              </a:lnSpc>
              <a:spcBef>
                <a:spcPts val="95"/>
              </a:spcBef>
            </a:pPr>
            <a:r>
              <a:rPr dirty="0" sz="2800" spc="-45">
                <a:latin typeface="Arial Black"/>
                <a:cs typeface="Arial Black"/>
              </a:rPr>
              <a:t>Watch </a:t>
            </a:r>
            <a:r>
              <a:rPr dirty="0" sz="2800" spc="-10">
                <a:latin typeface="Arial Black"/>
                <a:cs typeface="Arial Black"/>
              </a:rPr>
              <a:t>Again</a:t>
            </a:r>
            <a:endParaRPr sz="2800">
              <a:latin typeface="Arial Black"/>
              <a:cs typeface="Arial Black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14104" y="2630423"/>
            <a:ext cx="1312163" cy="9144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673100" y="6294365"/>
            <a:ext cx="2361565" cy="25654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latin typeface="Arial"/>
                <a:cs typeface="Arial"/>
              </a:rPr>
              <a:t>RESTRICTED</a:t>
            </a:r>
            <a:r>
              <a:rPr dirty="0" sz="700" spc="-50" b="1">
                <a:latin typeface="Arial"/>
                <a:cs typeface="Arial"/>
              </a:rPr>
              <a:t> </a:t>
            </a:r>
            <a:r>
              <a:rPr dirty="0" sz="700" spc="-10" b="1">
                <a:latin typeface="Arial"/>
                <a:cs typeface="Arial"/>
              </a:rPr>
              <a:t>DISTRIBUTION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700">
                <a:latin typeface="Arial"/>
                <a:cs typeface="Arial"/>
              </a:rPr>
              <a:t>©</a:t>
            </a:r>
            <a:r>
              <a:rPr dirty="0" sz="700" spc="-3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2023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Gartner,</a:t>
            </a:r>
            <a:r>
              <a:rPr dirty="0" sz="700" spc="1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Inc. and/or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its</a:t>
            </a:r>
            <a:r>
              <a:rPr dirty="0" sz="700" spc="-2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affiliates.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All</a:t>
            </a:r>
            <a:r>
              <a:rPr dirty="0" sz="700" spc="-4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rights</a:t>
            </a:r>
            <a:r>
              <a:rPr dirty="0" sz="700" spc="-10">
                <a:latin typeface="Arial"/>
                <a:cs typeface="Arial"/>
              </a:rPr>
              <a:t> 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3801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z="1000" spc="-50" b="0">
                <a:latin typeface="Arial"/>
                <a:cs typeface="Arial"/>
              </a:rPr>
              <a:t>2</a:t>
            </a:fld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>
              <a:alpha val="21174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2303"/>
            <a:ext cx="1280159" cy="292608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347472" y="2218943"/>
            <a:ext cx="11424285" cy="3552825"/>
            <a:chOff x="347472" y="2218943"/>
            <a:chExt cx="11424285" cy="355282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472" y="2218943"/>
              <a:ext cx="11423904" cy="355244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45008" y="2278380"/>
              <a:ext cx="11309985" cy="3438525"/>
            </a:xfrm>
            <a:custGeom>
              <a:avLst/>
              <a:gdLst/>
              <a:ahLst/>
              <a:cxnLst/>
              <a:rect l="l" t="t" r="r" b="b"/>
              <a:pathLst>
                <a:path w="11309985" h="3438525">
                  <a:moveTo>
                    <a:pt x="11309604" y="0"/>
                  </a:moveTo>
                  <a:lnTo>
                    <a:pt x="0" y="0"/>
                  </a:lnTo>
                  <a:lnTo>
                    <a:pt x="0" y="3438144"/>
                  </a:lnTo>
                  <a:lnTo>
                    <a:pt x="11309604" y="3438144"/>
                  </a:lnTo>
                  <a:lnTo>
                    <a:pt x="11309604" y="0"/>
                  </a:lnTo>
                  <a:close/>
                </a:path>
              </a:pathLst>
            </a:custGeom>
            <a:solidFill>
              <a:srgbClr val="EDEDED">
                <a:alpha val="5411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5008" y="2278380"/>
              <a:ext cx="11309985" cy="3438525"/>
            </a:xfrm>
            <a:custGeom>
              <a:avLst/>
              <a:gdLst/>
              <a:ahLst/>
              <a:cxnLst/>
              <a:rect l="l" t="t" r="r" b="b"/>
              <a:pathLst>
                <a:path w="11309985" h="3438525">
                  <a:moveTo>
                    <a:pt x="0" y="3438144"/>
                  </a:moveTo>
                  <a:lnTo>
                    <a:pt x="11309604" y="3438144"/>
                  </a:lnTo>
                  <a:lnTo>
                    <a:pt x="11309604" y="0"/>
                  </a:lnTo>
                  <a:lnTo>
                    <a:pt x="0" y="0"/>
                  </a:lnTo>
                  <a:lnTo>
                    <a:pt x="0" y="3438144"/>
                  </a:lnTo>
                  <a:close/>
                </a:path>
              </a:pathLst>
            </a:custGeom>
            <a:ln w="12700">
              <a:solidFill>
                <a:srgbClr val="A7AE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9428733" y="577977"/>
            <a:ext cx="23482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62B53"/>
                </a:solidFill>
                <a:latin typeface="Arial"/>
                <a:cs typeface="Arial"/>
              </a:rPr>
              <a:t>Connect</a:t>
            </a:r>
            <a:r>
              <a:rPr dirty="0" sz="1800" spc="-40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162B53"/>
                </a:solidFill>
                <a:latin typeface="Arial"/>
                <a:cs typeface="Arial"/>
              </a:rPr>
              <a:t>with</a:t>
            </a:r>
            <a:r>
              <a:rPr dirty="0" sz="1800" spc="-60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62B53"/>
                </a:solidFill>
                <a:latin typeface="Arial"/>
                <a:cs typeface="Arial"/>
              </a:rPr>
              <a:t>Gartner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8099" y="702690"/>
            <a:ext cx="7459345" cy="1002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62B53"/>
                </a:solidFill>
              </a:rPr>
              <a:t>Generative</a:t>
            </a:r>
            <a:r>
              <a:rPr dirty="0" spc="-60">
                <a:solidFill>
                  <a:srgbClr val="162B53"/>
                </a:solidFill>
              </a:rPr>
              <a:t> </a:t>
            </a:r>
            <a:r>
              <a:rPr dirty="0">
                <a:solidFill>
                  <a:srgbClr val="162B53"/>
                </a:solidFill>
              </a:rPr>
              <a:t>AI:</a:t>
            </a:r>
            <a:r>
              <a:rPr dirty="0" spc="-65">
                <a:solidFill>
                  <a:srgbClr val="162B53"/>
                </a:solidFill>
              </a:rPr>
              <a:t> </a:t>
            </a:r>
            <a:r>
              <a:rPr dirty="0">
                <a:solidFill>
                  <a:srgbClr val="162B53"/>
                </a:solidFill>
              </a:rPr>
              <a:t>Changing</a:t>
            </a:r>
            <a:r>
              <a:rPr dirty="0" spc="-60">
                <a:solidFill>
                  <a:srgbClr val="162B53"/>
                </a:solidFill>
              </a:rPr>
              <a:t> </a:t>
            </a:r>
            <a:r>
              <a:rPr dirty="0" spc="-25">
                <a:solidFill>
                  <a:srgbClr val="162B53"/>
                </a:solidFill>
              </a:rPr>
              <a:t>How </a:t>
            </a:r>
            <a:r>
              <a:rPr dirty="0">
                <a:solidFill>
                  <a:srgbClr val="162B53"/>
                </a:solidFill>
              </a:rPr>
              <a:t>Business</a:t>
            </a:r>
            <a:r>
              <a:rPr dirty="0" spc="-110">
                <a:solidFill>
                  <a:srgbClr val="162B53"/>
                </a:solidFill>
              </a:rPr>
              <a:t> </a:t>
            </a:r>
            <a:r>
              <a:rPr dirty="0">
                <a:solidFill>
                  <a:srgbClr val="162B53"/>
                </a:solidFill>
              </a:rPr>
              <a:t>Innovates</a:t>
            </a:r>
            <a:r>
              <a:rPr dirty="0" spc="-70">
                <a:solidFill>
                  <a:srgbClr val="162B53"/>
                </a:solidFill>
              </a:rPr>
              <a:t> </a:t>
            </a:r>
            <a:r>
              <a:rPr dirty="0">
                <a:solidFill>
                  <a:srgbClr val="162B53"/>
                </a:solidFill>
              </a:rPr>
              <a:t>and</a:t>
            </a:r>
            <a:r>
              <a:rPr dirty="0" spc="-65">
                <a:solidFill>
                  <a:srgbClr val="162B53"/>
                </a:solidFill>
              </a:rPr>
              <a:t> </a:t>
            </a:r>
            <a:r>
              <a:rPr dirty="0" spc="-10">
                <a:solidFill>
                  <a:srgbClr val="162B53"/>
                </a:solidFill>
              </a:rPr>
              <a:t>Operates</a:t>
            </a:r>
          </a:p>
        </p:txBody>
      </p:sp>
      <p:pic>
        <p:nvPicPr>
          <p:cNvPr id="10" name="object 10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79407" y="542544"/>
            <a:ext cx="365759" cy="367284"/>
          </a:xfrm>
          <a:prstGeom prst="rect">
            <a:avLst/>
          </a:prstGeom>
        </p:spPr>
      </p:pic>
      <p:pic>
        <p:nvPicPr>
          <p:cNvPr id="11" name="object 11" descr="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03919" y="536448"/>
            <a:ext cx="365759" cy="36728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231770" y="3043797"/>
            <a:ext cx="1807210" cy="849630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15"/>
              </a:spcBef>
            </a:pPr>
            <a:r>
              <a:rPr dirty="0" sz="2000" b="1">
                <a:solidFill>
                  <a:srgbClr val="FF5309"/>
                </a:solidFill>
                <a:latin typeface="Arial"/>
                <a:cs typeface="Arial"/>
                <a:hlinkClick r:id="rId8"/>
              </a:rPr>
              <a:t>Eric</a:t>
            </a:r>
            <a:r>
              <a:rPr dirty="0" sz="2000" spc="-30" b="1">
                <a:solidFill>
                  <a:srgbClr val="FF5309"/>
                </a:solidFill>
                <a:latin typeface="Arial"/>
                <a:cs typeface="Arial"/>
                <a:hlinkClick r:id="rId8"/>
              </a:rPr>
              <a:t> </a:t>
            </a:r>
            <a:r>
              <a:rPr dirty="0" sz="2000" spc="-10" b="1">
                <a:solidFill>
                  <a:srgbClr val="FF5309"/>
                </a:solidFill>
                <a:latin typeface="Arial"/>
                <a:cs typeface="Arial"/>
                <a:hlinkClick r:id="rId8"/>
              </a:rPr>
              <a:t>Goodness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r>
              <a:rPr dirty="0" sz="1800">
                <a:latin typeface="Arial"/>
                <a:cs typeface="Arial"/>
              </a:rPr>
              <a:t>VP</a:t>
            </a:r>
            <a:r>
              <a:rPr dirty="0" sz="1800" spc="-1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Analyst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56233" y="3151187"/>
            <a:ext cx="9027160" cy="1543050"/>
            <a:chOff x="856233" y="3151187"/>
            <a:chExt cx="9027160" cy="1543050"/>
          </a:xfrm>
        </p:grpSpPr>
        <p:pic>
          <p:nvPicPr>
            <p:cNvPr id="14" name="object 14" descr="">
              <a:hlinkClick r:id="rId9"/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4287" y="4163567"/>
              <a:ext cx="416051" cy="41605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2583" y="3160775"/>
              <a:ext cx="1210055" cy="152095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862583" y="3160775"/>
              <a:ext cx="1210310" cy="1521460"/>
            </a:xfrm>
            <a:custGeom>
              <a:avLst/>
              <a:gdLst/>
              <a:ahLst/>
              <a:cxnLst/>
              <a:rect l="l" t="t" r="r" b="b"/>
              <a:pathLst>
                <a:path w="1210310" h="1521460">
                  <a:moveTo>
                    <a:pt x="0" y="1520952"/>
                  </a:moveTo>
                  <a:lnTo>
                    <a:pt x="1210055" y="1520952"/>
                  </a:lnTo>
                  <a:lnTo>
                    <a:pt x="1210055" y="0"/>
                  </a:lnTo>
                  <a:lnTo>
                    <a:pt x="0" y="0"/>
                  </a:lnTo>
                  <a:lnTo>
                    <a:pt x="0" y="1520952"/>
                  </a:lnTo>
                  <a:close/>
                </a:path>
              </a:pathLst>
            </a:custGeom>
            <a:ln w="12699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>
              <a:hlinkClick r:id="rId12"/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97880" y="4146803"/>
              <a:ext cx="416051" cy="41605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75987" y="3166872"/>
              <a:ext cx="1210056" cy="1520952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4475987" y="3166872"/>
              <a:ext cx="1210310" cy="1521460"/>
            </a:xfrm>
            <a:custGeom>
              <a:avLst/>
              <a:gdLst/>
              <a:ahLst/>
              <a:cxnLst/>
              <a:rect l="l" t="t" r="r" b="b"/>
              <a:pathLst>
                <a:path w="1210310" h="1521460">
                  <a:moveTo>
                    <a:pt x="0" y="1520952"/>
                  </a:moveTo>
                  <a:lnTo>
                    <a:pt x="1210056" y="1520952"/>
                  </a:lnTo>
                  <a:lnTo>
                    <a:pt x="1210056" y="0"/>
                  </a:lnTo>
                  <a:lnTo>
                    <a:pt x="0" y="0"/>
                  </a:lnTo>
                  <a:lnTo>
                    <a:pt x="0" y="1520952"/>
                  </a:lnTo>
                  <a:close/>
                </a:path>
              </a:pathLst>
            </a:custGeom>
            <a:ln w="12700">
              <a:solidFill>
                <a:srgbClr val="75757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>
              <a:hlinkClick r:id="rId14"/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67088" y="4163567"/>
              <a:ext cx="416051" cy="416051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93964" y="3160775"/>
              <a:ext cx="1210055" cy="152247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8089138" y="3155950"/>
              <a:ext cx="1219835" cy="1532255"/>
            </a:xfrm>
            <a:custGeom>
              <a:avLst/>
              <a:gdLst/>
              <a:ahLst/>
              <a:cxnLst/>
              <a:rect l="l" t="t" r="r" b="b"/>
              <a:pathLst>
                <a:path w="1219834" h="1532254">
                  <a:moveTo>
                    <a:pt x="0" y="1532001"/>
                  </a:moveTo>
                  <a:lnTo>
                    <a:pt x="1219580" y="1532001"/>
                  </a:lnTo>
                  <a:lnTo>
                    <a:pt x="1219580" y="0"/>
                  </a:lnTo>
                  <a:lnTo>
                    <a:pt x="0" y="0"/>
                  </a:lnTo>
                  <a:lnTo>
                    <a:pt x="0" y="153200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817108" y="3026788"/>
            <a:ext cx="1951355" cy="848994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15"/>
              </a:spcBef>
            </a:pPr>
            <a:r>
              <a:rPr dirty="0" sz="2000" b="1">
                <a:solidFill>
                  <a:srgbClr val="FF5309"/>
                </a:solidFill>
                <a:latin typeface="Arial"/>
                <a:cs typeface="Arial"/>
                <a:hlinkClick r:id="rId16"/>
              </a:rPr>
              <a:t>Annette</a:t>
            </a:r>
            <a:r>
              <a:rPr dirty="0" sz="2000" spc="-25" b="1">
                <a:solidFill>
                  <a:srgbClr val="FF5309"/>
                </a:solidFill>
                <a:latin typeface="Arial"/>
                <a:cs typeface="Arial"/>
                <a:hlinkClick r:id="rId16"/>
              </a:rPr>
              <a:t> </a:t>
            </a:r>
            <a:r>
              <a:rPr dirty="0" sz="2000" spc="-20" b="1">
                <a:solidFill>
                  <a:srgbClr val="FF5309"/>
                </a:solidFill>
                <a:latin typeface="Arial"/>
                <a:cs typeface="Arial"/>
                <a:hlinkClick r:id="rId16"/>
              </a:rPr>
              <a:t>Jump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r>
              <a:rPr dirty="0" sz="1800">
                <a:latin typeface="Arial"/>
                <a:cs typeface="Arial"/>
              </a:rPr>
              <a:t>Sr.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Director</a:t>
            </a:r>
            <a:r>
              <a:rPr dirty="0" sz="1800" spc="-114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Analyst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73100" y="6294365"/>
            <a:ext cx="2361565" cy="25654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latin typeface="Arial"/>
                <a:cs typeface="Arial"/>
              </a:rPr>
              <a:t>RESTRICTED</a:t>
            </a:r>
            <a:r>
              <a:rPr dirty="0" sz="700" spc="-50" b="1">
                <a:latin typeface="Arial"/>
                <a:cs typeface="Arial"/>
              </a:rPr>
              <a:t> </a:t>
            </a:r>
            <a:r>
              <a:rPr dirty="0" sz="700" spc="-10" b="1">
                <a:latin typeface="Arial"/>
                <a:cs typeface="Arial"/>
              </a:rPr>
              <a:t>DISTRIBUTION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700">
                <a:latin typeface="Arial"/>
                <a:cs typeface="Arial"/>
              </a:rPr>
              <a:t>©</a:t>
            </a:r>
            <a:r>
              <a:rPr dirty="0" sz="700" spc="-3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2023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Gartner,</a:t>
            </a:r>
            <a:r>
              <a:rPr dirty="0" sz="700" spc="1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Inc. and/or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its</a:t>
            </a:r>
            <a:r>
              <a:rPr dirty="0" sz="700" spc="-2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affiliates.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All</a:t>
            </a:r>
            <a:r>
              <a:rPr dirty="0" sz="700" spc="-4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rights</a:t>
            </a:r>
            <a:r>
              <a:rPr dirty="0" sz="700" spc="-10">
                <a:latin typeface="Arial"/>
                <a:cs typeface="Arial"/>
              </a:rPr>
              <a:t> 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3801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dirty="0" sz="1000" spc="-50" b="0">
                <a:latin typeface="Arial"/>
                <a:cs typeface="Arial"/>
              </a:rPr>
              <a:t>2</a:t>
            </a:fld>
            <a:endParaRPr sz="10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396094" y="3043797"/>
            <a:ext cx="2093595" cy="849630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15"/>
              </a:spcBef>
            </a:pPr>
            <a:r>
              <a:rPr dirty="0" sz="2000" b="1">
                <a:solidFill>
                  <a:srgbClr val="FF5309"/>
                </a:solidFill>
                <a:latin typeface="Arial"/>
                <a:cs typeface="Arial"/>
                <a:hlinkClick r:id="rId17"/>
              </a:rPr>
              <a:t>Vibha</a:t>
            </a:r>
            <a:r>
              <a:rPr dirty="0" sz="2000" spc="-65" b="1">
                <a:solidFill>
                  <a:srgbClr val="FF5309"/>
                </a:solidFill>
                <a:latin typeface="Arial"/>
                <a:cs typeface="Arial"/>
                <a:hlinkClick r:id="rId17"/>
              </a:rPr>
              <a:t> </a:t>
            </a:r>
            <a:r>
              <a:rPr dirty="0" sz="2000" spc="-10" b="1">
                <a:solidFill>
                  <a:srgbClr val="FF5309"/>
                </a:solidFill>
                <a:latin typeface="Arial"/>
                <a:cs typeface="Arial"/>
                <a:hlinkClick r:id="rId17"/>
              </a:rPr>
              <a:t>Chitkara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r>
              <a:rPr dirty="0" sz="1800">
                <a:latin typeface="Arial"/>
                <a:cs typeface="Arial"/>
              </a:rPr>
              <a:t>Specialist,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Research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53115" y="6242303"/>
              <a:ext cx="1280159" cy="29108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096000" y="0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6096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6000" y="6858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53115" y="6242303"/>
              <a:ext cx="1280159" cy="29108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86955" y="1345691"/>
              <a:ext cx="4532376" cy="453390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444500" y="6395415"/>
            <a:ext cx="89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18819" y="6421323"/>
            <a:ext cx="49911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©</a:t>
            </a:r>
            <a:r>
              <a:rPr dirty="0" sz="700" spc="-3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2023</a:t>
            </a:r>
            <a:r>
              <a:rPr dirty="0" sz="700" spc="-2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Gartner,</a:t>
            </a:r>
            <a:r>
              <a:rPr dirty="0" sz="700" spc="1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Inc.</a:t>
            </a:r>
            <a:r>
              <a:rPr dirty="0" sz="700" spc="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and/or</a:t>
            </a:r>
            <a:r>
              <a:rPr dirty="0" sz="700" spc="-1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its</a:t>
            </a:r>
            <a:r>
              <a:rPr dirty="0" sz="700" spc="-3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affiliates.</a:t>
            </a:r>
            <a:r>
              <a:rPr dirty="0" sz="700" spc="-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All</a:t>
            </a:r>
            <a:r>
              <a:rPr dirty="0" sz="700" spc="-4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rights</a:t>
            </a:r>
            <a:r>
              <a:rPr dirty="0" sz="700" spc="-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reserved.</a:t>
            </a:r>
            <a:r>
              <a:rPr dirty="0" sz="700" spc="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Gartner</a:t>
            </a:r>
            <a:r>
              <a:rPr dirty="0" sz="700" spc="1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is</a:t>
            </a:r>
            <a:r>
              <a:rPr dirty="0" sz="700" spc="-3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E7878"/>
                </a:solidFill>
                <a:latin typeface="Arial"/>
                <a:cs typeface="Arial"/>
              </a:rPr>
              <a:t>registered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 trademark</a:t>
            </a:r>
            <a:r>
              <a:rPr dirty="0" sz="700" spc="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of</a:t>
            </a:r>
            <a:r>
              <a:rPr dirty="0" sz="700" spc="-2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Gartner,</a:t>
            </a:r>
            <a:r>
              <a:rPr dirty="0" sz="700" spc="1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Inc. and</a:t>
            </a:r>
            <a:r>
              <a:rPr dirty="0" sz="700" spc="-2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its</a:t>
            </a:r>
            <a:r>
              <a:rPr dirty="0" sz="700" spc="-3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E7878"/>
                </a:solidFill>
                <a:latin typeface="Arial"/>
                <a:cs typeface="Arial"/>
              </a:rPr>
              <a:t>affiliates.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3041" y="2969768"/>
            <a:ext cx="4791710" cy="1685289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algn="ctr" marL="746760" marR="738505" indent="-1270">
              <a:lnSpc>
                <a:spcPts val="3460"/>
              </a:lnSpc>
              <a:spcBef>
                <a:spcPts val="535"/>
              </a:spcBef>
            </a:pPr>
            <a:r>
              <a:rPr dirty="0" sz="3200">
                <a:solidFill>
                  <a:srgbClr val="002855"/>
                </a:solidFill>
                <a:latin typeface="Arial Black"/>
                <a:cs typeface="Arial Black"/>
              </a:rPr>
              <a:t>This</a:t>
            </a:r>
            <a:r>
              <a:rPr dirty="0" sz="3200" spc="65">
                <a:solidFill>
                  <a:srgbClr val="002855"/>
                </a:solidFill>
                <a:latin typeface="Arial Black"/>
                <a:cs typeface="Arial Black"/>
              </a:rPr>
              <a:t> </a:t>
            </a:r>
            <a:r>
              <a:rPr dirty="0" sz="3200" spc="-10">
                <a:solidFill>
                  <a:srgbClr val="002855"/>
                </a:solidFill>
                <a:latin typeface="Arial Black"/>
                <a:cs typeface="Arial Black"/>
              </a:rPr>
              <a:t>Person </a:t>
            </a:r>
            <a:r>
              <a:rPr dirty="0" sz="3200">
                <a:solidFill>
                  <a:srgbClr val="002855"/>
                </a:solidFill>
                <a:latin typeface="Arial Black"/>
                <a:cs typeface="Arial Black"/>
              </a:rPr>
              <a:t>Does</a:t>
            </a:r>
            <a:r>
              <a:rPr dirty="0" sz="3200" spc="-25">
                <a:solidFill>
                  <a:srgbClr val="002855"/>
                </a:solidFill>
                <a:latin typeface="Arial Black"/>
                <a:cs typeface="Arial Black"/>
              </a:rPr>
              <a:t> </a:t>
            </a:r>
            <a:r>
              <a:rPr dirty="0" sz="3200">
                <a:solidFill>
                  <a:srgbClr val="002855"/>
                </a:solidFill>
                <a:latin typeface="Arial Black"/>
                <a:cs typeface="Arial Black"/>
              </a:rPr>
              <a:t>Not</a:t>
            </a:r>
            <a:r>
              <a:rPr dirty="0" sz="3200" spc="-15">
                <a:solidFill>
                  <a:srgbClr val="002855"/>
                </a:solidFill>
                <a:latin typeface="Arial Black"/>
                <a:cs typeface="Arial Black"/>
              </a:rPr>
              <a:t> </a:t>
            </a:r>
            <a:r>
              <a:rPr dirty="0" sz="3200" spc="-10">
                <a:solidFill>
                  <a:srgbClr val="002855"/>
                </a:solidFill>
                <a:latin typeface="Arial Black"/>
                <a:cs typeface="Arial Black"/>
              </a:rPr>
              <a:t>Exist</a:t>
            </a:r>
            <a:endParaRPr sz="3200">
              <a:latin typeface="Arial Black"/>
              <a:cs typeface="Arial Black"/>
            </a:endParaRPr>
          </a:p>
          <a:p>
            <a:pPr algn="ctr" marL="3175">
              <a:lnSpc>
                <a:spcPct val="100000"/>
              </a:lnSpc>
              <a:spcBef>
                <a:spcPts val="1019"/>
              </a:spcBef>
            </a:pPr>
            <a:r>
              <a:rPr dirty="0" sz="1800" spc="-35">
                <a:solidFill>
                  <a:srgbClr val="002855"/>
                </a:solidFill>
                <a:latin typeface="Arial Black"/>
                <a:cs typeface="Arial Black"/>
              </a:rPr>
              <a:t>Text-</a:t>
            </a:r>
            <a:r>
              <a:rPr dirty="0" sz="1800" spc="-10">
                <a:solidFill>
                  <a:srgbClr val="002855"/>
                </a:solidFill>
                <a:latin typeface="Arial Black"/>
                <a:cs typeface="Arial Black"/>
              </a:rPr>
              <a:t>to-</a:t>
            </a:r>
            <a:r>
              <a:rPr dirty="0" sz="1800">
                <a:solidFill>
                  <a:srgbClr val="002855"/>
                </a:solidFill>
                <a:latin typeface="Arial Black"/>
                <a:cs typeface="Arial Black"/>
              </a:rPr>
              <a:t>Image:</a:t>
            </a:r>
            <a:r>
              <a:rPr dirty="0" sz="1800" spc="30">
                <a:solidFill>
                  <a:srgbClr val="002855"/>
                </a:solidFill>
                <a:latin typeface="Arial Black"/>
                <a:cs typeface="Arial Black"/>
              </a:rPr>
              <a:t> </a:t>
            </a:r>
            <a:r>
              <a:rPr dirty="0" sz="1800">
                <a:solidFill>
                  <a:srgbClr val="002855"/>
                </a:solidFill>
                <a:latin typeface="Arial Black"/>
                <a:cs typeface="Arial Black"/>
              </a:rPr>
              <a:t>Stable</a:t>
            </a:r>
            <a:r>
              <a:rPr dirty="0" sz="1800" spc="20">
                <a:solidFill>
                  <a:srgbClr val="002855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02855"/>
                </a:solidFill>
                <a:latin typeface="Arial Black"/>
                <a:cs typeface="Arial Black"/>
              </a:rPr>
              <a:t>Diffusion</a:t>
            </a:r>
            <a:endParaRPr sz="1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u="sng" sz="120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Stable</a:t>
            </a:r>
            <a:r>
              <a:rPr dirty="0" u="sng" sz="1200" spc="-15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 </a:t>
            </a:r>
            <a:r>
              <a:rPr dirty="0" u="sng" sz="120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Diffusion</a:t>
            </a:r>
            <a:r>
              <a:rPr dirty="0" u="sng" sz="1200" spc="-1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 2-</a:t>
            </a:r>
            <a:r>
              <a:rPr dirty="0" u="sng" sz="120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1</a:t>
            </a:r>
            <a:r>
              <a:rPr dirty="0" u="sng" sz="1200" spc="-1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 </a:t>
            </a:r>
            <a:r>
              <a:rPr dirty="0" u="sng" sz="120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-</a:t>
            </a:r>
            <a:r>
              <a:rPr dirty="0" u="sng" sz="1200" spc="-1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 </a:t>
            </a:r>
            <a:r>
              <a:rPr dirty="0" u="sng" sz="120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a</a:t>
            </a:r>
            <a:r>
              <a:rPr dirty="0" u="sng" sz="1200" spc="-1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 </a:t>
            </a:r>
            <a:r>
              <a:rPr dirty="0" u="sng" sz="120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Hugging</a:t>
            </a:r>
            <a:r>
              <a:rPr dirty="0" u="sng" sz="1200" spc="-25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 </a:t>
            </a:r>
            <a:r>
              <a:rPr dirty="0" u="sng" sz="120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Face</a:t>
            </a:r>
            <a:r>
              <a:rPr dirty="0" u="sng" sz="1200" spc="-5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 </a:t>
            </a:r>
            <a:r>
              <a:rPr dirty="0" u="sng" sz="120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Space</a:t>
            </a:r>
            <a:r>
              <a:rPr dirty="0" u="sng" sz="1200" spc="-25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 </a:t>
            </a:r>
            <a:r>
              <a:rPr dirty="0" u="sng" sz="120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by </a:t>
            </a:r>
            <a:r>
              <a:rPr dirty="0" u="sng" sz="1200" spc="-1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 Black"/>
                <a:cs typeface="Arial Black"/>
                <a:hlinkClick r:id="rId4"/>
              </a:rPr>
              <a:t>stabilityai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6023" y="6141211"/>
            <a:ext cx="15322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D2D2D2"/>
                </a:solidFill>
                <a:latin typeface="Arial"/>
                <a:cs typeface="Arial"/>
              </a:rPr>
              <a:t>Source:</a:t>
            </a:r>
            <a:r>
              <a:rPr dirty="0" sz="900" spc="-40">
                <a:solidFill>
                  <a:srgbClr val="D2D2D2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2D2D2"/>
                </a:solidFill>
                <a:latin typeface="Arial"/>
                <a:cs typeface="Arial"/>
              </a:rPr>
              <a:t>Wikimedia</a:t>
            </a:r>
            <a:r>
              <a:rPr dirty="0" sz="900" spc="-45">
                <a:solidFill>
                  <a:srgbClr val="D2D2D2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D2D2D2"/>
                </a:solidFill>
                <a:latin typeface="Arial"/>
                <a:cs typeface="Arial"/>
              </a:rPr>
              <a:t>Commons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/>
              <a:t>Generative</a:t>
            </a:r>
            <a:r>
              <a:rPr dirty="0" spc="-60"/>
              <a:t> </a:t>
            </a:r>
            <a:r>
              <a:rPr dirty="0"/>
              <a:t>AI</a:t>
            </a:r>
            <a:r>
              <a:rPr dirty="0" spc="-45"/>
              <a:t> </a:t>
            </a:r>
            <a:r>
              <a:rPr dirty="0"/>
              <a:t>Offers</a:t>
            </a:r>
            <a:r>
              <a:rPr dirty="0" spc="-55"/>
              <a:t> </a:t>
            </a:r>
            <a:r>
              <a:rPr dirty="0"/>
              <a:t>Us</a:t>
            </a:r>
            <a:r>
              <a:rPr dirty="0" spc="-70"/>
              <a:t> </a:t>
            </a:r>
            <a:r>
              <a:rPr dirty="0"/>
              <a:t>Much</a:t>
            </a:r>
            <a:r>
              <a:rPr dirty="0" spc="-40"/>
              <a:t> </a:t>
            </a:r>
            <a:r>
              <a:rPr dirty="0"/>
              <a:t>More</a:t>
            </a:r>
            <a:r>
              <a:rPr dirty="0" spc="-45"/>
              <a:t> </a:t>
            </a:r>
            <a:r>
              <a:rPr dirty="0"/>
              <a:t>Than</a:t>
            </a:r>
            <a:r>
              <a:rPr dirty="0" spc="-45"/>
              <a:t> </a:t>
            </a:r>
            <a:r>
              <a:rPr dirty="0" spc="-10"/>
              <a:t>Unique </a:t>
            </a:r>
            <a:r>
              <a:rPr dirty="0"/>
              <a:t>Visuals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Best</a:t>
            </a:r>
            <a:r>
              <a:rPr dirty="0" spc="-40"/>
              <a:t> </a:t>
            </a:r>
            <a:r>
              <a:rPr dirty="0" spc="-10"/>
              <a:t>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8378" y="1939544"/>
            <a:ext cx="7605395" cy="3363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0495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solidFill>
                  <a:srgbClr val="FF5309"/>
                </a:solidFill>
                <a:latin typeface="Arial"/>
                <a:cs typeface="Arial"/>
              </a:rPr>
              <a:t>Generative</a:t>
            </a:r>
            <a:r>
              <a:rPr dirty="0" sz="2100" spc="-130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5309"/>
                </a:solidFill>
                <a:latin typeface="Arial"/>
                <a:cs typeface="Arial"/>
              </a:rPr>
              <a:t>AI</a:t>
            </a:r>
            <a:r>
              <a:rPr dirty="0" sz="2100" spc="5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dirty="0" sz="21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refers to</a:t>
            </a:r>
            <a:r>
              <a:rPr dirty="0" sz="2100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AI techniques</a:t>
            </a:r>
            <a:r>
              <a:rPr dirty="0" sz="2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learn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representation</a:t>
            </a:r>
            <a:r>
              <a:rPr dirty="0" sz="2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artifacts</a:t>
            </a:r>
            <a:r>
              <a:rPr dirty="0" sz="2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data,</a:t>
            </a:r>
            <a:r>
              <a:rPr dirty="0" sz="2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generate brand-new,</a:t>
            </a:r>
            <a:r>
              <a:rPr dirty="0" sz="2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unique</a:t>
            </a:r>
            <a:r>
              <a:rPr dirty="0" sz="21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artifacts</a:t>
            </a:r>
            <a:r>
              <a:rPr dirty="0" sz="21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2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resemble</a:t>
            </a:r>
            <a:r>
              <a:rPr dirty="0" sz="21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but</a:t>
            </a:r>
            <a:r>
              <a:rPr dirty="0" sz="2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don’t</a:t>
            </a:r>
            <a:r>
              <a:rPr dirty="0" sz="21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repeat</a:t>
            </a:r>
            <a:r>
              <a:rPr dirty="0" sz="21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original</a:t>
            </a:r>
            <a:r>
              <a:rPr dirty="0" sz="21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endParaRPr sz="2100">
              <a:latin typeface="Arial"/>
              <a:cs typeface="Arial"/>
            </a:endParaRPr>
          </a:p>
          <a:p>
            <a:pPr marL="12700" marR="213995">
              <a:lnSpc>
                <a:spcPct val="100000"/>
              </a:lnSpc>
              <a:spcBef>
                <a:spcPts val="1800"/>
              </a:spcBef>
            </a:pPr>
            <a:r>
              <a:rPr dirty="0" sz="2100" spc="-10">
                <a:solidFill>
                  <a:srgbClr val="FF5309"/>
                </a:solidFill>
                <a:latin typeface="Arial"/>
                <a:cs typeface="Arial"/>
              </a:rPr>
              <a:t>Generative</a:t>
            </a:r>
            <a:r>
              <a:rPr dirty="0" sz="2100" spc="-135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5309"/>
                </a:solidFill>
                <a:latin typeface="Arial"/>
                <a:cs typeface="Arial"/>
              </a:rPr>
              <a:t>AI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produce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totally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novel</a:t>
            </a:r>
            <a:r>
              <a:rPr dirty="0" sz="2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(including</a:t>
            </a:r>
            <a:r>
              <a:rPr dirty="0" sz="2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text,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images,</a:t>
            </a:r>
            <a:r>
              <a:rPr dirty="0" sz="21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video,</a:t>
            </a:r>
            <a:r>
              <a:rPr dirty="0" sz="2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audio,</a:t>
            </a:r>
            <a:r>
              <a:rPr dirty="0" sz="2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structures),</a:t>
            </a:r>
            <a:r>
              <a:rPr dirty="0" sz="2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computer</a:t>
            </a:r>
            <a:r>
              <a:rPr dirty="0" sz="21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code,</a:t>
            </a:r>
            <a:r>
              <a:rPr dirty="0" sz="2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synthetic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data,</a:t>
            </a:r>
            <a:r>
              <a:rPr dirty="0" sz="2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workflows</a:t>
            </a:r>
            <a:r>
              <a:rPr dirty="0" sz="2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dirty="0" sz="2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physical</a:t>
            </a:r>
            <a:r>
              <a:rPr dirty="0" sz="2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objects.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805"/>
              </a:spcBef>
            </a:pPr>
            <a:r>
              <a:rPr dirty="0" sz="2100" spc="-10">
                <a:solidFill>
                  <a:srgbClr val="FF5309"/>
                </a:solidFill>
                <a:latin typeface="Arial"/>
                <a:cs typeface="Arial"/>
              </a:rPr>
              <a:t>Generative</a:t>
            </a:r>
            <a:r>
              <a:rPr dirty="0" sz="2100" spc="-135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5309"/>
                </a:solidFill>
                <a:latin typeface="Arial"/>
                <a:cs typeface="Arial"/>
              </a:rPr>
              <a:t>AI</a:t>
            </a:r>
            <a:r>
              <a:rPr dirty="0" sz="2100" spc="5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dirty="0" sz="2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2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art,</a:t>
            </a:r>
            <a:r>
              <a:rPr dirty="0" sz="21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drug</a:t>
            </a:r>
            <a:r>
              <a:rPr dirty="0" sz="21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discovery</a:t>
            </a:r>
            <a:r>
              <a:rPr dirty="0" sz="21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2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"/>
                <a:cs typeface="Arial"/>
              </a:rPr>
              <a:t>material design.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782394" y="2327861"/>
            <a:ext cx="2742565" cy="2159000"/>
          </a:xfrm>
          <a:custGeom>
            <a:avLst/>
            <a:gdLst/>
            <a:ahLst/>
            <a:cxnLst/>
            <a:rect l="l" t="t" r="r" b="b"/>
            <a:pathLst>
              <a:path w="2742565" h="2159000">
                <a:moveTo>
                  <a:pt x="987049" y="0"/>
                </a:moveTo>
                <a:lnTo>
                  <a:pt x="890281" y="0"/>
                </a:lnTo>
                <a:lnTo>
                  <a:pt x="840721" y="12700"/>
                </a:lnTo>
                <a:lnTo>
                  <a:pt x="793030" y="25400"/>
                </a:lnTo>
                <a:lnTo>
                  <a:pt x="747583" y="50800"/>
                </a:lnTo>
                <a:lnTo>
                  <a:pt x="704752" y="76200"/>
                </a:lnTo>
                <a:lnTo>
                  <a:pt x="664912" y="101600"/>
                </a:lnTo>
                <a:lnTo>
                  <a:pt x="628435" y="127000"/>
                </a:lnTo>
                <a:lnTo>
                  <a:pt x="595696" y="165100"/>
                </a:lnTo>
                <a:lnTo>
                  <a:pt x="567068" y="203200"/>
                </a:lnTo>
                <a:lnTo>
                  <a:pt x="542925" y="254000"/>
                </a:lnTo>
                <a:lnTo>
                  <a:pt x="523639" y="304800"/>
                </a:lnTo>
                <a:lnTo>
                  <a:pt x="478865" y="317500"/>
                </a:lnTo>
                <a:lnTo>
                  <a:pt x="436154" y="330200"/>
                </a:lnTo>
                <a:lnTo>
                  <a:pt x="395769" y="355600"/>
                </a:lnTo>
                <a:lnTo>
                  <a:pt x="357976" y="381000"/>
                </a:lnTo>
                <a:lnTo>
                  <a:pt x="323038" y="406400"/>
                </a:lnTo>
                <a:lnTo>
                  <a:pt x="291220" y="431800"/>
                </a:lnTo>
                <a:lnTo>
                  <a:pt x="262787" y="469900"/>
                </a:lnTo>
                <a:lnTo>
                  <a:pt x="238003" y="508000"/>
                </a:lnTo>
                <a:lnTo>
                  <a:pt x="217132" y="546100"/>
                </a:lnTo>
                <a:lnTo>
                  <a:pt x="200438" y="596900"/>
                </a:lnTo>
                <a:lnTo>
                  <a:pt x="188187" y="635000"/>
                </a:lnTo>
                <a:lnTo>
                  <a:pt x="180643" y="685800"/>
                </a:lnTo>
                <a:lnTo>
                  <a:pt x="178069" y="723900"/>
                </a:lnTo>
                <a:lnTo>
                  <a:pt x="178069" y="736600"/>
                </a:lnTo>
                <a:lnTo>
                  <a:pt x="178646" y="736600"/>
                </a:lnTo>
                <a:lnTo>
                  <a:pt x="179524" y="762000"/>
                </a:lnTo>
                <a:lnTo>
                  <a:pt x="181241" y="774700"/>
                </a:lnTo>
                <a:lnTo>
                  <a:pt x="183877" y="800100"/>
                </a:lnTo>
                <a:lnTo>
                  <a:pt x="187513" y="812800"/>
                </a:lnTo>
                <a:lnTo>
                  <a:pt x="153136" y="850900"/>
                </a:lnTo>
                <a:lnTo>
                  <a:pt x="121984" y="889000"/>
                </a:lnTo>
                <a:lnTo>
                  <a:pt x="94151" y="939800"/>
                </a:lnTo>
                <a:lnTo>
                  <a:pt x="69727" y="977900"/>
                </a:lnTo>
                <a:lnTo>
                  <a:pt x="48808" y="1016000"/>
                </a:lnTo>
                <a:lnTo>
                  <a:pt x="31484" y="1066800"/>
                </a:lnTo>
                <a:lnTo>
                  <a:pt x="17848" y="1117600"/>
                </a:lnTo>
                <a:lnTo>
                  <a:pt x="7994" y="1168400"/>
                </a:lnTo>
                <a:lnTo>
                  <a:pt x="2014" y="1206500"/>
                </a:lnTo>
                <a:lnTo>
                  <a:pt x="0" y="1257300"/>
                </a:lnTo>
                <a:lnTo>
                  <a:pt x="1953" y="1308100"/>
                </a:lnTo>
                <a:lnTo>
                  <a:pt x="7722" y="1358900"/>
                </a:lnTo>
                <a:lnTo>
                  <a:pt x="17172" y="1409700"/>
                </a:lnTo>
                <a:lnTo>
                  <a:pt x="30165" y="1447800"/>
                </a:lnTo>
                <a:lnTo>
                  <a:pt x="46566" y="1498600"/>
                </a:lnTo>
                <a:lnTo>
                  <a:pt x="66239" y="1536700"/>
                </a:lnTo>
                <a:lnTo>
                  <a:pt x="89048" y="1587500"/>
                </a:lnTo>
                <a:lnTo>
                  <a:pt x="114856" y="1625600"/>
                </a:lnTo>
                <a:lnTo>
                  <a:pt x="143528" y="1663700"/>
                </a:lnTo>
                <a:lnTo>
                  <a:pt x="174927" y="1689100"/>
                </a:lnTo>
                <a:lnTo>
                  <a:pt x="208917" y="1727200"/>
                </a:lnTo>
                <a:lnTo>
                  <a:pt x="245363" y="1752600"/>
                </a:lnTo>
                <a:lnTo>
                  <a:pt x="284128" y="1778000"/>
                </a:lnTo>
                <a:lnTo>
                  <a:pt x="325076" y="1803400"/>
                </a:lnTo>
                <a:lnTo>
                  <a:pt x="368071" y="1828800"/>
                </a:lnTo>
                <a:lnTo>
                  <a:pt x="412978" y="1841500"/>
                </a:lnTo>
                <a:lnTo>
                  <a:pt x="459659" y="1854200"/>
                </a:lnTo>
                <a:lnTo>
                  <a:pt x="479376" y="1905000"/>
                </a:lnTo>
                <a:lnTo>
                  <a:pt x="503226" y="1943100"/>
                </a:lnTo>
                <a:lnTo>
                  <a:pt x="530923" y="1981200"/>
                </a:lnTo>
                <a:lnTo>
                  <a:pt x="562177" y="2019300"/>
                </a:lnTo>
                <a:lnTo>
                  <a:pt x="596700" y="2057400"/>
                </a:lnTo>
                <a:lnTo>
                  <a:pt x="634206" y="2082800"/>
                </a:lnTo>
                <a:lnTo>
                  <a:pt x="674405" y="2108200"/>
                </a:lnTo>
                <a:lnTo>
                  <a:pt x="717009" y="2120900"/>
                </a:lnTo>
                <a:lnTo>
                  <a:pt x="761732" y="2146300"/>
                </a:lnTo>
                <a:lnTo>
                  <a:pt x="808284" y="2159000"/>
                </a:lnTo>
                <a:lnTo>
                  <a:pt x="999255" y="2159000"/>
                </a:lnTo>
                <a:lnTo>
                  <a:pt x="1148444" y="2120900"/>
                </a:lnTo>
                <a:lnTo>
                  <a:pt x="1196715" y="2095500"/>
                </a:lnTo>
                <a:lnTo>
                  <a:pt x="1242659" y="2082800"/>
                </a:lnTo>
                <a:lnTo>
                  <a:pt x="1285319" y="2057400"/>
                </a:lnTo>
                <a:lnTo>
                  <a:pt x="1323737" y="2019300"/>
                </a:lnTo>
                <a:lnTo>
                  <a:pt x="1356955" y="1993900"/>
                </a:lnTo>
                <a:lnTo>
                  <a:pt x="854564" y="1993900"/>
                </a:lnTo>
                <a:lnTo>
                  <a:pt x="805862" y="1981200"/>
                </a:lnTo>
                <a:lnTo>
                  <a:pt x="760429" y="1955800"/>
                </a:lnTo>
                <a:lnTo>
                  <a:pt x="719071" y="1930400"/>
                </a:lnTo>
                <a:lnTo>
                  <a:pt x="682596" y="1892300"/>
                </a:lnTo>
                <a:lnTo>
                  <a:pt x="651812" y="1854200"/>
                </a:lnTo>
                <a:lnTo>
                  <a:pt x="627526" y="1816100"/>
                </a:lnTo>
                <a:lnTo>
                  <a:pt x="610546" y="1765300"/>
                </a:lnTo>
                <a:lnTo>
                  <a:pt x="596669" y="1714500"/>
                </a:lnTo>
                <a:lnTo>
                  <a:pt x="541951" y="1701800"/>
                </a:lnTo>
                <a:lnTo>
                  <a:pt x="493701" y="1689100"/>
                </a:lnTo>
                <a:lnTo>
                  <a:pt x="447796" y="1676400"/>
                </a:lnTo>
                <a:lnTo>
                  <a:pt x="404500" y="1651000"/>
                </a:lnTo>
                <a:lnTo>
                  <a:pt x="364077" y="1625600"/>
                </a:lnTo>
                <a:lnTo>
                  <a:pt x="326790" y="1600200"/>
                </a:lnTo>
                <a:lnTo>
                  <a:pt x="292903" y="1562100"/>
                </a:lnTo>
                <a:lnTo>
                  <a:pt x="262679" y="1524000"/>
                </a:lnTo>
                <a:lnTo>
                  <a:pt x="236382" y="1485900"/>
                </a:lnTo>
                <a:lnTo>
                  <a:pt x="214275" y="1447800"/>
                </a:lnTo>
                <a:lnTo>
                  <a:pt x="196623" y="1409700"/>
                </a:lnTo>
                <a:lnTo>
                  <a:pt x="183687" y="1358900"/>
                </a:lnTo>
                <a:lnTo>
                  <a:pt x="175733" y="1308100"/>
                </a:lnTo>
                <a:lnTo>
                  <a:pt x="173023" y="1257300"/>
                </a:lnTo>
                <a:lnTo>
                  <a:pt x="175936" y="1206500"/>
                </a:lnTo>
                <a:lnTo>
                  <a:pt x="184545" y="1155700"/>
                </a:lnTo>
                <a:lnTo>
                  <a:pt x="198651" y="1117600"/>
                </a:lnTo>
                <a:lnTo>
                  <a:pt x="218056" y="1066800"/>
                </a:lnTo>
                <a:lnTo>
                  <a:pt x="242561" y="1028700"/>
                </a:lnTo>
                <a:lnTo>
                  <a:pt x="271968" y="977900"/>
                </a:lnTo>
                <a:lnTo>
                  <a:pt x="810706" y="977900"/>
                </a:lnTo>
                <a:lnTo>
                  <a:pt x="808617" y="965200"/>
                </a:lnTo>
                <a:lnTo>
                  <a:pt x="814880" y="927100"/>
                </a:lnTo>
                <a:lnTo>
                  <a:pt x="485999" y="927100"/>
                </a:lnTo>
                <a:lnTo>
                  <a:pt x="441527" y="901700"/>
                </a:lnTo>
                <a:lnTo>
                  <a:pt x="395464" y="863600"/>
                </a:lnTo>
                <a:lnTo>
                  <a:pt x="368341" y="800100"/>
                </a:lnTo>
                <a:lnTo>
                  <a:pt x="355229" y="762000"/>
                </a:lnTo>
                <a:lnTo>
                  <a:pt x="351197" y="723900"/>
                </a:lnTo>
                <a:lnTo>
                  <a:pt x="355396" y="685800"/>
                </a:lnTo>
                <a:lnTo>
                  <a:pt x="366918" y="635000"/>
                </a:lnTo>
                <a:lnTo>
                  <a:pt x="385125" y="596900"/>
                </a:lnTo>
                <a:lnTo>
                  <a:pt x="409378" y="558800"/>
                </a:lnTo>
                <a:lnTo>
                  <a:pt x="439038" y="533400"/>
                </a:lnTo>
                <a:lnTo>
                  <a:pt x="473466" y="508000"/>
                </a:lnTo>
                <a:lnTo>
                  <a:pt x="512025" y="482600"/>
                </a:lnTo>
                <a:lnTo>
                  <a:pt x="554074" y="469900"/>
                </a:lnTo>
                <a:lnTo>
                  <a:pt x="598975" y="457200"/>
                </a:lnTo>
                <a:lnTo>
                  <a:pt x="664182" y="457200"/>
                </a:lnTo>
                <a:lnTo>
                  <a:pt x="676906" y="393700"/>
                </a:lnTo>
                <a:lnTo>
                  <a:pt x="690178" y="342900"/>
                </a:lnTo>
                <a:lnTo>
                  <a:pt x="710721" y="304800"/>
                </a:lnTo>
                <a:lnTo>
                  <a:pt x="737724" y="266700"/>
                </a:lnTo>
                <a:lnTo>
                  <a:pt x="770377" y="241300"/>
                </a:lnTo>
                <a:lnTo>
                  <a:pt x="807871" y="215900"/>
                </a:lnTo>
                <a:lnTo>
                  <a:pt x="849397" y="190500"/>
                </a:lnTo>
                <a:lnTo>
                  <a:pt x="894143" y="177800"/>
                </a:lnTo>
                <a:lnTo>
                  <a:pt x="1383799" y="177800"/>
                </a:lnTo>
                <a:lnTo>
                  <a:pt x="1355752" y="152400"/>
                </a:lnTo>
                <a:lnTo>
                  <a:pt x="1320831" y="127000"/>
                </a:lnTo>
                <a:lnTo>
                  <a:pt x="1280263" y="101600"/>
                </a:lnTo>
                <a:lnTo>
                  <a:pt x="1235278" y="76200"/>
                </a:lnTo>
                <a:lnTo>
                  <a:pt x="1187102" y="50800"/>
                </a:lnTo>
                <a:lnTo>
                  <a:pt x="987049" y="0"/>
                </a:lnTo>
                <a:close/>
              </a:path>
              <a:path w="2742565" h="2159000">
                <a:moveTo>
                  <a:pt x="1383979" y="1651000"/>
                </a:moveTo>
                <a:lnTo>
                  <a:pt x="1210960" y="1651000"/>
                </a:lnTo>
                <a:lnTo>
                  <a:pt x="1210960" y="1752600"/>
                </a:lnTo>
                <a:lnTo>
                  <a:pt x="1210564" y="1765300"/>
                </a:lnTo>
                <a:lnTo>
                  <a:pt x="1201812" y="1816100"/>
                </a:lnTo>
                <a:lnTo>
                  <a:pt x="1185483" y="1866900"/>
                </a:lnTo>
                <a:lnTo>
                  <a:pt x="1161652" y="1905000"/>
                </a:lnTo>
                <a:lnTo>
                  <a:pt x="1131116" y="1930400"/>
                </a:lnTo>
                <a:lnTo>
                  <a:pt x="1094671" y="1955800"/>
                </a:lnTo>
                <a:lnTo>
                  <a:pt x="1053113" y="1968500"/>
                </a:lnTo>
                <a:lnTo>
                  <a:pt x="1007239" y="1981200"/>
                </a:lnTo>
                <a:lnTo>
                  <a:pt x="957844" y="1993900"/>
                </a:lnTo>
                <a:lnTo>
                  <a:pt x="1356955" y="1993900"/>
                </a:lnTo>
                <a:lnTo>
                  <a:pt x="1384016" y="1955800"/>
                </a:lnTo>
                <a:lnTo>
                  <a:pt x="1383979" y="1651000"/>
                </a:lnTo>
                <a:close/>
              </a:path>
              <a:path w="2742565" h="2159000">
                <a:moveTo>
                  <a:pt x="1055141" y="1689100"/>
                </a:moveTo>
                <a:lnTo>
                  <a:pt x="950512" y="1689100"/>
                </a:lnTo>
                <a:lnTo>
                  <a:pt x="1005788" y="1701800"/>
                </a:lnTo>
                <a:lnTo>
                  <a:pt x="1055141" y="1689100"/>
                </a:lnTo>
                <a:close/>
              </a:path>
              <a:path w="2742565" h="2159000">
                <a:moveTo>
                  <a:pt x="692082" y="1358900"/>
                </a:moveTo>
                <a:lnTo>
                  <a:pt x="555684" y="1473200"/>
                </a:lnTo>
                <a:lnTo>
                  <a:pt x="579118" y="1498600"/>
                </a:lnTo>
                <a:lnTo>
                  <a:pt x="606674" y="1524000"/>
                </a:lnTo>
                <a:lnTo>
                  <a:pt x="638144" y="1549400"/>
                </a:lnTo>
                <a:lnTo>
                  <a:pt x="673320" y="1574800"/>
                </a:lnTo>
                <a:lnTo>
                  <a:pt x="711992" y="1612900"/>
                </a:lnTo>
                <a:lnTo>
                  <a:pt x="753953" y="1625600"/>
                </a:lnTo>
                <a:lnTo>
                  <a:pt x="798994" y="1651000"/>
                </a:lnTo>
                <a:lnTo>
                  <a:pt x="846906" y="1676400"/>
                </a:lnTo>
                <a:lnTo>
                  <a:pt x="897482" y="1689100"/>
                </a:lnTo>
                <a:lnTo>
                  <a:pt x="1105887" y="1689100"/>
                </a:lnTo>
                <a:lnTo>
                  <a:pt x="1157876" y="1676400"/>
                </a:lnTo>
                <a:lnTo>
                  <a:pt x="1210960" y="1651000"/>
                </a:lnTo>
                <a:lnTo>
                  <a:pt x="1383979" y="1651000"/>
                </a:lnTo>
                <a:lnTo>
                  <a:pt x="1383963" y="1524000"/>
                </a:lnTo>
                <a:lnTo>
                  <a:pt x="986877" y="1524000"/>
                </a:lnTo>
                <a:lnTo>
                  <a:pt x="938582" y="1511300"/>
                </a:lnTo>
                <a:lnTo>
                  <a:pt x="893845" y="1498600"/>
                </a:lnTo>
                <a:lnTo>
                  <a:pt x="852900" y="1485900"/>
                </a:lnTo>
                <a:lnTo>
                  <a:pt x="815979" y="1473200"/>
                </a:lnTo>
                <a:lnTo>
                  <a:pt x="783318" y="1447800"/>
                </a:lnTo>
                <a:lnTo>
                  <a:pt x="755150" y="1422400"/>
                </a:lnTo>
                <a:lnTo>
                  <a:pt x="731708" y="1409700"/>
                </a:lnTo>
                <a:lnTo>
                  <a:pt x="713227" y="1384300"/>
                </a:lnTo>
                <a:lnTo>
                  <a:pt x="699940" y="1371600"/>
                </a:lnTo>
                <a:lnTo>
                  <a:pt x="692082" y="1358900"/>
                </a:lnTo>
                <a:close/>
              </a:path>
              <a:path w="2742565" h="2159000">
                <a:moveTo>
                  <a:pt x="1383829" y="419100"/>
                </a:moveTo>
                <a:lnTo>
                  <a:pt x="1209951" y="419100"/>
                </a:lnTo>
                <a:lnTo>
                  <a:pt x="1210527" y="431800"/>
                </a:lnTo>
                <a:lnTo>
                  <a:pt x="1211032" y="431800"/>
                </a:lnTo>
                <a:lnTo>
                  <a:pt x="1211032" y="444500"/>
                </a:lnTo>
                <a:lnTo>
                  <a:pt x="1210599" y="457200"/>
                </a:lnTo>
                <a:lnTo>
                  <a:pt x="1210960" y="457200"/>
                </a:lnTo>
                <a:lnTo>
                  <a:pt x="1210780" y="469900"/>
                </a:lnTo>
                <a:lnTo>
                  <a:pt x="1210816" y="482600"/>
                </a:lnTo>
                <a:lnTo>
                  <a:pt x="1210960" y="482600"/>
                </a:lnTo>
                <a:lnTo>
                  <a:pt x="1210960" y="1460500"/>
                </a:lnTo>
                <a:lnTo>
                  <a:pt x="1150772" y="1485900"/>
                </a:lnTo>
                <a:lnTo>
                  <a:pt x="1093206" y="1511300"/>
                </a:lnTo>
                <a:lnTo>
                  <a:pt x="1038497" y="1524000"/>
                </a:lnTo>
                <a:lnTo>
                  <a:pt x="1383963" y="1524000"/>
                </a:lnTo>
                <a:lnTo>
                  <a:pt x="1383836" y="482600"/>
                </a:lnTo>
                <a:lnTo>
                  <a:pt x="1383829" y="419100"/>
                </a:lnTo>
                <a:close/>
              </a:path>
              <a:path w="2742565" h="2159000">
                <a:moveTo>
                  <a:pt x="859951" y="1079500"/>
                </a:moveTo>
                <a:lnTo>
                  <a:pt x="659244" y="1079500"/>
                </a:lnTo>
                <a:lnTo>
                  <a:pt x="681591" y="1130300"/>
                </a:lnTo>
                <a:lnTo>
                  <a:pt x="710415" y="1168400"/>
                </a:lnTo>
                <a:lnTo>
                  <a:pt x="745077" y="1206500"/>
                </a:lnTo>
                <a:lnTo>
                  <a:pt x="784940" y="1231900"/>
                </a:lnTo>
                <a:lnTo>
                  <a:pt x="829367" y="1257300"/>
                </a:lnTo>
                <a:lnTo>
                  <a:pt x="877720" y="1270000"/>
                </a:lnTo>
                <a:lnTo>
                  <a:pt x="929362" y="1282700"/>
                </a:lnTo>
                <a:lnTo>
                  <a:pt x="983656" y="1295400"/>
                </a:lnTo>
                <a:lnTo>
                  <a:pt x="983656" y="1117600"/>
                </a:lnTo>
                <a:lnTo>
                  <a:pt x="937185" y="1117600"/>
                </a:lnTo>
                <a:lnTo>
                  <a:pt x="895389" y="1092200"/>
                </a:lnTo>
                <a:lnTo>
                  <a:pt x="859951" y="1079500"/>
                </a:lnTo>
                <a:close/>
              </a:path>
              <a:path w="2742565" h="2159000">
                <a:moveTo>
                  <a:pt x="593519" y="1092200"/>
                </a:moveTo>
                <a:lnTo>
                  <a:pt x="481432" y="1092200"/>
                </a:lnTo>
                <a:lnTo>
                  <a:pt x="531606" y="1104900"/>
                </a:lnTo>
                <a:lnTo>
                  <a:pt x="562057" y="1104900"/>
                </a:lnTo>
                <a:lnTo>
                  <a:pt x="593519" y="1092200"/>
                </a:lnTo>
                <a:close/>
              </a:path>
              <a:path w="2742565" h="2159000">
                <a:moveTo>
                  <a:pt x="810706" y="977900"/>
                </a:moveTo>
                <a:lnTo>
                  <a:pt x="271968" y="977900"/>
                </a:lnTo>
                <a:lnTo>
                  <a:pt x="288331" y="1003300"/>
                </a:lnTo>
                <a:lnTo>
                  <a:pt x="306464" y="1016000"/>
                </a:lnTo>
                <a:lnTo>
                  <a:pt x="326490" y="1041400"/>
                </a:lnTo>
                <a:lnTo>
                  <a:pt x="348529" y="1054100"/>
                </a:lnTo>
                <a:lnTo>
                  <a:pt x="389843" y="1066800"/>
                </a:lnTo>
                <a:lnTo>
                  <a:pt x="434161" y="1092200"/>
                </a:lnTo>
                <a:lnTo>
                  <a:pt x="625934" y="1092200"/>
                </a:lnTo>
                <a:lnTo>
                  <a:pt x="659244" y="1079500"/>
                </a:lnTo>
                <a:lnTo>
                  <a:pt x="859951" y="1079500"/>
                </a:lnTo>
                <a:lnTo>
                  <a:pt x="832554" y="1041400"/>
                </a:lnTo>
                <a:lnTo>
                  <a:pt x="814882" y="1003300"/>
                </a:lnTo>
                <a:lnTo>
                  <a:pt x="810706" y="977900"/>
                </a:lnTo>
                <a:close/>
              </a:path>
              <a:path w="2742565" h="2159000">
                <a:moveTo>
                  <a:pt x="983655" y="647700"/>
                </a:moveTo>
                <a:lnTo>
                  <a:pt x="933394" y="647700"/>
                </a:lnTo>
                <a:lnTo>
                  <a:pt x="885352" y="660400"/>
                </a:lnTo>
                <a:lnTo>
                  <a:pt x="840035" y="673100"/>
                </a:lnTo>
                <a:lnTo>
                  <a:pt x="797946" y="698500"/>
                </a:lnTo>
                <a:lnTo>
                  <a:pt x="759591" y="723900"/>
                </a:lnTo>
                <a:lnTo>
                  <a:pt x="725473" y="749300"/>
                </a:lnTo>
                <a:lnTo>
                  <a:pt x="696098" y="787400"/>
                </a:lnTo>
                <a:lnTo>
                  <a:pt x="671970" y="825500"/>
                </a:lnTo>
                <a:lnTo>
                  <a:pt x="653593" y="863600"/>
                </a:lnTo>
                <a:lnTo>
                  <a:pt x="641473" y="914400"/>
                </a:lnTo>
                <a:lnTo>
                  <a:pt x="588689" y="927100"/>
                </a:lnTo>
                <a:lnTo>
                  <a:pt x="814880" y="927100"/>
                </a:lnTo>
                <a:lnTo>
                  <a:pt x="832546" y="889000"/>
                </a:lnTo>
                <a:lnTo>
                  <a:pt x="859937" y="863600"/>
                </a:lnTo>
                <a:lnTo>
                  <a:pt x="895373" y="838200"/>
                </a:lnTo>
                <a:lnTo>
                  <a:pt x="937172" y="825500"/>
                </a:lnTo>
                <a:lnTo>
                  <a:pt x="983655" y="812800"/>
                </a:lnTo>
                <a:lnTo>
                  <a:pt x="983655" y="647700"/>
                </a:lnTo>
                <a:close/>
              </a:path>
              <a:path w="2742565" h="2159000">
                <a:moveTo>
                  <a:pt x="1383799" y="177800"/>
                </a:moveTo>
                <a:lnTo>
                  <a:pt x="985205" y="177800"/>
                </a:lnTo>
                <a:lnTo>
                  <a:pt x="1087219" y="203200"/>
                </a:lnTo>
                <a:lnTo>
                  <a:pt x="1136710" y="215900"/>
                </a:lnTo>
                <a:lnTo>
                  <a:pt x="1179441" y="241300"/>
                </a:lnTo>
                <a:lnTo>
                  <a:pt x="1211104" y="266700"/>
                </a:lnTo>
                <a:lnTo>
                  <a:pt x="1173299" y="279400"/>
                </a:lnTo>
                <a:lnTo>
                  <a:pt x="1122233" y="279400"/>
                </a:lnTo>
                <a:lnTo>
                  <a:pt x="1071952" y="292100"/>
                </a:lnTo>
                <a:lnTo>
                  <a:pt x="1036498" y="292100"/>
                </a:lnTo>
                <a:lnTo>
                  <a:pt x="967277" y="317500"/>
                </a:lnTo>
                <a:lnTo>
                  <a:pt x="907572" y="342900"/>
                </a:lnTo>
                <a:lnTo>
                  <a:pt x="863992" y="381000"/>
                </a:lnTo>
                <a:lnTo>
                  <a:pt x="843149" y="393700"/>
                </a:lnTo>
                <a:lnTo>
                  <a:pt x="953773" y="520700"/>
                </a:lnTo>
                <a:lnTo>
                  <a:pt x="972508" y="508000"/>
                </a:lnTo>
                <a:lnTo>
                  <a:pt x="1001381" y="495300"/>
                </a:lnTo>
                <a:lnTo>
                  <a:pt x="1035566" y="469900"/>
                </a:lnTo>
                <a:lnTo>
                  <a:pt x="1070237" y="469900"/>
                </a:lnTo>
                <a:lnTo>
                  <a:pt x="1096873" y="457200"/>
                </a:lnTo>
                <a:lnTo>
                  <a:pt x="1130389" y="444500"/>
                </a:lnTo>
                <a:lnTo>
                  <a:pt x="1168757" y="431800"/>
                </a:lnTo>
                <a:lnTo>
                  <a:pt x="1209951" y="419100"/>
                </a:lnTo>
                <a:lnTo>
                  <a:pt x="1383829" y="419100"/>
                </a:lnTo>
                <a:lnTo>
                  <a:pt x="1383799" y="177800"/>
                </a:lnTo>
                <a:close/>
              </a:path>
              <a:path w="2742565" h="2159000">
                <a:moveTo>
                  <a:pt x="1759432" y="1425659"/>
                </a:moveTo>
                <a:lnTo>
                  <a:pt x="1557035" y="1425659"/>
                </a:lnTo>
                <a:lnTo>
                  <a:pt x="1557035" y="1598223"/>
                </a:lnTo>
                <a:lnTo>
                  <a:pt x="1649601" y="1598223"/>
                </a:lnTo>
                <a:lnTo>
                  <a:pt x="1791946" y="1900139"/>
                </a:lnTo>
                <a:lnTo>
                  <a:pt x="2061604" y="1900139"/>
                </a:lnTo>
                <a:lnTo>
                  <a:pt x="2086690" y="1936528"/>
                </a:lnTo>
                <a:lnTo>
                  <a:pt x="2117546" y="1968002"/>
                </a:lnTo>
                <a:lnTo>
                  <a:pt x="2153421" y="1993802"/>
                </a:lnTo>
                <a:lnTo>
                  <a:pt x="2193569" y="2013171"/>
                </a:lnTo>
                <a:lnTo>
                  <a:pt x="2237665" y="2025468"/>
                </a:lnTo>
                <a:lnTo>
                  <a:pt x="2238546" y="2025468"/>
                </a:lnTo>
                <a:lnTo>
                  <a:pt x="2283682" y="2029576"/>
                </a:lnTo>
                <a:lnTo>
                  <a:pt x="2329518" y="2025468"/>
                </a:lnTo>
                <a:lnTo>
                  <a:pt x="2372679" y="2013624"/>
                </a:lnTo>
                <a:lnTo>
                  <a:pt x="2412440" y="1994769"/>
                </a:lnTo>
                <a:lnTo>
                  <a:pt x="2448075" y="1969628"/>
                </a:lnTo>
                <a:lnTo>
                  <a:pt x="2478857" y="1938924"/>
                </a:lnTo>
                <a:lnTo>
                  <a:pt x="2504063" y="1903381"/>
                </a:lnTo>
                <a:lnTo>
                  <a:pt x="2522965" y="1863723"/>
                </a:lnTo>
                <a:lnTo>
                  <a:pt x="2524820" y="1856998"/>
                </a:lnTo>
                <a:lnTo>
                  <a:pt x="2283646" y="1856998"/>
                </a:lnTo>
                <a:lnTo>
                  <a:pt x="2251642" y="1850539"/>
                </a:lnTo>
                <a:lnTo>
                  <a:pt x="2225481" y="1832937"/>
                </a:lnTo>
                <a:lnTo>
                  <a:pt x="2207830" y="1806856"/>
                </a:lnTo>
                <a:lnTo>
                  <a:pt x="2201353" y="1774958"/>
                </a:lnTo>
                <a:lnTo>
                  <a:pt x="2207835" y="1743065"/>
                </a:lnTo>
                <a:lnTo>
                  <a:pt x="2218328" y="1727574"/>
                </a:lnTo>
                <a:lnTo>
                  <a:pt x="1901777" y="1727574"/>
                </a:lnTo>
                <a:lnTo>
                  <a:pt x="1759432" y="1425659"/>
                </a:lnTo>
                <a:close/>
              </a:path>
              <a:path w="2742565" h="2159000">
                <a:moveTo>
                  <a:pt x="2524808" y="1692954"/>
                </a:moveTo>
                <a:lnTo>
                  <a:pt x="2283646" y="1692954"/>
                </a:lnTo>
                <a:lnTo>
                  <a:pt x="2315613" y="1699407"/>
                </a:lnTo>
                <a:lnTo>
                  <a:pt x="2341765" y="1716996"/>
                </a:lnTo>
                <a:lnTo>
                  <a:pt x="2359421" y="1743065"/>
                </a:lnTo>
                <a:lnTo>
                  <a:pt x="2365902" y="1774958"/>
                </a:lnTo>
                <a:lnTo>
                  <a:pt x="2359431" y="1806856"/>
                </a:lnTo>
                <a:lnTo>
                  <a:pt x="2341792" y="1832937"/>
                </a:lnTo>
                <a:lnTo>
                  <a:pt x="2315644" y="1850539"/>
                </a:lnTo>
                <a:lnTo>
                  <a:pt x="2283646" y="1856998"/>
                </a:lnTo>
                <a:lnTo>
                  <a:pt x="2524820" y="1856998"/>
                </a:lnTo>
                <a:lnTo>
                  <a:pt x="2534839" y="1820674"/>
                </a:lnTo>
                <a:lnTo>
                  <a:pt x="2538958" y="1774958"/>
                </a:lnTo>
                <a:lnTo>
                  <a:pt x="2534828" y="1729252"/>
                </a:lnTo>
                <a:lnTo>
                  <a:pt x="2524808" y="1692954"/>
                </a:lnTo>
                <a:close/>
              </a:path>
              <a:path w="2742565" h="2159000">
                <a:moveTo>
                  <a:pt x="2283646" y="1520353"/>
                </a:moveTo>
                <a:lnTo>
                  <a:pt x="2237612" y="1524463"/>
                </a:lnTo>
                <a:lnTo>
                  <a:pt x="2237895" y="1524463"/>
                </a:lnTo>
                <a:lnTo>
                  <a:pt x="2195072" y="1536164"/>
                </a:lnTo>
                <a:lnTo>
                  <a:pt x="2155478" y="1554856"/>
                </a:lnTo>
                <a:lnTo>
                  <a:pt x="2119962" y="1579785"/>
                </a:lnTo>
                <a:lnTo>
                  <a:pt x="2089238" y="1610236"/>
                </a:lnTo>
                <a:lnTo>
                  <a:pt x="2064019" y="1645494"/>
                </a:lnTo>
                <a:lnTo>
                  <a:pt x="2045018" y="1684846"/>
                </a:lnTo>
                <a:lnTo>
                  <a:pt x="2032947" y="1727574"/>
                </a:lnTo>
                <a:lnTo>
                  <a:pt x="2218328" y="1727574"/>
                </a:lnTo>
                <a:lnTo>
                  <a:pt x="2225495" y="1716996"/>
                </a:lnTo>
                <a:lnTo>
                  <a:pt x="2251657" y="1699407"/>
                </a:lnTo>
                <a:lnTo>
                  <a:pt x="2283646" y="1692954"/>
                </a:lnTo>
                <a:lnTo>
                  <a:pt x="2524808" y="1692954"/>
                </a:lnTo>
                <a:lnTo>
                  <a:pt x="2522946" y="1686209"/>
                </a:lnTo>
                <a:lnTo>
                  <a:pt x="2504037" y="1646554"/>
                </a:lnTo>
                <a:lnTo>
                  <a:pt x="2478827" y="1611012"/>
                </a:lnTo>
                <a:lnTo>
                  <a:pt x="2448042" y="1580307"/>
                </a:lnTo>
                <a:lnTo>
                  <a:pt x="2412405" y="1555164"/>
                </a:lnTo>
                <a:lnTo>
                  <a:pt x="2372643" y="1536308"/>
                </a:lnTo>
                <a:lnTo>
                  <a:pt x="2329482" y="1524463"/>
                </a:lnTo>
                <a:lnTo>
                  <a:pt x="2283646" y="1520353"/>
                </a:lnTo>
                <a:close/>
              </a:path>
              <a:path w="2742565" h="2159000">
                <a:moveTo>
                  <a:pt x="2188701" y="205125"/>
                </a:moveTo>
                <a:lnTo>
                  <a:pt x="2142872" y="209236"/>
                </a:lnTo>
                <a:lnTo>
                  <a:pt x="2099709" y="221085"/>
                </a:lnTo>
                <a:lnTo>
                  <a:pt x="2059940" y="239947"/>
                </a:lnTo>
                <a:lnTo>
                  <a:pt x="2024293" y="265098"/>
                </a:lnTo>
                <a:lnTo>
                  <a:pt x="1993495" y="295811"/>
                </a:lnTo>
                <a:lnTo>
                  <a:pt x="1968274" y="331364"/>
                </a:lnTo>
                <a:lnTo>
                  <a:pt x="1949359" y="371029"/>
                </a:lnTo>
                <a:lnTo>
                  <a:pt x="1937475" y="414084"/>
                </a:lnTo>
                <a:lnTo>
                  <a:pt x="1933353" y="459802"/>
                </a:lnTo>
                <a:lnTo>
                  <a:pt x="1935137" y="489648"/>
                </a:lnTo>
                <a:lnTo>
                  <a:pt x="1940205" y="517777"/>
                </a:lnTo>
                <a:lnTo>
                  <a:pt x="1940328" y="518456"/>
                </a:lnTo>
                <a:lnTo>
                  <a:pt x="1948681" y="546050"/>
                </a:lnTo>
                <a:lnTo>
                  <a:pt x="1959954" y="572256"/>
                </a:lnTo>
                <a:lnTo>
                  <a:pt x="1893666" y="649155"/>
                </a:lnTo>
                <a:lnTo>
                  <a:pt x="1557035" y="649155"/>
                </a:lnTo>
                <a:lnTo>
                  <a:pt x="1557035" y="821719"/>
                </a:lnTo>
                <a:lnTo>
                  <a:pt x="1973075" y="821719"/>
                </a:lnTo>
                <a:lnTo>
                  <a:pt x="2084781" y="692152"/>
                </a:lnTo>
                <a:lnTo>
                  <a:pt x="2290955" y="692152"/>
                </a:lnTo>
                <a:lnTo>
                  <a:pt x="2353058" y="654464"/>
                </a:lnTo>
                <a:lnTo>
                  <a:pt x="2383840" y="623762"/>
                </a:lnTo>
                <a:lnTo>
                  <a:pt x="2409046" y="588221"/>
                </a:lnTo>
                <a:lnTo>
                  <a:pt x="2427948" y="548565"/>
                </a:lnTo>
                <a:lnTo>
                  <a:pt x="2429812" y="541806"/>
                </a:lnTo>
                <a:lnTo>
                  <a:pt x="2188701" y="541806"/>
                </a:lnTo>
                <a:lnTo>
                  <a:pt x="2156707" y="535357"/>
                </a:lnTo>
                <a:lnTo>
                  <a:pt x="2130532" y="517777"/>
                </a:lnTo>
                <a:lnTo>
                  <a:pt x="2112859" y="491710"/>
                </a:lnTo>
                <a:lnTo>
                  <a:pt x="2106372" y="459802"/>
                </a:lnTo>
                <a:lnTo>
                  <a:pt x="2112854" y="427877"/>
                </a:lnTo>
                <a:lnTo>
                  <a:pt x="2130518" y="401772"/>
                </a:lnTo>
                <a:lnTo>
                  <a:pt x="2156692" y="384155"/>
                </a:lnTo>
                <a:lnTo>
                  <a:pt x="2188701" y="377690"/>
                </a:lnTo>
                <a:lnTo>
                  <a:pt x="2429785" y="377690"/>
                </a:lnTo>
                <a:lnTo>
                  <a:pt x="2427948" y="371029"/>
                </a:lnTo>
                <a:lnTo>
                  <a:pt x="2409047" y="331364"/>
                </a:lnTo>
                <a:lnTo>
                  <a:pt x="2383843" y="295811"/>
                </a:lnTo>
                <a:lnTo>
                  <a:pt x="2353064" y="265098"/>
                </a:lnTo>
                <a:lnTo>
                  <a:pt x="2317433" y="239947"/>
                </a:lnTo>
                <a:lnTo>
                  <a:pt x="2277679" y="221085"/>
                </a:lnTo>
                <a:lnTo>
                  <a:pt x="2234526" y="209236"/>
                </a:lnTo>
                <a:lnTo>
                  <a:pt x="2188701" y="205125"/>
                </a:lnTo>
                <a:close/>
              </a:path>
              <a:path w="2742565" h="2159000">
                <a:moveTo>
                  <a:pt x="2290955" y="692152"/>
                </a:moveTo>
                <a:lnTo>
                  <a:pt x="2084781" y="692152"/>
                </a:lnTo>
                <a:lnTo>
                  <a:pt x="2109209" y="701620"/>
                </a:lnTo>
                <a:lnTo>
                  <a:pt x="2134763" y="708604"/>
                </a:lnTo>
                <a:lnTo>
                  <a:pt x="2161297" y="712926"/>
                </a:lnTo>
                <a:lnTo>
                  <a:pt x="2188665" y="714406"/>
                </a:lnTo>
                <a:lnTo>
                  <a:pt x="2234501" y="710298"/>
                </a:lnTo>
                <a:lnTo>
                  <a:pt x="2277662" y="698455"/>
                </a:lnTo>
                <a:lnTo>
                  <a:pt x="2290955" y="692152"/>
                </a:lnTo>
                <a:close/>
              </a:path>
              <a:path w="2742565" h="2159000">
                <a:moveTo>
                  <a:pt x="2429785" y="377690"/>
                </a:moveTo>
                <a:lnTo>
                  <a:pt x="2188701" y="377690"/>
                </a:lnTo>
                <a:lnTo>
                  <a:pt x="2220700" y="384155"/>
                </a:lnTo>
                <a:lnTo>
                  <a:pt x="2246850" y="401772"/>
                </a:lnTo>
                <a:lnTo>
                  <a:pt x="2264489" y="427877"/>
                </a:lnTo>
                <a:lnTo>
                  <a:pt x="2270950" y="459802"/>
                </a:lnTo>
                <a:lnTo>
                  <a:pt x="2264883" y="489648"/>
                </a:lnTo>
                <a:lnTo>
                  <a:pt x="2264435" y="491710"/>
                </a:lnTo>
                <a:lnTo>
                  <a:pt x="2246753" y="517777"/>
                </a:lnTo>
                <a:lnTo>
                  <a:pt x="2220591" y="535357"/>
                </a:lnTo>
                <a:lnTo>
                  <a:pt x="2188701" y="541806"/>
                </a:lnTo>
                <a:lnTo>
                  <a:pt x="2429812" y="541806"/>
                </a:lnTo>
                <a:lnTo>
                  <a:pt x="2439822" y="505517"/>
                </a:lnTo>
                <a:lnTo>
                  <a:pt x="2443941" y="459802"/>
                </a:lnTo>
                <a:lnTo>
                  <a:pt x="2439822" y="414084"/>
                </a:lnTo>
                <a:lnTo>
                  <a:pt x="2429785" y="377690"/>
                </a:lnTo>
                <a:close/>
              </a:path>
              <a:path w="2742565" h="2159000">
                <a:moveTo>
                  <a:pt x="2489214" y="911093"/>
                </a:moveTo>
                <a:lnTo>
                  <a:pt x="2436603" y="916598"/>
                </a:lnTo>
                <a:lnTo>
                  <a:pt x="2387763" y="932352"/>
                </a:lnTo>
                <a:lnTo>
                  <a:pt x="2343815" y="957214"/>
                </a:lnTo>
                <a:lnTo>
                  <a:pt x="2305880" y="990042"/>
                </a:lnTo>
                <a:lnTo>
                  <a:pt x="2275081" y="1029694"/>
                </a:lnTo>
                <a:lnTo>
                  <a:pt x="2252538" y="1075029"/>
                </a:lnTo>
                <a:lnTo>
                  <a:pt x="1557035" y="1075029"/>
                </a:lnTo>
                <a:lnTo>
                  <a:pt x="1557035" y="1247594"/>
                </a:lnTo>
                <a:lnTo>
                  <a:pt x="2250880" y="1247594"/>
                </a:lnTo>
                <a:lnTo>
                  <a:pt x="2269277" y="1287744"/>
                </a:lnTo>
                <a:lnTo>
                  <a:pt x="2294126" y="1323782"/>
                </a:lnTo>
                <a:lnTo>
                  <a:pt x="2324687" y="1354956"/>
                </a:lnTo>
                <a:lnTo>
                  <a:pt x="2360218" y="1380512"/>
                </a:lnTo>
                <a:lnTo>
                  <a:pt x="2399977" y="1399699"/>
                </a:lnTo>
                <a:lnTo>
                  <a:pt x="2443632" y="1411877"/>
                </a:lnTo>
                <a:lnTo>
                  <a:pt x="2444476" y="1411877"/>
                </a:lnTo>
                <a:lnTo>
                  <a:pt x="2489214" y="1415952"/>
                </a:lnTo>
                <a:lnTo>
                  <a:pt x="2534654" y="1411877"/>
                </a:lnTo>
                <a:lnTo>
                  <a:pt x="2577445" y="1400133"/>
                </a:lnTo>
                <a:lnTo>
                  <a:pt x="2616867" y="1381436"/>
                </a:lnTo>
                <a:lnTo>
                  <a:pt x="2652201" y="1356507"/>
                </a:lnTo>
                <a:lnTo>
                  <a:pt x="2682726" y="1326062"/>
                </a:lnTo>
                <a:lnTo>
                  <a:pt x="2707721" y="1290821"/>
                </a:lnTo>
                <a:lnTo>
                  <a:pt x="2726467" y="1251503"/>
                </a:lnTo>
                <a:lnTo>
                  <a:pt x="2728706" y="1243388"/>
                </a:lnTo>
                <a:lnTo>
                  <a:pt x="2489214" y="1243388"/>
                </a:lnTo>
                <a:lnTo>
                  <a:pt x="2458077" y="1237104"/>
                </a:lnTo>
                <a:lnTo>
                  <a:pt x="2432627" y="1219975"/>
                </a:lnTo>
                <a:lnTo>
                  <a:pt x="2415456" y="1194581"/>
                </a:lnTo>
                <a:lnTo>
                  <a:pt x="2409157" y="1163505"/>
                </a:lnTo>
                <a:lnTo>
                  <a:pt x="2415456" y="1132444"/>
                </a:lnTo>
                <a:lnTo>
                  <a:pt x="2432627" y="1107048"/>
                </a:lnTo>
                <a:lnTo>
                  <a:pt x="2458077" y="1089910"/>
                </a:lnTo>
                <a:lnTo>
                  <a:pt x="2489214" y="1083622"/>
                </a:lnTo>
                <a:lnTo>
                  <a:pt x="2728667" y="1083622"/>
                </a:lnTo>
                <a:lnTo>
                  <a:pt x="2726429" y="1075526"/>
                </a:lnTo>
                <a:lnTo>
                  <a:pt x="2707673" y="1036213"/>
                </a:lnTo>
                <a:lnTo>
                  <a:pt x="2682672" y="1000977"/>
                </a:lnTo>
                <a:lnTo>
                  <a:pt x="2652147" y="970535"/>
                </a:lnTo>
                <a:lnTo>
                  <a:pt x="2616819" y="945608"/>
                </a:lnTo>
                <a:lnTo>
                  <a:pt x="2577407" y="926912"/>
                </a:lnTo>
                <a:lnTo>
                  <a:pt x="2534632" y="915168"/>
                </a:lnTo>
                <a:lnTo>
                  <a:pt x="2489214" y="911093"/>
                </a:lnTo>
                <a:close/>
              </a:path>
              <a:path w="2742565" h="2159000">
                <a:moveTo>
                  <a:pt x="2728667" y="1083622"/>
                </a:moveTo>
                <a:lnTo>
                  <a:pt x="2489214" y="1083622"/>
                </a:lnTo>
                <a:lnTo>
                  <a:pt x="2520373" y="1089910"/>
                </a:lnTo>
                <a:lnTo>
                  <a:pt x="2545833" y="1107048"/>
                </a:lnTo>
                <a:lnTo>
                  <a:pt x="2563008" y="1132444"/>
                </a:lnTo>
                <a:lnTo>
                  <a:pt x="2569308" y="1163505"/>
                </a:lnTo>
                <a:lnTo>
                  <a:pt x="2562967" y="1194581"/>
                </a:lnTo>
                <a:lnTo>
                  <a:pt x="2545779" y="1219975"/>
                </a:lnTo>
                <a:lnTo>
                  <a:pt x="2520332" y="1237104"/>
                </a:lnTo>
                <a:lnTo>
                  <a:pt x="2489214" y="1243388"/>
                </a:lnTo>
                <a:lnTo>
                  <a:pt x="2728706" y="1243388"/>
                </a:lnTo>
                <a:lnTo>
                  <a:pt x="2738242" y="1208824"/>
                </a:lnTo>
                <a:lnTo>
                  <a:pt x="2742328" y="1163505"/>
                </a:lnTo>
                <a:lnTo>
                  <a:pt x="2738221" y="1118196"/>
                </a:lnTo>
                <a:lnTo>
                  <a:pt x="2728667" y="1083622"/>
                </a:lnTo>
                <a:close/>
              </a:path>
            </a:pathLst>
          </a:custGeom>
          <a:solidFill>
            <a:srgbClr val="FF53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8378" y="1110234"/>
            <a:ext cx="60071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5309"/>
                </a:solidFill>
              </a:rPr>
              <a:t>Generative</a:t>
            </a:r>
            <a:r>
              <a:rPr dirty="0" sz="3600" spc="-95">
                <a:solidFill>
                  <a:srgbClr val="FF5309"/>
                </a:solidFill>
              </a:rPr>
              <a:t> </a:t>
            </a:r>
            <a:r>
              <a:rPr dirty="0" sz="3600">
                <a:solidFill>
                  <a:srgbClr val="FF5309"/>
                </a:solidFill>
              </a:rPr>
              <a:t>AI</a:t>
            </a:r>
            <a:r>
              <a:rPr dirty="0" sz="3600" spc="-90">
                <a:solidFill>
                  <a:srgbClr val="FF5309"/>
                </a:solidFill>
              </a:rPr>
              <a:t> </a:t>
            </a:r>
            <a:r>
              <a:rPr dirty="0" sz="3600" spc="-10">
                <a:solidFill>
                  <a:srgbClr val="FF5309"/>
                </a:solidFill>
              </a:rPr>
              <a:t>Definition</a:t>
            </a:r>
            <a:endParaRPr sz="3600"/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2303"/>
            <a:ext cx="1280159" cy="29260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457200" y="1527047"/>
            <a:ext cx="5495925" cy="4462780"/>
            <a:chOff x="457200" y="1527047"/>
            <a:chExt cx="5495925" cy="446278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527047"/>
              <a:ext cx="5495925" cy="4462780"/>
            </a:xfrm>
            <a:custGeom>
              <a:avLst/>
              <a:gdLst/>
              <a:ahLst/>
              <a:cxnLst/>
              <a:rect l="l" t="t" r="r" b="b"/>
              <a:pathLst>
                <a:path w="5495925" h="4462780">
                  <a:moveTo>
                    <a:pt x="5495544" y="0"/>
                  </a:moveTo>
                  <a:lnTo>
                    <a:pt x="0" y="0"/>
                  </a:lnTo>
                  <a:lnTo>
                    <a:pt x="0" y="4462272"/>
                  </a:lnTo>
                  <a:lnTo>
                    <a:pt x="5495544" y="4462272"/>
                  </a:lnTo>
                  <a:lnTo>
                    <a:pt x="5495544" y="0"/>
                  </a:lnTo>
                  <a:close/>
                </a:path>
              </a:pathLst>
            </a:custGeom>
            <a:solidFill>
              <a:srgbClr val="0028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19911" y="2717291"/>
              <a:ext cx="622300" cy="414655"/>
            </a:xfrm>
            <a:custGeom>
              <a:avLst/>
              <a:gdLst/>
              <a:ahLst/>
              <a:cxnLst/>
              <a:rect l="l" t="t" r="r" b="b"/>
              <a:pathLst>
                <a:path w="622300" h="414655">
                  <a:moveTo>
                    <a:pt x="621792" y="0"/>
                  </a:moveTo>
                  <a:lnTo>
                    <a:pt x="0" y="0"/>
                  </a:lnTo>
                  <a:lnTo>
                    <a:pt x="0" y="414527"/>
                  </a:lnTo>
                  <a:lnTo>
                    <a:pt x="621792" y="414527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F530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19911" y="3980687"/>
              <a:ext cx="622300" cy="414655"/>
            </a:xfrm>
            <a:custGeom>
              <a:avLst/>
              <a:gdLst/>
              <a:ahLst/>
              <a:cxnLst/>
              <a:rect l="l" t="t" r="r" b="b"/>
              <a:pathLst>
                <a:path w="622300" h="414654">
                  <a:moveTo>
                    <a:pt x="621792" y="0"/>
                  </a:moveTo>
                  <a:lnTo>
                    <a:pt x="0" y="0"/>
                  </a:lnTo>
                  <a:lnTo>
                    <a:pt x="0" y="414528"/>
                  </a:lnTo>
                  <a:lnTo>
                    <a:pt x="621792" y="414528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F53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/>
              <a:t>Generative</a:t>
            </a:r>
            <a:r>
              <a:rPr dirty="0" spc="-40"/>
              <a:t> </a:t>
            </a:r>
            <a:r>
              <a:rPr dirty="0"/>
              <a:t>AI</a:t>
            </a:r>
            <a:r>
              <a:rPr dirty="0" spc="-25"/>
              <a:t> </a:t>
            </a:r>
            <a:r>
              <a:rPr dirty="0"/>
              <a:t>Began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Quickly</a:t>
            </a:r>
            <a:r>
              <a:rPr dirty="0" spc="-50"/>
              <a:t> </a:t>
            </a:r>
            <a:r>
              <a:rPr dirty="0"/>
              <a:t>Emerge</a:t>
            </a:r>
            <a:r>
              <a:rPr dirty="0" spc="-35"/>
              <a:t> </a:t>
            </a:r>
            <a:r>
              <a:rPr dirty="0"/>
              <a:t>as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 spc="-10"/>
              <a:t>Topic </a:t>
            </a:r>
            <a:r>
              <a:rPr dirty="0"/>
              <a:t>on</a:t>
            </a:r>
            <a:r>
              <a:rPr dirty="0" spc="60"/>
              <a:t> </a:t>
            </a:r>
            <a:r>
              <a:rPr dirty="0"/>
              <a:t>Earnings</a:t>
            </a:r>
            <a:r>
              <a:rPr dirty="0" spc="40"/>
              <a:t> </a:t>
            </a:r>
            <a:r>
              <a:rPr dirty="0"/>
              <a:t>Calls</a:t>
            </a:r>
            <a:r>
              <a:rPr dirty="0" spc="20"/>
              <a:t> </a:t>
            </a:r>
            <a:r>
              <a:rPr dirty="0"/>
              <a:t>in</a:t>
            </a:r>
            <a:r>
              <a:rPr dirty="0" spc="45"/>
              <a:t> </a:t>
            </a:r>
            <a:r>
              <a:rPr dirty="0"/>
              <a:t>Early</a:t>
            </a:r>
            <a:r>
              <a:rPr dirty="0" spc="40"/>
              <a:t> </a:t>
            </a:r>
            <a:r>
              <a:rPr dirty="0" spc="-20"/>
              <a:t>2023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6224651" y="1517650"/>
          <a:ext cx="5845175" cy="443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5760"/>
                <a:gridCol w="2844165"/>
              </a:tblGrid>
              <a:tr h="454025">
                <a:tc>
                  <a:txBody>
                    <a:bodyPr/>
                    <a:lstStyle/>
                    <a:p>
                      <a:pPr marL="93345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Company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  <a:lnT w="19050">
                      <a:solidFill>
                        <a:srgbClr val="6E7878"/>
                      </a:solidFill>
                      <a:prstDash val="solid"/>
                    </a:lnT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  <a:lnT w="19050">
                      <a:solidFill>
                        <a:srgbClr val="6E7878"/>
                      </a:solidFill>
                      <a:prstDash val="solid"/>
                    </a:lnT>
                    <a:solidFill>
                      <a:srgbClr val="002855"/>
                    </a:solidFill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Genpact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324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Nallicheri</a:t>
                      </a:r>
                      <a:r>
                        <a:rPr dirty="0" sz="16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Vaidyanathan Tyagarajan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President,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CEO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Director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600" spc="-20">
                          <a:latin typeface="Arial"/>
                          <a:cs typeface="Arial"/>
                        </a:rPr>
                        <a:t>Etsy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63195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Joshua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G.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Silverman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CEO,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President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Director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Accenture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07645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9563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Julie</a:t>
                      </a:r>
                      <a:r>
                        <a:rPr dirty="0" sz="1600" spc="-80">
                          <a:latin typeface="Arial"/>
                          <a:cs typeface="Arial"/>
                        </a:rPr>
                        <a:t> T.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Spellman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Sweet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CEO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Chairman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Meta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Platforms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63195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 marR="1143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Mark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Elliot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Zuckerberg Founder,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Chairman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CEO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Cadence</a:t>
                      </a:r>
                      <a:r>
                        <a:rPr dirty="0" sz="16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Design</a:t>
                      </a:r>
                      <a:r>
                        <a:rPr dirty="0" sz="16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Systems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07645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Anirudh</a:t>
                      </a:r>
                      <a:r>
                        <a:rPr dirty="0" sz="16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Devgan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spc="-25">
                          <a:latin typeface="Arial"/>
                          <a:cs typeface="Arial"/>
                        </a:rPr>
                        <a:t>CEO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  <a:solidFill>
                      <a:srgbClr val="E7E7E7"/>
                    </a:solidFill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Leidos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Holdings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08279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  <a:lnB w="19050">
                      <a:solidFill>
                        <a:srgbClr val="6E78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972819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Roger</a:t>
                      </a:r>
                      <a:r>
                        <a:rPr dirty="0" sz="16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A.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Krone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Chairman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CEO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6E7878"/>
                      </a:solidFill>
                      <a:prstDash val="solid"/>
                    </a:lnL>
                    <a:lnR w="19050">
                      <a:solidFill>
                        <a:srgbClr val="6E7878"/>
                      </a:solidFill>
                      <a:prstDash val="solid"/>
                    </a:lnR>
                    <a:lnB w="19050">
                      <a:solidFill>
                        <a:srgbClr val="6E78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457200" y="1527047"/>
            <a:ext cx="5495925" cy="446278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endParaRPr sz="2400">
              <a:latin typeface="Times New Roman"/>
              <a:cs typeface="Times New Roman"/>
            </a:endParaRPr>
          </a:p>
          <a:p>
            <a:pPr marL="276225">
              <a:lnSpc>
                <a:spcPct val="100000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S&amp;P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1200</a:t>
            </a:r>
            <a:r>
              <a:rPr dirty="0" sz="24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Company</a:t>
            </a:r>
            <a:r>
              <a:rPr dirty="0" sz="24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CEOs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400">
              <a:latin typeface="Arial"/>
              <a:cs typeface="Arial"/>
            </a:endParaRPr>
          </a:p>
          <a:p>
            <a:pPr marL="381635" marR="832485">
              <a:lnSpc>
                <a:spcPct val="102600"/>
              </a:lnSpc>
            </a:pPr>
            <a:r>
              <a:rPr dirty="0" sz="2800">
                <a:solidFill>
                  <a:srgbClr val="FFFFFF"/>
                </a:solidFill>
                <a:latin typeface="Arial Black"/>
                <a:cs typeface="Arial Black"/>
              </a:rPr>
              <a:t>2%</a:t>
            </a:r>
            <a:r>
              <a:rPr dirty="0" sz="2800" spc="-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CEOs</a:t>
            </a:r>
            <a:r>
              <a:rPr dirty="0" sz="2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FF5309"/>
                </a:solidFill>
                <a:latin typeface="Arial"/>
                <a:cs typeface="Arial"/>
              </a:rPr>
              <a:t>discussed </a:t>
            </a:r>
            <a:r>
              <a:rPr dirty="0" sz="2800">
                <a:solidFill>
                  <a:srgbClr val="FF5309"/>
                </a:solidFill>
                <a:latin typeface="Arial"/>
                <a:cs typeface="Arial"/>
              </a:rPr>
              <a:t>GenAI</a:t>
            </a:r>
            <a:r>
              <a:rPr dirty="0" sz="2800" spc="-60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earning</a:t>
            </a:r>
            <a:r>
              <a:rPr dirty="0" sz="2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calls</a:t>
            </a:r>
            <a:endParaRPr sz="2800">
              <a:latin typeface="Arial"/>
              <a:cs typeface="Arial"/>
            </a:endParaRPr>
          </a:p>
          <a:p>
            <a:pPr marL="381635" marR="1350645">
              <a:lnSpc>
                <a:spcPct val="102499"/>
              </a:lnSpc>
              <a:spcBef>
                <a:spcPts val="3065"/>
              </a:spcBef>
            </a:pPr>
            <a:r>
              <a:rPr dirty="0" sz="2800">
                <a:solidFill>
                  <a:srgbClr val="FFFFFF"/>
                </a:solidFill>
                <a:latin typeface="Arial Black"/>
                <a:cs typeface="Arial Black"/>
              </a:rPr>
              <a:t>1%</a:t>
            </a:r>
            <a:r>
              <a:rPr dirty="0" sz="28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2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CEOs</a:t>
            </a:r>
            <a:r>
              <a:rPr dirty="0" sz="2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FF5309"/>
                </a:solidFill>
                <a:latin typeface="Arial"/>
                <a:cs typeface="Arial"/>
              </a:rPr>
              <a:t>discussed </a:t>
            </a:r>
            <a:r>
              <a:rPr dirty="0" sz="2800">
                <a:solidFill>
                  <a:srgbClr val="FF5309"/>
                </a:solidFill>
                <a:latin typeface="Arial"/>
                <a:cs typeface="Arial"/>
              </a:rPr>
              <a:t>deploying</a:t>
            </a:r>
            <a:r>
              <a:rPr dirty="0" sz="2800" spc="-105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FF5309"/>
                </a:solidFill>
                <a:latin typeface="Arial"/>
                <a:cs typeface="Arial"/>
              </a:rPr>
              <a:t>GenAI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800">
              <a:latin typeface="Arial"/>
              <a:cs typeface="Arial"/>
            </a:endParaRPr>
          </a:p>
          <a:p>
            <a:pPr marL="36195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(From</a:t>
            </a:r>
            <a:r>
              <a:rPr dirty="0" sz="1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dirty="0" sz="1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4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April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 2023)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2303"/>
            <a:ext cx="1280159" cy="292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/>
              <a:t>Emerging</a:t>
            </a:r>
            <a:r>
              <a:rPr dirty="0" spc="-65"/>
              <a:t> </a:t>
            </a:r>
            <a:r>
              <a:rPr dirty="0" spc="-20"/>
              <a:t>Tech</a:t>
            </a:r>
            <a:r>
              <a:rPr dirty="0" spc="-45"/>
              <a:t> </a:t>
            </a:r>
            <a:r>
              <a:rPr dirty="0"/>
              <a:t>Impact</a:t>
            </a:r>
            <a:r>
              <a:rPr dirty="0" spc="-35"/>
              <a:t> </a:t>
            </a:r>
            <a:r>
              <a:rPr dirty="0"/>
              <a:t>Radar:</a:t>
            </a:r>
            <a:r>
              <a:rPr dirty="0" spc="-45"/>
              <a:t> </a:t>
            </a:r>
            <a:r>
              <a:rPr dirty="0" spc="-10"/>
              <a:t>Artificial Intelligence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3406164" y="1202463"/>
            <a:ext cx="6554470" cy="5107305"/>
            <a:chOff x="3406164" y="1202463"/>
            <a:chExt cx="6554470" cy="510730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6164" y="1202463"/>
              <a:ext cx="6554244" cy="510723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044945" y="1924049"/>
              <a:ext cx="1335405" cy="391795"/>
            </a:xfrm>
            <a:custGeom>
              <a:avLst/>
              <a:gdLst/>
              <a:ahLst/>
              <a:cxnLst/>
              <a:rect l="l" t="t" r="r" b="b"/>
              <a:pathLst>
                <a:path w="1335404" h="391794">
                  <a:moveTo>
                    <a:pt x="0" y="195834"/>
                  </a:moveTo>
                  <a:lnTo>
                    <a:pt x="13560" y="156352"/>
                  </a:lnTo>
                  <a:lnTo>
                    <a:pt x="52452" y="119586"/>
                  </a:lnTo>
                  <a:lnTo>
                    <a:pt x="113994" y="86320"/>
                  </a:lnTo>
                  <a:lnTo>
                    <a:pt x="152419" y="71245"/>
                  </a:lnTo>
                  <a:lnTo>
                    <a:pt x="195500" y="57340"/>
                  </a:lnTo>
                  <a:lnTo>
                    <a:pt x="242902" y="44703"/>
                  </a:lnTo>
                  <a:lnTo>
                    <a:pt x="294289" y="33432"/>
                  </a:lnTo>
                  <a:lnTo>
                    <a:pt x="349325" y="23626"/>
                  </a:lnTo>
                  <a:lnTo>
                    <a:pt x="407675" y="15382"/>
                  </a:lnTo>
                  <a:lnTo>
                    <a:pt x="469005" y="8800"/>
                  </a:lnTo>
                  <a:lnTo>
                    <a:pt x="532978" y="3976"/>
                  </a:lnTo>
                  <a:lnTo>
                    <a:pt x="599258" y="1010"/>
                  </a:lnTo>
                  <a:lnTo>
                    <a:pt x="667511" y="0"/>
                  </a:lnTo>
                  <a:lnTo>
                    <a:pt x="735765" y="1010"/>
                  </a:lnTo>
                  <a:lnTo>
                    <a:pt x="802045" y="3976"/>
                  </a:lnTo>
                  <a:lnTo>
                    <a:pt x="866018" y="8800"/>
                  </a:lnTo>
                  <a:lnTo>
                    <a:pt x="927348" y="15382"/>
                  </a:lnTo>
                  <a:lnTo>
                    <a:pt x="985698" y="23626"/>
                  </a:lnTo>
                  <a:lnTo>
                    <a:pt x="1040734" y="33432"/>
                  </a:lnTo>
                  <a:lnTo>
                    <a:pt x="1092121" y="44703"/>
                  </a:lnTo>
                  <a:lnTo>
                    <a:pt x="1139523" y="57340"/>
                  </a:lnTo>
                  <a:lnTo>
                    <a:pt x="1182604" y="71245"/>
                  </a:lnTo>
                  <a:lnTo>
                    <a:pt x="1221029" y="86320"/>
                  </a:lnTo>
                  <a:lnTo>
                    <a:pt x="1282571" y="119586"/>
                  </a:lnTo>
                  <a:lnTo>
                    <a:pt x="1321463" y="156352"/>
                  </a:lnTo>
                  <a:lnTo>
                    <a:pt x="1335024" y="195834"/>
                  </a:lnTo>
                  <a:lnTo>
                    <a:pt x="1331577" y="215864"/>
                  </a:lnTo>
                  <a:lnTo>
                    <a:pt x="1305016" y="254086"/>
                  </a:lnTo>
                  <a:lnTo>
                    <a:pt x="1254463" y="289201"/>
                  </a:lnTo>
                  <a:lnTo>
                    <a:pt x="1182604" y="320422"/>
                  </a:lnTo>
                  <a:lnTo>
                    <a:pt x="1139523" y="334327"/>
                  </a:lnTo>
                  <a:lnTo>
                    <a:pt x="1092121" y="346964"/>
                  </a:lnTo>
                  <a:lnTo>
                    <a:pt x="1040734" y="358235"/>
                  </a:lnTo>
                  <a:lnTo>
                    <a:pt x="985698" y="368041"/>
                  </a:lnTo>
                  <a:lnTo>
                    <a:pt x="927348" y="376285"/>
                  </a:lnTo>
                  <a:lnTo>
                    <a:pt x="866018" y="382867"/>
                  </a:lnTo>
                  <a:lnTo>
                    <a:pt x="802045" y="387691"/>
                  </a:lnTo>
                  <a:lnTo>
                    <a:pt x="735765" y="390657"/>
                  </a:lnTo>
                  <a:lnTo>
                    <a:pt x="667511" y="391667"/>
                  </a:lnTo>
                  <a:lnTo>
                    <a:pt x="599258" y="390657"/>
                  </a:lnTo>
                  <a:lnTo>
                    <a:pt x="532978" y="387691"/>
                  </a:lnTo>
                  <a:lnTo>
                    <a:pt x="469005" y="382867"/>
                  </a:lnTo>
                  <a:lnTo>
                    <a:pt x="407675" y="376285"/>
                  </a:lnTo>
                  <a:lnTo>
                    <a:pt x="349325" y="368041"/>
                  </a:lnTo>
                  <a:lnTo>
                    <a:pt x="294289" y="358235"/>
                  </a:lnTo>
                  <a:lnTo>
                    <a:pt x="242902" y="346964"/>
                  </a:lnTo>
                  <a:lnTo>
                    <a:pt x="195500" y="334327"/>
                  </a:lnTo>
                  <a:lnTo>
                    <a:pt x="152419" y="320422"/>
                  </a:lnTo>
                  <a:lnTo>
                    <a:pt x="113994" y="305347"/>
                  </a:lnTo>
                  <a:lnTo>
                    <a:pt x="52452" y="272081"/>
                  </a:lnTo>
                  <a:lnTo>
                    <a:pt x="13560" y="235315"/>
                  </a:lnTo>
                  <a:lnTo>
                    <a:pt x="0" y="19583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2303"/>
            <a:ext cx="1280159" cy="292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274701"/>
            <a:ext cx="1142428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dirty="0" spc="-60"/>
              <a:t> </a:t>
            </a:r>
            <a:r>
              <a:rPr dirty="0"/>
              <a:t>Artifacts</a:t>
            </a:r>
            <a:r>
              <a:rPr dirty="0" spc="-45"/>
              <a:t> </a:t>
            </a:r>
            <a:r>
              <a:rPr dirty="0"/>
              <a:t>That</a:t>
            </a:r>
            <a:r>
              <a:rPr dirty="0" spc="-15"/>
              <a:t> </a:t>
            </a:r>
            <a:r>
              <a:rPr dirty="0"/>
              <a:t>GenAI</a:t>
            </a:r>
            <a:r>
              <a:rPr dirty="0" spc="-25"/>
              <a:t> </a:t>
            </a:r>
            <a:r>
              <a:rPr dirty="0"/>
              <a:t>Can</a:t>
            </a:r>
            <a:r>
              <a:rPr dirty="0" spc="-25"/>
              <a:t> </a:t>
            </a:r>
            <a:r>
              <a:rPr dirty="0"/>
              <a:t>Generate</a:t>
            </a:r>
            <a:r>
              <a:rPr dirty="0" spc="-20"/>
              <a:t> </a:t>
            </a:r>
            <a:r>
              <a:rPr dirty="0" spc="-10"/>
              <a:t>Today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684776" y="1004316"/>
            <a:ext cx="1769745" cy="431800"/>
          </a:xfrm>
          <a:prstGeom prst="rect">
            <a:avLst/>
          </a:prstGeom>
          <a:solidFill>
            <a:srgbClr val="002855"/>
          </a:solidFill>
        </p:spPr>
        <p:txBody>
          <a:bodyPr wrap="square" lIns="0" tIns="78105" rIns="0" bIns="0" rtlCol="0" vert="horz">
            <a:spAutoFit/>
          </a:bodyPr>
          <a:lstStyle/>
          <a:p>
            <a:pPr marL="193675">
              <a:lnSpc>
                <a:spcPct val="100000"/>
              </a:lnSpc>
              <a:spcBef>
                <a:spcPts val="615"/>
              </a:spcBef>
            </a:pPr>
            <a:r>
              <a:rPr dirty="0" sz="1750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dirty="0" sz="175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FFFFFF"/>
                </a:solidFill>
                <a:latin typeface="Arial"/>
                <a:cs typeface="Arial"/>
              </a:rPr>
              <a:t>AI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84776" y="1979676"/>
            <a:ext cx="1769745" cy="433070"/>
          </a:xfrm>
          <a:prstGeom prst="rect">
            <a:avLst/>
          </a:prstGeom>
          <a:solidFill>
            <a:srgbClr val="002855"/>
          </a:solidFill>
        </p:spPr>
        <p:txBody>
          <a:bodyPr wrap="square" lIns="0" tIns="73025" rIns="0" bIns="0" rtlCol="0" vert="horz">
            <a:spAutoFit/>
          </a:bodyPr>
          <a:lstStyle/>
          <a:p>
            <a:pPr marL="474345">
              <a:lnSpc>
                <a:spcPct val="100000"/>
              </a:lnSpc>
              <a:spcBef>
                <a:spcPts val="575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Artifacts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505958" y="1436369"/>
            <a:ext cx="127000" cy="544195"/>
          </a:xfrm>
          <a:custGeom>
            <a:avLst/>
            <a:gdLst/>
            <a:ahLst/>
            <a:cxnLst/>
            <a:rect l="l" t="t" r="r" b="b"/>
            <a:pathLst>
              <a:path w="127000" h="544194">
                <a:moveTo>
                  <a:pt x="50800" y="467613"/>
                </a:moveTo>
                <a:lnTo>
                  <a:pt x="0" y="467613"/>
                </a:lnTo>
                <a:lnTo>
                  <a:pt x="63500" y="543813"/>
                </a:lnTo>
                <a:lnTo>
                  <a:pt x="116416" y="480313"/>
                </a:lnTo>
                <a:lnTo>
                  <a:pt x="50800" y="480313"/>
                </a:lnTo>
                <a:lnTo>
                  <a:pt x="50800" y="467613"/>
                </a:lnTo>
                <a:close/>
              </a:path>
              <a:path w="127000" h="544194">
                <a:moveTo>
                  <a:pt x="76200" y="259206"/>
                </a:moveTo>
                <a:lnTo>
                  <a:pt x="63500" y="259206"/>
                </a:lnTo>
                <a:lnTo>
                  <a:pt x="50800" y="271906"/>
                </a:lnTo>
                <a:lnTo>
                  <a:pt x="50800" y="480313"/>
                </a:lnTo>
                <a:lnTo>
                  <a:pt x="76200" y="480313"/>
                </a:lnTo>
                <a:lnTo>
                  <a:pt x="76200" y="284606"/>
                </a:lnTo>
                <a:lnTo>
                  <a:pt x="63500" y="284606"/>
                </a:lnTo>
                <a:lnTo>
                  <a:pt x="76200" y="271906"/>
                </a:lnTo>
                <a:lnTo>
                  <a:pt x="76200" y="259206"/>
                </a:lnTo>
                <a:close/>
              </a:path>
              <a:path w="127000" h="544194">
                <a:moveTo>
                  <a:pt x="127000" y="467613"/>
                </a:moveTo>
                <a:lnTo>
                  <a:pt x="76200" y="467613"/>
                </a:lnTo>
                <a:lnTo>
                  <a:pt x="76200" y="480313"/>
                </a:lnTo>
                <a:lnTo>
                  <a:pt x="116416" y="480313"/>
                </a:lnTo>
                <a:lnTo>
                  <a:pt x="127000" y="467613"/>
                </a:lnTo>
                <a:close/>
              </a:path>
              <a:path w="127000" h="544194">
                <a:moveTo>
                  <a:pt x="76200" y="271906"/>
                </a:moveTo>
                <a:lnTo>
                  <a:pt x="63500" y="284606"/>
                </a:lnTo>
                <a:lnTo>
                  <a:pt x="76200" y="284606"/>
                </a:lnTo>
                <a:lnTo>
                  <a:pt x="76200" y="271906"/>
                </a:lnTo>
                <a:close/>
              </a:path>
              <a:path w="127000" h="544194">
                <a:moveTo>
                  <a:pt x="76200" y="0"/>
                </a:moveTo>
                <a:lnTo>
                  <a:pt x="50800" y="0"/>
                </a:lnTo>
                <a:lnTo>
                  <a:pt x="50800" y="271906"/>
                </a:lnTo>
                <a:lnTo>
                  <a:pt x="63500" y="259206"/>
                </a:lnTo>
                <a:lnTo>
                  <a:pt x="76200" y="259206"/>
                </a:lnTo>
                <a:lnTo>
                  <a:pt x="76200" y="0"/>
                </a:lnTo>
                <a:close/>
              </a:path>
            </a:pathLst>
          </a:custGeom>
          <a:solidFill>
            <a:srgbClr val="6E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49580" y="2830322"/>
            <a:ext cx="1765935" cy="521334"/>
          </a:xfrm>
          <a:prstGeom prst="rect">
            <a:avLst/>
          </a:prstGeom>
          <a:solidFill>
            <a:srgbClr val="002855"/>
          </a:solidFill>
        </p:spPr>
        <p:txBody>
          <a:bodyPr wrap="square" lIns="0" tIns="139700" rIns="0" bIns="0" rtlCol="0" vert="horz">
            <a:spAutoFit/>
          </a:bodyPr>
          <a:lstStyle/>
          <a:p>
            <a:pPr marL="320040">
              <a:lnSpc>
                <a:spcPct val="100000"/>
              </a:lnSpc>
              <a:spcBef>
                <a:spcPts val="1100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Audio/Visual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57627" y="2830322"/>
            <a:ext cx="1765935" cy="521334"/>
          </a:xfrm>
          <a:prstGeom prst="rect">
            <a:avLst/>
          </a:prstGeom>
          <a:solidFill>
            <a:srgbClr val="002855"/>
          </a:solidFill>
        </p:spPr>
        <p:txBody>
          <a:bodyPr wrap="square" lIns="0" tIns="17780" rIns="0" bIns="0" rtlCol="0" vert="horz">
            <a:spAutoFit/>
          </a:bodyPr>
          <a:lstStyle/>
          <a:p>
            <a:pPr marL="338455" marR="171450" indent="-163195">
              <a:lnSpc>
                <a:spcPct val="100000"/>
              </a:lnSpc>
              <a:spcBef>
                <a:spcPts val="14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Programming</a:t>
            </a:r>
            <a:r>
              <a:rPr dirty="0" sz="16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6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Assets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64152" y="2830322"/>
            <a:ext cx="1765935" cy="521334"/>
          </a:xfrm>
          <a:prstGeom prst="rect">
            <a:avLst/>
          </a:prstGeom>
          <a:solidFill>
            <a:srgbClr val="002855"/>
          </a:solidFill>
        </p:spPr>
        <p:txBody>
          <a:bodyPr wrap="square" lIns="0" tIns="17780" rIns="0" bIns="0" rtlCol="0" vert="horz">
            <a:spAutoFit/>
          </a:bodyPr>
          <a:lstStyle/>
          <a:p>
            <a:pPr marL="430530" marR="424815" indent="124460">
              <a:lnSpc>
                <a:spcPct val="100000"/>
              </a:lnSpc>
              <a:spcBef>
                <a:spcPts val="140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Natural Language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269238" y="2565145"/>
            <a:ext cx="3942079" cy="278765"/>
          </a:xfrm>
          <a:custGeom>
            <a:avLst/>
            <a:gdLst/>
            <a:ahLst/>
            <a:cxnLst/>
            <a:rect l="l" t="t" r="r" b="b"/>
            <a:pathLst>
              <a:path w="3942079" h="278764">
                <a:moveTo>
                  <a:pt x="3417570" y="0"/>
                </a:moveTo>
                <a:lnTo>
                  <a:pt x="3416300" y="0"/>
                </a:lnTo>
                <a:lnTo>
                  <a:pt x="1958848" y="0"/>
                </a:lnTo>
                <a:lnTo>
                  <a:pt x="50800" y="0"/>
                </a:lnTo>
                <a:lnTo>
                  <a:pt x="50800" y="202057"/>
                </a:lnTo>
                <a:lnTo>
                  <a:pt x="0" y="202057"/>
                </a:lnTo>
                <a:lnTo>
                  <a:pt x="63500" y="278257"/>
                </a:lnTo>
                <a:lnTo>
                  <a:pt x="116408" y="214757"/>
                </a:lnTo>
                <a:lnTo>
                  <a:pt x="127000" y="202057"/>
                </a:lnTo>
                <a:lnTo>
                  <a:pt x="76200" y="202057"/>
                </a:lnTo>
                <a:lnTo>
                  <a:pt x="76200" y="25400"/>
                </a:lnTo>
                <a:lnTo>
                  <a:pt x="1958848" y="25400"/>
                </a:lnTo>
                <a:lnTo>
                  <a:pt x="1958848" y="202057"/>
                </a:lnTo>
                <a:lnTo>
                  <a:pt x="1908048" y="202057"/>
                </a:lnTo>
                <a:lnTo>
                  <a:pt x="1971548" y="278257"/>
                </a:lnTo>
                <a:lnTo>
                  <a:pt x="2024456" y="214757"/>
                </a:lnTo>
                <a:lnTo>
                  <a:pt x="2035048" y="202057"/>
                </a:lnTo>
                <a:lnTo>
                  <a:pt x="1984248" y="202057"/>
                </a:lnTo>
                <a:lnTo>
                  <a:pt x="1984248" y="25400"/>
                </a:lnTo>
                <a:lnTo>
                  <a:pt x="3416300" y="25400"/>
                </a:lnTo>
                <a:lnTo>
                  <a:pt x="3417570" y="25400"/>
                </a:lnTo>
                <a:lnTo>
                  <a:pt x="3417570" y="12700"/>
                </a:lnTo>
                <a:lnTo>
                  <a:pt x="3417570" y="0"/>
                </a:lnTo>
                <a:close/>
              </a:path>
              <a:path w="3942079" h="278764">
                <a:moveTo>
                  <a:pt x="3941572" y="202057"/>
                </a:moveTo>
                <a:lnTo>
                  <a:pt x="3890772" y="202057"/>
                </a:lnTo>
                <a:lnTo>
                  <a:pt x="3890772" y="25400"/>
                </a:lnTo>
                <a:lnTo>
                  <a:pt x="3890772" y="12700"/>
                </a:lnTo>
                <a:lnTo>
                  <a:pt x="3890772" y="0"/>
                </a:lnTo>
                <a:lnTo>
                  <a:pt x="3417824" y="0"/>
                </a:lnTo>
                <a:lnTo>
                  <a:pt x="3417824" y="25400"/>
                </a:lnTo>
                <a:lnTo>
                  <a:pt x="3865372" y="25400"/>
                </a:lnTo>
                <a:lnTo>
                  <a:pt x="3865372" y="202057"/>
                </a:lnTo>
                <a:lnTo>
                  <a:pt x="3814572" y="202057"/>
                </a:lnTo>
                <a:lnTo>
                  <a:pt x="3878072" y="278257"/>
                </a:lnTo>
                <a:lnTo>
                  <a:pt x="3930980" y="214757"/>
                </a:lnTo>
                <a:lnTo>
                  <a:pt x="3941572" y="202057"/>
                </a:lnTo>
                <a:close/>
              </a:path>
            </a:pathLst>
          </a:custGeom>
          <a:solidFill>
            <a:srgbClr val="6E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170676" y="2830322"/>
            <a:ext cx="1765935" cy="521334"/>
          </a:xfrm>
          <a:prstGeom prst="rect">
            <a:avLst/>
          </a:prstGeom>
          <a:solidFill>
            <a:srgbClr val="002855"/>
          </a:solidFill>
        </p:spPr>
        <p:txBody>
          <a:bodyPr wrap="square" lIns="0" tIns="139700" rIns="0" bIns="0" rtlCol="0" vert="horz">
            <a:spAutoFit/>
          </a:bodyPr>
          <a:lstStyle/>
          <a:p>
            <a:pPr marL="514984">
              <a:lnSpc>
                <a:spcPct val="100000"/>
              </a:lnSpc>
              <a:spcBef>
                <a:spcPts val="1100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Designs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371089" y="3405632"/>
            <a:ext cx="1739900" cy="2175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2880" marR="107950" indent="-137160">
              <a:lnSpc>
                <a:spcPct val="100000"/>
              </a:lnSpc>
              <a:spcBef>
                <a:spcPts val="105"/>
              </a:spcBef>
              <a:buChar char="•"/>
              <a:tabLst>
                <a:tab pos="182880" algn="l"/>
              </a:tabLst>
            </a:pPr>
            <a:r>
              <a:rPr dirty="0" sz="1400" spc="-10">
                <a:latin typeface="Arial"/>
                <a:cs typeface="Arial"/>
              </a:rPr>
              <a:t>Training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data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— </a:t>
            </a:r>
            <a:r>
              <a:rPr dirty="0" sz="1400">
                <a:latin typeface="Arial"/>
                <a:cs typeface="Arial"/>
              </a:rPr>
              <a:t>e.g.,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events,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POS, </a:t>
            </a:r>
            <a:r>
              <a:rPr dirty="0" sz="1400" spc="-10">
                <a:latin typeface="Arial"/>
                <a:cs typeface="Arial"/>
              </a:rPr>
              <a:t>behavior</a:t>
            </a:r>
            <a:endParaRPr sz="1400">
              <a:latin typeface="Arial"/>
              <a:cs typeface="Arial"/>
            </a:endParaRPr>
          </a:p>
          <a:p>
            <a:pPr marL="182880" marR="127635" indent="-137160">
              <a:lnSpc>
                <a:spcPct val="100000"/>
              </a:lnSpc>
              <a:spcBef>
                <a:spcPts val="600"/>
              </a:spcBef>
              <a:buChar char="•"/>
              <a:tabLst>
                <a:tab pos="182880" algn="l"/>
              </a:tabLst>
            </a:pPr>
            <a:r>
              <a:rPr dirty="0" sz="1400" spc="-40">
                <a:latin typeface="Arial"/>
                <a:cs typeface="Arial"/>
              </a:rPr>
              <a:t>Test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synthetic </a:t>
            </a:r>
            <a:r>
              <a:rPr dirty="0" sz="1400" spc="-20"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marL="182245" indent="-136525">
              <a:lnSpc>
                <a:spcPct val="100000"/>
              </a:lnSpc>
              <a:spcBef>
                <a:spcPts val="600"/>
              </a:spcBef>
              <a:buChar char="•"/>
              <a:tabLst>
                <a:tab pos="182245" algn="l"/>
              </a:tabLst>
            </a:pPr>
            <a:r>
              <a:rPr dirty="0" sz="1400" spc="-20">
                <a:latin typeface="Arial"/>
                <a:cs typeface="Arial"/>
              </a:rPr>
              <a:t>Code</a:t>
            </a:r>
            <a:endParaRPr sz="1400">
              <a:latin typeface="Arial"/>
              <a:cs typeface="Arial"/>
            </a:endParaRPr>
          </a:p>
          <a:p>
            <a:pPr marL="182880" marR="315595" indent="-137160">
              <a:lnSpc>
                <a:spcPct val="100000"/>
              </a:lnSpc>
              <a:spcBef>
                <a:spcPts val="600"/>
              </a:spcBef>
              <a:buChar char="•"/>
              <a:tabLst>
                <a:tab pos="182880" algn="l"/>
              </a:tabLst>
            </a:pPr>
            <a:r>
              <a:rPr dirty="0" sz="1400">
                <a:latin typeface="Arial"/>
                <a:cs typeface="Arial"/>
              </a:rPr>
              <a:t>Context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data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— </a:t>
            </a:r>
            <a:r>
              <a:rPr dirty="0" sz="1400">
                <a:latin typeface="Arial"/>
                <a:cs typeface="Arial"/>
              </a:rPr>
              <a:t>e.g.,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market conditions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288282" y="3405632"/>
            <a:ext cx="1729105" cy="18249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7165" marR="690880" indent="-137160">
              <a:lnSpc>
                <a:spcPct val="100000"/>
              </a:lnSpc>
              <a:spcBef>
                <a:spcPts val="105"/>
              </a:spcBef>
              <a:buChar char="•"/>
              <a:tabLst>
                <a:tab pos="177165" algn="l"/>
              </a:tabLst>
            </a:pPr>
            <a:r>
              <a:rPr dirty="0" sz="1400" spc="-10">
                <a:latin typeface="Arial"/>
                <a:cs typeface="Arial"/>
              </a:rPr>
              <a:t>Questions/ answers</a:t>
            </a:r>
            <a:endParaRPr sz="1400">
              <a:latin typeface="Arial"/>
              <a:cs typeface="Arial"/>
            </a:endParaRPr>
          </a:p>
          <a:p>
            <a:pPr marL="177165" marR="593090" indent="-137160">
              <a:lnSpc>
                <a:spcPct val="100000"/>
              </a:lnSpc>
              <a:spcBef>
                <a:spcPts val="595"/>
              </a:spcBef>
              <a:buChar char="•"/>
              <a:tabLst>
                <a:tab pos="177165" algn="l"/>
              </a:tabLst>
            </a:pPr>
            <a:r>
              <a:rPr dirty="0" sz="1400" spc="-10">
                <a:latin typeface="Arial"/>
                <a:cs typeface="Arial"/>
              </a:rPr>
              <a:t>Summaries/ roundups</a:t>
            </a:r>
            <a:endParaRPr sz="1400">
              <a:latin typeface="Arial"/>
              <a:cs typeface="Arial"/>
            </a:endParaRPr>
          </a:p>
          <a:p>
            <a:pPr marL="176530" indent="-136525">
              <a:lnSpc>
                <a:spcPct val="100000"/>
              </a:lnSpc>
              <a:spcBef>
                <a:spcPts val="605"/>
              </a:spcBef>
              <a:buChar char="•"/>
              <a:tabLst>
                <a:tab pos="176530" algn="l"/>
              </a:tabLst>
            </a:pPr>
            <a:r>
              <a:rPr dirty="0" sz="1400" spc="-10">
                <a:latin typeface="Arial"/>
                <a:cs typeface="Arial"/>
              </a:rPr>
              <a:t>Stories/narratives</a:t>
            </a:r>
            <a:endParaRPr sz="1400">
              <a:latin typeface="Arial"/>
              <a:cs typeface="Arial"/>
            </a:endParaRPr>
          </a:p>
          <a:p>
            <a:pPr marL="176530" indent="-136525">
              <a:lnSpc>
                <a:spcPct val="100000"/>
              </a:lnSpc>
              <a:spcBef>
                <a:spcPts val="600"/>
              </a:spcBef>
              <a:buChar char="•"/>
              <a:tabLst>
                <a:tab pos="176530" algn="l"/>
              </a:tabLst>
            </a:pPr>
            <a:r>
              <a:rPr dirty="0" sz="1400" spc="-10">
                <a:latin typeface="Arial"/>
                <a:cs typeface="Arial"/>
              </a:rPr>
              <a:t>Documents</a:t>
            </a:r>
            <a:endParaRPr sz="1400">
              <a:latin typeface="Arial"/>
              <a:cs typeface="Arial"/>
            </a:endParaRPr>
          </a:p>
          <a:p>
            <a:pPr marL="176530" indent="-136525">
              <a:lnSpc>
                <a:spcPct val="100000"/>
              </a:lnSpc>
              <a:spcBef>
                <a:spcPts val="600"/>
              </a:spcBef>
              <a:buChar char="•"/>
              <a:tabLst>
                <a:tab pos="176530" algn="l"/>
              </a:tabLst>
            </a:pPr>
            <a:r>
              <a:rPr dirty="0" sz="1400">
                <a:latin typeface="Arial"/>
                <a:cs typeface="Arial"/>
              </a:rPr>
              <a:t>Job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listings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63041" y="3405632"/>
            <a:ext cx="1739900" cy="2038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7800" marR="523875" indent="-137160">
              <a:lnSpc>
                <a:spcPct val="100000"/>
              </a:lnSpc>
              <a:spcBef>
                <a:spcPts val="105"/>
              </a:spcBef>
              <a:buChar char="•"/>
              <a:tabLst>
                <a:tab pos="177800" algn="l"/>
              </a:tabLst>
            </a:pPr>
            <a:r>
              <a:rPr dirty="0" sz="1400">
                <a:latin typeface="Arial"/>
                <a:cs typeface="Arial"/>
              </a:rPr>
              <a:t>2D/3D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faces/ bodies</a:t>
            </a:r>
            <a:endParaRPr sz="1400">
              <a:latin typeface="Arial"/>
              <a:cs typeface="Arial"/>
            </a:endParaRPr>
          </a:p>
          <a:p>
            <a:pPr marL="177800" marR="565150" indent="-137160">
              <a:lnSpc>
                <a:spcPct val="100000"/>
              </a:lnSpc>
              <a:spcBef>
                <a:spcPts val="595"/>
              </a:spcBef>
              <a:buChar char="•"/>
              <a:tabLst>
                <a:tab pos="177800" algn="l"/>
              </a:tabLst>
            </a:pPr>
            <a:r>
              <a:rPr dirty="0" sz="1400" spc="-10">
                <a:latin typeface="Arial"/>
                <a:cs typeface="Arial"/>
              </a:rPr>
              <a:t>Drawings/ photographs</a:t>
            </a:r>
            <a:endParaRPr sz="1400">
              <a:latin typeface="Arial"/>
              <a:cs typeface="Arial"/>
            </a:endParaRPr>
          </a:p>
          <a:p>
            <a:pPr marL="177165" indent="-136525">
              <a:lnSpc>
                <a:spcPct val="100000"/>
              </a:lnSpc>
              <a:spcBef>
                <a:spcPts val="605"/>
              </a:spcBef>
              <a:buChar char="•"/>
              <a:tabLst>
                <a:tab pos="177165" algn="l"/>
              </a:tabLst>
            </a:pPr>
            <a:r>
              <a:rPr dirty="0" sz="1400" spc="-25">
                <a:latin typeface="Arial"/>
                <a:cs typeface="Arial"/>
              </a:rPr>
              <a:t>Art</a:t>
            </a:r>
            <a:endParaRPr sz="1400">
              <a:latin typeface="Arial"/>
              <a:cs typeface="Arial"/>
            </a:endParaRPr>
          </a:p>
          <a:p>
            <a:pPr marL="177800" marR="611505" indent="-137160">
              <a:lnSpc>
                <a:spcPct val="100000"/>
              </a:lnSpc>
              <a:spcBef>
                <a:spcPts val="600"/>
              </a:spcBef>
              <a:buChar char="•"/>
              <a:tabLst>
                <a:tab pos="177800" algn="l"/>
              </a:tabLst>
            </a:pPr>
            <a:r>
              <a:rPr dirty="0" sz="1400" spc="-10">
                <a:latin typeface="Arial"/>
                <a:cs typeface="Arial"/>
              </a:rPr>
              <a:t>Voice/visual characters</a:t>
            </a:r>
            <a:endParaRPr sz="1400">
              <a:latin typeface="Arial"/>
              <a:cs typeface="Arial"/>
            </a:endParaRPr>
          </a:p>
          <a:p>
            <a:pPr marL="177165" indent="-136525">
              <a:lnSpc>
                <a:spcPct val="100000"/>
              </a:lnSpc>
              <a:spcBef>
                <a:spcPts val="600"/>
              </a:spcBef>
              <a:buChar char="•"/>
              <a:tabLst>
                <a:tab pos="177165" algn="l"/>
              </a:tabLst>
            </a:pPr>
            <a:r>
              <a:rPr dirty="0" sz="1400" spc="-10">
                <a:latin typeface="Arial"/>
                <a:cs typeface="Arial"/>
              </a:rPr>
              <a:t>Music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687061" y="2565145"/>
            <a:ext cx="2430780" cy="278765"/>
          </a:xfrm>
          <a:custGeom>
            <a:avLst/>
            <a:gdLst/>
            <a:ahLst/>
            <a:cxnLst/>
            <a:rect l="l" t="t" r="r" b="b"/>
            <a:pathLst>
              <a:path w="2430779" h="278764">
                <a:moveTo>
                  <a:pt x="2354326" y="202311"/>
                </a:moveTo>
                <a:lnTo>
                  <a:pt x="2303526" y="202311"/>
                </a:lnTo>
                <a:lnTo>
                  <a:pt x="2367026" y="278511"/>
                </a:lnTo>
                <a:lnTo>
                  <a:pt x="2419942" y="215011"/>
                </a:lnTo>
                <a:lnTo>
                  <a:pt x="2354326" y="215011"/>
                </a:lnTo>
                <a:lnTo>
                  <a:pt x="2354326" y="202311"/>
                </a:lnTo>
                <a:close/>
              </a:path>
              <a:path w="2430779" h="278764">
                <a:moveTo>
                  <a:pt x="2354326" y="12700"/>
                </a:moveTo>
                <a:lnTo>
                  <a:pt x="2354326" y="215011"/>
                </a:lnTo>
                <a:lnTo>
                  <a:pt x="2379726" y="215011"/>
                </a:lnTo>
                <a:lnTo>
                  <a:pt x="2379726" y="25400"/>
                </a:lnTo>
                <a:lnTo>
                  <a:pt x="2367026" y="25400"/>
                </a:lnTo>
                <a:lnTo>
                  <a:pt x="2354326" y="12700"/>
                </a:lnTo>
                <a:close/>
              </a:path>
              <a:path w="2430779" h="278764">
                <a:moveTo>
                  <a:pt x="2430526" y="202311"/>
                </a:moveTo>
                <a:lnTo>
                  <a:pt x="2379726" y="202311"/>
                </a:lnTo>
                <a:lnTo>
                  <a:pt x="2379726" y="215011"/>
                </a:lnTo>
                <a:lnTo>
                  <a:pt x="2419942" y="215011"/>
                </a:lnTo>
                <a:lnTo>
                  <a:pt x="2430526" y="202311"/>
                </a:lnTo>
                <a:close/>
              </a:path>
              <a:path w="2430779" h="278764">
                <a:moveTo>
                  <a:pt x="2379726" y="0"/>
                </a:moveTo>
                <a:lnTo>
                  <a:pt x="0" y="0"/>
                </a:lnTo>
                <a:lnTo>
                  <a:pt x="0" y="25400"/>
                </a:lnTo>
                <a:lnTo>
                  <a:pt x="2354326" y="25400"/>
                </a:lnTo>
                <a:lnTo>
                  <a:pt x="2354326" y="12700"/>
                </a:lnTo>
                <a:lnTo>
                  <a:pt x="2379726" y="12700"/>
                </a:lnTo>
                <a:lnTo>
                  <a:pt x="2379726" y="0"/>
                </a:lnTo>
                <a:close/>
              </a:path>
              <a:path w="2430779" h="278764">
                <a:moveTo>
                  <a:pt x="2379726" y="12700"/>
                </a:moveTo>
                <a:lnTo>
                  <a:pt x="2354326" y="12700"/>
                </a:lnTo>
                <a:lnTo>
                  <a:pt x="2367026" y="25400"/>
                </a:lnTo>
                <a:lnTo>
                  <a:pt x="2379726" y="25400"/>
                </a:lnTo>
                <a:lnTo>
                  <a:pt x="2379726" y="12700"/>
                </a:lnTo>
                <a:close/>
              </a:path>
            </a:pathLst>
          </a:custGeom>
          <a:solidFill>
            <a:srgbClr val="6E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8784335" y="2010155"/>
            <a:ext cx="1769745" cy="509270"/>
          </a:xfrm>
          <a:prstGeom prst="rect">
            <a:avLst/>
          </a:prstGeom>
          <a:solidFill>
            <a:srgbClr val="002855"/>
          </a:solidFill>
        </p:spPr>
        <p:txBody>
          <a:bodyPr wrap="square" lIns="0" tIns="5715" rIns="0" bIns="0" rtlCol="0" vert="horz">
            <a:spAutoFit/>
          </a:bodyPr>
          <a:lstStyle/>
          <a:p>
            <a:pPr marL="496570" marR="481965" indent="-6350">
              <a:lnSpc>
                <a:spcPct val="100000"/>
              </a:lnSpc>
              <a:spcBef>
                <a:spcPts val="45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Learning Methods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556758" y="1436369"/>
            <a:ext cx="4175760" cy="574040"/>
          </a:xfrm>
          <a:custGeom>
            <a:avLst/>
            <a:gdLst/>
            <a:ahLst/>
            <a:cxnLst/>
            <a:rect l="l" t="t" r="r" b="b"/>
            <a:pathLst>
              <a:path w="4175759" h="574039">
                <a:moveTo>
                  <a:pt x="4099560" y="497713"/>
                </a:moveTo>
                <a:lnTo>
                  <a:pt x="4048760" y="497713"/>
                </a:lnTo>
                <a:lnTo>
                  <a:pt x="4112260" y="573913"/>
                </a:lnTo>
                <a:lnTo>
                  <a:pt x="4165176" y="510413"/>
                </a:lnTo>
                <a:lnTo>
                  <a:pt x="4099560" y="510413"/>
                </a:lnTo>
                <a:lnTo>
                  <a:pt x="4099560" y="497713"/>
                </a:lnTo>
                <a:close/>
              </a:path>
              <a:path w="4175759" h="574039">
                <a:moveTo>
                  <a:pt x="4099560" y="286892"/>
                </a:moveTo>
                <a:lnTo>
                  <a:pt x="4099560" y="510413"/>
                </a:lnTo>
                <a:lnTo>
                  <a:pt x="4124960" y="510413"/>
                </a:lnTo>
                <a:lnTo>
                  <a:pt x="4124960" y="299592"/>
                </a:lnTo>
                <a:lnTo>
                  <a:pt x="4112260" y="299592"/>
                </a:lnTo>
                <a:lnTo>
                  <a:pt x="4099560" y="286892"/>
                </a:lnTo>
                <a:close/>
              </a:path>
              <a:path w="4175759" h="574039">
                <a:moveTo>
                  <a:pt x="4175760" y="497713"/>
                </a:moveTo>
                <a:lnTo>
                  <a:pt x="4124960" y="497713"/>
                </a:lnTo>
                <a:lnTo>
                  <a:pt x="4124960" y="510413"/>
                </a:lnTo>
                <a:lnTo>
                  <a:pt x="4165176" y="510413"/>
                </a:lnTo>
                <a:lnTo>
                  <a:pt x="4175760" y="497713"/>
                </a:lnTo>
                <a:close/>
              </a:path>
              <a:path w="4175759" h="574039">
                <a:moveTo>
                  <a:pt x="25400" y="0"/>
                </a:moveTo>
                <a:lnTo>
                  <a:pt x="0" y="0"/>
                </a:lnTo>
                <a:lnTo>
                  <a:pt x="0" y="299592"/>
                </a:lnTo>
                <a:lnTo>
                  <a:pt x="4099560" y="299592"/>
                </a:lnTo>
                <a:lnTo>
                  <a:pt x="4099560" y="286892"/>
                </a:lnTo>
                <a:lnTo>
                  <a:pt x="25400" y="286892"/>
                </a:lnTo>
                <a:lnTo>
                  <a:pt x="12700" y="274192"/>
                </a:lnTo>
                <a:lnTo>
                  <a:pt x="25400" y="274192"/>
                </a:lnTo>
                <a:lnTo>
                  <a:pt x="25400" y="0"/>
                </a:lnTo>
                <a:close/>
              </a:path>
              <a:path w="4175759" h="574039">
                <a:moveTo>
                  <a:pt x="4124960" y="274192"/>
                </a:moveTo>
                <a:lnTo>
                  <a:pt x="25400" y="274192"/>
                </a:lnTo>
                <a:lnTo>
                  <a:pt x="25400" y="286892"/>
                </a:lnTo>
                <a:lnTo>
                  <a:pt x="4099560" y="286892"/>
                </a:lnTo>
                <a:lnTo>
                  <a:pt x="4112260" y="299592"/>
                </a:lnTo>
                <a:lnTo>
                  <a:pt x="4124960" y="299592"/>
                </a:lnTo>
                <a:lnTo>
                  <a:pt x="4124960" y="274192"/>
                </a:lnTo>
                <a:close/>
              </a:path>
              <a:path w="4175759" h="574039">
                <a:moveTo>
                  <a:pt x="25400" y="274192"/>
                </a:moveTo>
                <a:lnTo>
                  <a:pt x="12700" y="274192"/>
                </a:lnTo>
                <a:lnTo>
                  <a:pt x="25400" y="286892"/>
                </a:lnTo>
                <a:lnTo>
                  <a:pt x="25400" y="274192"/>
                </a:lnTo>
                <a:close/>
              </a:path>
            </a:pathLst>
          </a:custGeom>
          <a:solidFill>
            <a:srgbClr val="6E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9998709" y="3330042"/>
            <a:ext cx="1739900" cy="132143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78435" indent="-136525">
              <a:lnSpc>
                <a:spcPct val="100000"/>
              </a:lnSpc>
              <a:spcBef>
                <a:spcPts val="700"/>
              </a:spcBef>
              <a:buChar char="•"/>
              <a:tabLst>
                <a:tab pos="178435" algn="l"/>
              </a:tabLst>
            </a:pPr>
            <a:r>
              <a:rPr dirty="0" sz="1400" spc="-10">
                <a:latin typeface="Arial"/>
                <a:cs typeface="Arial"/>
              </a:rPr>
              <a:t>Rules/inferences</a:t>
            </a:r>
            <a:endParaRPr sz="1400">
              <a:latin typeface="Arial"/>
              <a:cs typeface="Arial"/>
            </a:endParaRPr>
          </a:p>
          <a:p>
            <a:pPr marL="179070" marR="297815" indent="-137160">
              <a:lnSpc>
                <a:spcPct val="100000"/>
              </a:lnSpc>
              <a:spcBef>
                <a:spcPts val="600"/>
              </a:spcBef>
              <a:buChar char="•"/>
              <a:tabLst>
                <a:tab pos="179070" algn="l"/>
              </a:tabLst>
            </a:pPr>
            <a:r>
              <a:rPr dirty="0" sz="1400" spc="-10">
                <a:latin typeface="Arial"/>
                <a:cs typeface="Arial"/>
              </a:rPr>
              <a:t>Reinforcement </a:t>
            </a:r>
            <a:r>
              <a:rPr dirty="0" sz="1400">
                <a:latin typeface="Arial"/>
                <a:cs typeface="Arial"/>
              </a:rPr>
              <a:t>learning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  <a:p>
            <a:pPr marL="179070" marR="31115" indent="-137160">
              <a:lnSpc>
                <a:spcPct val="100000"/>
              </a:lnSpc>
              <a:spcBef>
                <a:spcPts val="600"/>
              </a:spcBef>
              <a:buChar char="•"/>
              <a:tabLst>
                <a:tab pos="179070" algn="l"/>
              </a:tabLst>
            </a:pPr>
            <a:r>
              <a:rPr dirty="0" sz="1400">
                <a:latin typeface="Arial"/>
                <a:cs typeface="Arial"/>
              </a:rPr>
              <a:t>Alternative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learning mechanisms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077200" y="2830322"/>
            <a:ext cx="1765935" cy="521334"/>
          </a:xfrm>
          <a:prstGeom prst="rect">
            <a:avLst/>
          </a:prstGeom>
          <a:solidFill>
            <a:srgbClr val="002855"/>
          </a:solidFill>
        </p:spPr>
        <p:txBody>
          <a:bodyPr wrap="square" lIns="0" tIns="139700" rIns="0" bIns="0" rtlCol="0" vert="horz">
            <a:spAutoFit/>
          </a:bodyPr>
          <a:lstStyle/>
          <a:p>
            <a:pPr marL="425450">
              <a:lnSpc>
                <a:spcPct val="100000"/>
              </a:lnSpc>
              <a:spcBef>
                <a:spcPts val="1100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Strategies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983723" y="2830322"/>
            <a:ext cx="1767205" cy="521334"/>
          </a:xfrm>
          <a:prstGeom prst="rect">
            <a:avLst/>
          </a:prstGeom>
          <a:solidFill>
            <a:srgbClr val="002855"/>
          </a:solidFill>
        </p:spPr>
        <p:txBody>
          <a:bodyPr wrap="square" lIns="0" tIns="139700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1100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Tactics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090661" y="3405632"/>
            <a:ext cx="1739900" cy="956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1610" marR="283845" indent="-137160">
              <a:lnSpc>
                <a:spcPct val="100000"/>
              </a:lnSpc>
              <a:spcBef>
                <a:spcPts val="105"/>
              </a:spcBef>
              <a:buChar char="•"/>
              <a:tabLst>
                <a:tab pos="181610" algn="l"/>
              </a:tabLst>
            </a:pPr>
            <a:r>
              <a:rPr dirty="0" sz="1400" spc="-10">
                <a:latin typeface="Arial"/>
                <a:cs typeface="Arial"/>
              </a:rPr>
              <a:t>Unprogrammed </a:t>
            </a:r>
            <a:r>
              <a:rPr dirty="0" sz="1400">
                <a:latin typeface="Arial"/>
                <a:cs typeface="Arial"/>
              </a:rPr>
              <a:t>game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strategies</a:t>
            </a:r>
            <a:endParaRPr sz="1400">
              <a:latin typeface="Arial"/>
              <a:cs typeface="Arial"/>
            </a:endParaRPr>
          </a:p>
          <a:p>
            <a:pPr marL="181610" marR="68580" indent="-137160">
              <a:lnSpc>
                <a:spcPct val="100000"/>
              </a:lnSpc>
              <a:spcBef>
                <a:spcPts val="595"/>
              </a:spcBef>
              <a:buChar char="•"/>
              <a:tabLst>
                <a:tab pos="181610" algn="l"/>
              </a:tabLst>
            </a:pPr>
            <a:r>
              <a:rPr dirty="0" sz="1400" spc="-10">
                <a:latin typeface="Arial"/>
                <a:cs typeface="Arial"/>
              </a:rPr>
              <a:t>Unanticipated </a:t>
            </a:r>
            <a:r>
              <a:rPr dirty="0" sz="1400">
                <a:latin typeface="Arial"/>
                <a:cs typeface="Arial"/>
              </a:rPr>
              <a:t>strategic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scenarios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065261" y="2519933"/>
            <a:ext cx="3698240" cy="3498215"/>
            <a:chOff x="8065261" y="2519933"/>
            <a:chExt cx="3698240" cy="3498215"/>
          </a:xfrm>
        </p:grpSpPr>
        <p:sp>
          <p:nvSpPr>
            <p:cNvPr id="23" name="object 23" descr=""/>
            <p:cNvSpPr/>
            <p:nvPr/>
          </p:nvSpPr>
          <p:spPr>
            <a:xfrm>
              <a:off x="8896858" y="2519933"/>
              <a:ext cx="2033270" cy="323850"/>
            </a:xfrm>
            <a:custGeom>
              <a:avLst/>
              <a:gdLst/>
              <a:ahLst/>
              <a:cxnLst/>
              <a:rect l="l" t="t" r="r" b="b"/>
              <a:pathLst>
                <a:path w="2033270" h="323850">
                  <a:moveTo>
                    <a:pt x="2032762" y="247650"/>
                  </a:moveTo>
                  <a:lnTo>
                    <a:pt x="1981962" y="247650"/>
                  </a:lnTo>
                  <a:lnTo>
                    <a:pt x="1981962" y="174625"/>
                  </a:lnTo>
                  <a:lnTo>
                    <a:pt x="1981962" y="149225"/>
                  </a:lnTo>
                  <a:lnTo>
                    <a:pt x="785876" y="149225"/>
                  </a:lnTo>
                  <a:lnTo>
                    <a:pt x="785876" y="0"/>
                  </a:lnTo>
                  <a:lnTo>
                    <a:pt x="784860" y="0"/>
                  </a:lnTo>
                  <a:lnTo>
                    <a:pt x="760476" y="0"/>
                  </a:lnTo>
                  <a:lnTo>
                    <a:pt x="759460" y="0"/>
                  </a:lnTo>
                  <a:lnTo>
                    <a:pt x="759460" y="149225"/>
                  </a:lnTo>
                  <a:lnTo>
                    <a:pt x="50800" y="149225"/>
                  </a:lnTo>
                  <a:lnTo>
                    <a:pt x="50800" y="247650"/>
                  </a:lnTo>
                  <a:lnTo>
                    <a:pt x="0" y="247650"/>
                  </a:lnTo>
                  <a:lnTo>
                    <a:pt x="63500" y="323850"/>
                  </a:lnTo>
                  <a:lnTo>
                    <a:pt x="116408" y="260350"/>
                  </a:lnTo>
                  <a:lnTo>
                    <a:pt x="127000" y="247650"/>
                  </a:lnTo>
                  <a:lnTo>
                    <a:pt x="76200" y="247650"/>
                  </a:lnTo>
                  <a:lnTo>
                    <a:pt x="76200" y="174625"/>
                  </a:lnTo>
                  <a:lnTo>
                    <a:pt x="759460" y="174625"/>
                  </a:lnTo>
                  <a:lnTo>
                    <a:pt x="785876" y="174625"/>
                  </a:lnTo>
                  <a:lnTo>
                    <a:pt x="1956562" y="174625"/>
                  </a:lnTo>
                  <a:lnTo>
                    <a:pt x="1956562" y="247650"/>
                  </a:lnTo>
                  <a:lnTo>
                    <a:pt x="1905762" y="247650"/>
                  </a:lnTo>
                  <a:lnTo>
                    <a:pt x="1969262" y="323850"/>
                  </a:lnTo>
                  <a:lnTo>
                    <a:pt x="2022170" y="260350"/>
                  </a:lnTo>
                  <a:lnTo>
                    <a:pt x="2032762" y="247650"/>
                  </a:lnTo>
                  <a:close/>
                </a:path>
              </a:pathLst>
            </a:custGeom>
            <a:solidFill>
              <a:srgbClr val="6E78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077961" y="2843021"/>
              <a:ext cx="3672840" cy="3162300"/>
            </a:xfrm>
            <a:custGeom>
              <a:avLst/>
              <a:gdLst/>
              <a:ahLst/>
              <a:cxnLst/>
              <a:rect l="l" t="t" r="r" b="b"/>
              <a:pathLst>
                <a:path w="3672840" h="3162300">
                  <a:moveTo>
                    <a:pt x="0" y="3162300"/>
                  </a:moveTo>
                  <a:lnTo>
                    <a:pt x="1764792" y="3162300"/>
                  </a:lnTo>
                  <a:lnTo>
                    <a:pt x="1764792" y="0"/>
                  </a:lnTo>
                  <a:lnTo>
                    <a:pt x="0" y="0"/>
                  </a:lnTo>
                  <a:lnTo>
                    <a:pt x="0" y="3162300"/>
                  </a:lnTo>
                  <a:close/>
                </a:path>
                <a:path w="3672840" h="3162300">
                  <a:moveTo>
                    <a:pt x="1908048" y="3162300"/>
                  </a:moveTo>
                  <a:lnTo>
                    <a:pt x="3672840" y="3162300"/>
                  </a:lnTo>
                  <a:lnTo>
                    <a:pt x="3672840" y="0"/>
                  </a:lnTo>
                  <a:lnTo>
                    <a:pt x="1908048" y="0"/>
                  </a:lnTo>
                  <a:lnTo>
                    <a:pt x="1908048" y="3162300"/>
                  </a:lnTo>
                  <a:close/>
                </a:path>
              </a:pathLst>
            </a:custGeom>
            <a:ln w="25400">
              <a:solidFill>
                <a:srgbClr val="0028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184138" y="3330042"/>
            <a:ext cx="1739900" cy="255714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80975" indent="-136525">
              <a:lnSpc>
                <a:spcPct val="100000"/>
              </a:lnSpc>
              <a:spcBef>
                <a:spcPts val="700"/>
              </a:spcBef>
              <a:buChar char="•"/>
              <a:tabLst>
                <a:tab pos="180975" algn="l"/>
              </a:tabLst>
            </a:pPr>
            <a:r>
              <a:rPr dirty="0" sz="1400">
                <a:latin typeface="Arial"/>
                <a:cs typeface="Arial"/>
              </a:rPr>
              <a:t>Product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designs</a:t>
            </a:r>
            <a:endParaRPr sz="1400">
              <a:latin typeface="Arial"/>
              <a:cs typeface="Arial"/>
            </a:endParaRPr>
          </a:p>
          <a:p>
            <a:pPr marL="180975" indent="-136525">
              <a:lnSpc>
                <a:spcPct val="100000"/>
              </a:lnSpc>
              <a:spcBef>
                <a:spcPts val="600"/>
              </a:spcBef>
              <a:buChar char="•"/>
              <a:tabLst>
                <a:tab pos="180975" algn="l"/>
              </a:tabLst>
            </a:pPr>
            <a:r>
              <a:rPr dirty="0" sz="1400" spc="-10">
                <a:latin typeface="Arial"/>
                <a:cs typeface="Arial"/>
              </a:rPr>
              <a:t>Materials</a:t>
            </a:r>
            <a:endParaRPr sz="1400">
              <a:latin typeface="Arial"/>
              <a:cs typeface="Arial"/>
            </a:endParaRPr>
          </a:p>
          <a:p>
            <a:pPr marL="180340" indent="-135890">
              <a:lnSpc>
                <a:spcPct val="100000"/>
              </a:lnSpc>
              <a:spcBef>
                <a:spcPts val="600"/>
              </a:spcBef>
              <a:buChar char="•"/>
              <a:tabLst>
                <a:tab pos="180340" algn="l"/>
              </a:tabLst>
            </a:pPr>
            <a:r>
              <a:rPr dirty="0" sz="1400">
                <a:latin typeface="Arial"/>
                <a:cs typeface="Arial"/>
              </a:rPr>
              <a:t>3D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models</a:t>
            </a:r>
            <a:endParaRPr sz="1400">
              <a:latin typeface="Arial"/>
              <a:cs typeface="Arial"/>
            </a:endParaRPr>
          </a:p>
          <a:p>
            <a:pPr marL="180975" indent="-136525">
              <a:lnSpc>
                <a:spcPct val="100000"/>
              </a:lnSpc>
              <a:spcBef>
                <a:spcPts val="600"/>
              </a:spcBef>
              <a:buChar char="•"/>
              <a:tabLst>
                <a:tab pos="180975" algn="l"/>
              </a:tabLst>
            </a:pPr>
            <a:r>
              <a:rPr dirty="0" sz="1400">
                <a:latin typeface="Arial"/>
                <a:cs typeface="Arial"/>
              </a:rPr>
              <a:t>Game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worlds</a:t>
            </a:r>
            <a:endParaRPr sz="1400">
              <a:latin typeface="Arial"/>
              <a:cs typeface="Arial"/>
            </a:endParaRPr>
          </a:p>
          <a:p>
            <a:pPr marL="180975" indent="-136525">
              <a:lnSpc>
                <a:spcPct val="100000"/>
              </a:lnSpc>
              <a:spcBef>
                <a:spcPts val="600"/>
              </a:spcBef>
              <a:buChar char="•"/>
              <a:tabLst>
                <a:tab pos="180975" algn="l"/>
              </a:tabLst>
            </a:pPr>
            <a:r>
              <a:rPr dirty="0" sz="1400">
                <a:latin typeface="Arial"/>
                <a:cs typeface="Arial"/>
              </a:rPr>
              <a:t>Process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flows</a:t>
            </a:r>
            <a:endParaRPr sz="1400">
              <a:latin typeface="Arial"/>
              <a:cs typeface="Arial"/>
            </a:endParaRPr>
          </a:p>
          <a:p>
            <a:pPr marL="181610" marR="479425" indent="-137160">
              <a:lnSpc>
                <a:spcPct val="100000"/>
              </a:lnSpc>
              <a:spcBef>
                <a:spcPts val="600"/>
              </a:spcBef>
              <a:buChar char="•"/>
              <a:tabLst>
                <a:tab pos="181610" algn="l"/>
              </a:tabLst>
            </a:pPr>
            <a:r>
              <a:rPr dirty="0" sz="1400" spc="-10">
                <a:latin typeface="Arial"/>
                <a:cs typeface="Arial"/>
              </a:rPr>
              <a:t>Schematics/ specifications</a:t>
            </a:r>
            <a:endParaRPr sz="1400">
              <a:latin typeface="Arial"/>
              <a:cs typeface="Arial"/>
            </a:endParaRPr>
          </a:p>
          <a:p>
            <a:pPr marL="181610" marR="26606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—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e.g.,</a:t>
            </a:r>
            <a:r>
              <a:rPr dirty="0" sz="1200" spc="-10">
                <a:latin typeface="Arial"/>
                <a:cs typeface="Arial"/>
              </a:rPr>
              <a:t> drugs, </a:t>
            </a:r>
            <a:r>
              <a:rPr dirty="0" sz="1200">
                <a:latin typeface="Arial"/>
                <a:cs typeface="Arial"/>
              </a:rPr>
              <a:t>infrastructure</a:t>
            </a:r>
            <a:r>
              <a:rPr dirty="0" sz="1200" spc="-5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buildings,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film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edits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437641" y="2413254"/>
            <a:ext cx="7511415" cy="3604895"/>
            <a:chOff x="437641" y="2413254"/>
            <a:chExt cx="7511415" cy="3604895"/>
          </a:xfrm>
        </p:grpSpPr>
        <p:sp>
          <p:nvSpPr>
            <p:cNvPr id="27" name="object 27" descr=""/>
            <p:cNvSpPr/>
            <p:nvPr/>
          </p:nvSpPr>
          <p:spPr>
            <a:xfrm>
              <a:off x="450341" y="2843022"/>
              <a:ext cx="7486015" cy="3162300"/>
            </a:xfrm>
            <a:custGeom>
              <a:avLst/>
              <a:gdLst/>
              <a:ahLst/>
              <a:cxnLst/>
              <a:rect l="l" t="t" r="r" b="b"/>
              <a:pathLst>
                <a:path w="7486015" h="3162300">
                  <a:moveTo>
                    <a:pt x="0" y="3162300"/>
                  </a:moveTo>
                  <a:lnTo>
                    <a:pt x="1764792" y="3162300"/>
                  </a:lnTo>
                  <a:lnTo>
                    <a:pt x="1764792" y="0"/>
                  </a:lnTo>
                  <a:lnTo>
                    <a:pt x="0" y="0"/>
                  </a:lnTo>
                  <a:lnTo>
                    <a:pt x="0" y="3162300"/>
                  </a:lnTo>
                  <a:close/>
                </a:path>
                <a:path w="7486015" h="3162300">
                  <a:moveTo>
                    <a:pt x="1908047" y="3162300"/>
                  </a:moveTo>
                  <a:lnTo>
                    <a:pt x="3672840" y="3162300"/>
                  </a:lnTo>
                  <a:lnTo>
                    <a:pt x="3672840" y="0"/>
                  </a:lnTo>
                  <a:lnTo>
                    <a:pt x="1908047" y="0"/>
                  </a:lnTo>
                  <a:lnTo>
                    <a:pt x="1908047" y="3162300"/>
                  </a:lnTo>
                  <a:close/>
                </a:path>
                <a:path w="7486015" h="3162300">
                  <a:moveTo>
                    <a:pt x="3825240" y="3162300"/>
                  </a:moveTo>
                  <a:lnTo>
                    <a:pt x="5579364" y="3162300"/>
                  </a:lnTo>
                  <a:lnTo>
                    <a:pt x="5579364" y="0"/>
                  </a:lnTo>
                  <a:lnTo>
                    <a:pt x="3825240" y="0"/>
                  </a:lnTo>
                  <a:lnTo>
                    <a:pt x="3825240" y="3162300"/>
                  </a:lnTo>
                  <a:close/>
                </a:path>
                <a:path w="7486015" h="3162300">
                  <a:moveTo>
                    <a:pt x="5721096" y="3162300"/>
                  </a:moveTo>
                  <a:lnTo>
                    <a:pt x="7485887" y="3162300"/>
                  </a:lnTo>
                  <a:lnTo>
                    <a:pt x="7485887" y="0"/>
                  </a:lnTo>
                  <a:lnTo>
                    <a:pt x="5721096" y="0"/>
                  </a:lnTo>
                  <a:lnTo>
                    <a:pt x="5721096" y="3162300"/>
                  </a:lnTo>
                  <a:close/>
                </a:path>
              </a:pathLst>
            </a:custGeom>
            <a:ln w="25400">
              <a:solidFill>
                <a:srgbClr val="00285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569457" y="2413254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w="0" h="163830">
                  <a:moveTo>
                    <a:pt x="0" y="0"/>
                  </a:moveTo>
                  <a:lnTo>
                    <a:pt x="0" y="163703"/>
                  </a:lnTo>
                </a:path>
              </a:pathLst>
            </a:custGeom>
            <a:ln w="25400">
              <a:solidFill>
                <a:srgbClr val="6E78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38477" y="2336292"/>
            <a:ext cx="10232390" cy="190500"/>
          </a:xfrm>
          <a:custGeom>
            <a:avLst/>
            <a:gdLst/>
            <a:ahLst/>
            <a:cxnLst/>
            <a:rect l="l" t="t" r="r" b="b"/>
            <a:pathLst>
              <a:path w="10232390" h="190500">
                <a:moveTo>
                  <a:pt x="10117963" y="0"/>
                </a:moveTo>
                <a:lnTo>
                  <a:pt x="10117963" y="190500"/>
                </a:lnTo>
                <a:lnTo>
                  <a:pt x="10209403" y="114300"/>
                </a:lnTo>
                <a:lnTo>
                  <a:pt x="10137013" y="114300"/>
                </a:lnTo>
                <a:lnTo>
                  <a:pt x="10137013" y="76200"/>
                </a:lnTo>
                <a:lnTo>
                  <a:pt x="10209403" y="76200"/>
                </a:lnTo>
                <a:lnTo>
                  <a:pt x="10117963" y="0"/>
                </a:lnTo>
                <a:close/>
              </a:path>
              <a:path w="10232390" h="190500">
                <a:moveTo>
                  <a:pt x="10117963" y="76200"/>
                </a:moveTo>
                <a:lnTo>
                  <a:pt x="0" y="76200"/>
                </a:lnTo>
                <a:lnTo>
                  <a:pt x="0" y="114300"/>
                </a:lnTo>
                <a:lnTo>
                  <a:pt x="10117963" y="114300"/>
                </a:lnTo>
                <a:lnTo>
                  <a:pt x="10117963" y="76200"/>
                </a:lnTo>
                <a:close/>
              </a:path>
              <a:path w="10232390" h="190500">
                <a:moveTo>
                  <a:pt x="10209403" y="76200"/>
                </a:moveTo>
                <a:lnTo>
                  <a:pt x="10137013" y="76200"/>
                </a:lnTo>
                <a:lnTo>
                  <a:pt x="10137013" y="114300"/>
                </a:lnTo>
                <a:lnTo>
                  <a:pt x="10209403" y="114300"/>
                </a:lnTo>
                <a:lnTo>
                  <a:pt x="10232263" y="95250"/>
                </a:lnTo>
                <a:lnTo>
                  <a:pt x="10209403" y="76200"/>
                </a:lnTo>
                <a:close/>
              </a:path>
            </a:pathLst>
          </a:custGeom>
          <a:solidFill>
            <a:srgbClr val="FF53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Possible</a:t>
            </a:r>
            <a:r>
              <a:rPr dirty="0" spc="-10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Scenarios</a:t>
            </a:r>
            <a:r>
              <a:rPr dirty="0" spc="-9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and</a:t>
            </a:r>
            <a:r>
              <a:rPr dirty="0" spc="-7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Trajectories</a:t>
            </a:r>
            <a:r>
              <a:rPr dirty="0" spc="-10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for</a:t>
            </a:r>
            <a:r>
              <a:rPr dirty="0" spc="-7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GenAI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314569" y="2740914"/>
            <a:ext cx="3670300" cy="2022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marR="117475" indent="-227329">
              <a:lnSpc>
                <a:spcPct val="100000"/>
              </a:lnSpc>
              <a:spcBef>
                <a:spcPts val="100"/>
              </a:spcBef>
              <a:buSzPct val="155555"/>
              <a:buChar char="•"/>
              <a:tabLst>
                <a:tab pos="241300" algn="l"/>
              </a:tabLst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8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automate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5309"/>
                </a:solidFill>
                <a:latin typeface="Arial"/>
                <a:cs typeface="Arial"/>
              </a:rPr>
              <a:t>60% </a:t>
            </a:r>
            <a:r>
              <a:rPr dirty="0" sz="1800" spc="-25" b="1">
                <a:solidFill>
                  <a:srgbClr val="FF5309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effort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new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websites and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mobile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apps.</a:t>
            </a:r>
            <a:endParaRPr sz="1800">
              <a:latin typeface="Arial"/>
              <a:cs typeface="Arial"/>
            </a:endParaRPr>
          </a:p>
          <a:p>
            <a:pPr marL="240029" marR="5080" indent="-227329">
              <a:lnSpc>
                <a:spcPct val="100000"/>
              </a:lnSpc>
              <a:spcBef>
                <a:spcPts val="600"/>
              </a:spcBef>
              <a:buSzPct val="155555"/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Over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100</a:t>
            </a:r>
            <a:r>
              <a:rPr dirty="0" sz="1800" spc="-1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million</a:t>
            </a:r>
            <a:r>
              <a:rPr dirty="0" sz="1800" spc="-2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humans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engage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robocolleagues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(synthetic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virtual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colleagues)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contribute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to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work.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2787" y="5952235"/>
            <a:ext cx="6467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Arial"/>
                <a:cs typeface="Arial"/>
              </a:rPr>
              <a:t>Source:</a:t>
            </a: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sng" sz="9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Predicts</a:t>
            </a:r>
            <a:r>
              <a:rPr dirty="0" u="sng" sz="9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9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2022:</a:t>
            </a:r>
            <a:r>
              <a:rPr dirty="0" u="sng" sz="900" spc="-3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9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Generative</a:t>
            </a:r>
            <a:r>
              <a:rPr dirty="0" u="sng" sz="9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9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AI</a:t>
            </a:r>
            <a:r>
              <a:rPr dirty="0" u="sng" sz="9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9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Is Poised</a:t>
            </a:r>
            <a:r>
              <a:rPr dirty="0" u="sng" sz="9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9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to</a:t>
            </a:r>
            <a:r>
              <a:rPr dirty="0" u="sng" sz="900" spc="-1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9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Revolutionize</a:t>
            </a:r>
            <a:r>
              <a:rPr dirty="0" u="sng" sz="9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9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Digital</a:t>
            </a:r>
            <a:r>
              <a:rPr dirty="0" u="sng" sz="900" spc="-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9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Product</a:t>
            </a:r>
            <a:r>
              <a:rPr dirty="0" u="sng" sz="900" spc="-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9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/>
              </a:rPr>
              <a:t>Development</a:t>
            </a:r>
            <a:r>
              <a:rPr dirty="0" u="sng" sz="900" spc="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none" sz="90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dirty="0" u="none" sz="9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900">
                <a:solidFill>
                  <a:srgbClr val="FFFFFF"/>
                </a:solidFill>
                <a:latin typeface="Arial"/>
                <a:cs typeface="Arial"/>
              </a:rPr>
              <a:t>January</a:t>
            </a:r>
            <a:r>
              <a:rPr dirty="0" u="none" sz="9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900">
                <a:solidFill>
                  <a:srgbClr val="FFFFFF"/>
                </a:solidFill>
                <a:latin typeface="Arial"/>
                <a:cs typeface="Arial"/>
              </a:rPr>
              <a:t>2022</a:t>
            </a:r>
            <a:r>
              <a:rPr dirty="0" u="none" sz="9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9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u="none" sz="9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900">
                <a:solidFill>
                  <a:srgbClr val="FFFFFF"/>
                </a:solidFill>
                <a:latin typeface="Arial"/>
                <a:cs typeface="Arial"/>
              </a:rPr>
              <a:t>ID</a:t>
            </a:r>
            <a:r>
              <a:rPr dirty="0" u="none" sz="9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900" spc="-10">
                <a:solidFill>
                  <a:srgbClr val="FFFFFF"/>
                </a:solidFill>
                <a:latin typeface="Arial"/>
                <a:cs typeface="Arial"/>
              </a:rPr>
              <a:t>G00757883 </a:t>
            </a:r>
            <a:r>
              <a:rPr dirty="0" u="none" sz="9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u="none" sz="9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900">
                <a:solidFill>
                  <a:srgbClr val="FFFFFF"/>
                </a:solidFill>
                <a:latin typeface="Arial"/>
                <a:cs typeface="Arial"/>
              </a:rPr>
              <a:t>Brent</a:t>
            </a:r>
            <a:r>
              <a:rPr dirty="0" u="none" sz="9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900">
                <a:solidFill>
                  <a:srgbClr val="FFFFFF"/>
                </a:solidFill>
                <a:latin typeface="Arial"/>
                <a:cs typeface="Arial"/>
              </a:rPr>
              <a:t>Stewart,</a:t>
            </a:r>
            <a:r>
              <a:rPr dirty="0" u="none" sz="9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900">
                <a:solidFill>
                  <a:srgbClr val="FFFFFF"/>
                </a:solidFill>
                <a:latin typeface="Arial"/>
                <a:cs typeface="Arial"/>
              </a:rPr>
              <a:t>Van</a:t>
            </a:r>
            <a:r>
              <a:rPr dirty="0" u="none" sz="9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900">
                <a:solidFill>
                  <a:srgbClr val="FFFFFF"/>
                </a:solidFill>
                <a:latin typeface="Arial"/>
                <a:cs typeface="Arial"/>
              </a:rPr>
              <a:t>Baker,</a:t>
            </a:r>
            <a:r>
              <a:rPr dirty="0" u="none" sz="9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900">
                <a:solidFill>
                  <a:srgbClr val="FFFFFF"/>
                </a:solidFill>
                <a:latin typeface="Arial"/>
                <a:cs typeface="Arial"/>
              </a:rPr>
              <a:t>Joachim</a:t>
            </a:r>
            <a:r>
              <a:rPr dirty="0" u="none" sz="9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900" spc="-10">
                <a:solidFill>
                  <a:srgbClr val="FFFFFF"/>
                </a:solidFill>
                <a:latin typeface="Arial"/>
                <a:cs typeface="Arial"/>
              </a:rPr>
              <a:t>Herschmann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13101" y="2740914"/>
            <a:ext cx="213169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30%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outbound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messages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large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organizations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synthetically generated.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500" y="2740914"/>
            <a:ext cx="2092325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synthetic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with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dirty="0" sz="18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volume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real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needed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learning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F5309"/>
                </a:solidFill>
                <a:latin typeface="Arial"/>
                <a:cs typeface="Arial"/>
              </a:rPr>
              <a:t>50%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64819" y="2225039"/>
            <a:ext cx="1073150" cy="411480"/>
          </a:xfrm>
          <a:prstGeom prst="rect">
            <a:avLst/>
          </a:prstGeom>
          <a:solidFill>
            <a:srgbClr val="FF5309"/>
          </a:solidFill>
        </p:spPr>
        <p:txBody>
          <a:bodyPr wrap="square" lIns="0" tIns="3175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25"/>
              </a:spcBef>
            </a:pPr>
            <a:r>
              <a:rPr dirty="0" sz="2400" spc="-20">
                <a:solidFill>
                  <a:srgbClr val="FFFFFF"/>
                </a:solidFill>
                <a:latin typeface="Arial Black"/>
                <a:cs typeface="Arial Black"/>
              </a:rPr>
              <a:t>2024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724911" y="2225039"/>
            <a:ext cx="1074420" cy="411480"/>
          </a:xfrm>
          <a:prstGeom prst="rect">
            <a:avLst/>
          </a:prstGeom>
          <a:solidFill>
            <a:srgbClr val="FF5309"/>
          </a:solidFill>
        </p:spPr>
        <p:txBody>
          <a:bodyPr wrap="square" lIns="0" tIns="3175" rIns="0" bIns="0" rtlCol="0" vert="horz">
            <a:spAutoFit/>
          </a:bodyPr>
          <a:lstStyle/>
          <a:p>
            <a:pPr marL="132080">
              <a:lnSpc>
                <a:spcPct val="100000"/>
              </a:lnSpc>
              <a:spcBef>
                <a:spcPts val="25"/>
              </a:spcBef>
            </a:pPr>
            <a:r>
              <a:rPr dirty="0" sz="2400" spc="-20">
                <a:solidFill>
                  <a:srgbClr val="FFFFFF"/>
                </a:solidFill>
                <a:latin typeface="Arial Black"/>
                <a:cs typeface="Arial Black"/>
              </a:rPr>
              <a:t>2025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18759" y="2225039"/>
            <a:ext cx="3744595" cy="411480"/>
          </a:xfrm>
          <a:prstGeom prst="rect">
            <a:avLst/>
          </a:prstGeom>
          <a:solidFill>
            <a:srgbClr val="FF5309"/>
          </a:solidFill>
        </p:spPr>
        <p:txBody>
          <a:bodyPr wrap="square" lIns="0" tIns="317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25"/>
              </a:spcBef>
            </a:pPr>
            <a:r>
              <a:rPr dirty="0" sz="2400" spc="-20">
                <a:solidFill>
                  <a:srgbClr val="FFFFFF"/>
                </a:solidFill>
                <a:latin typeface="Arial Black"/>
                <a:cs typeface="Arial Black"/>
              </a:rPr>
              <a:t>2026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740900" y="1564639"/>
            <a:ext cx="624840" cy="493395"/>
          </a:xfrm>
          <a:custGeom>
            <a:avLst/>
            <a:gdLst/>
            <a:ahLst/>
            <a:cxnLst/>
            <a:rect l="l" t="t" r="r" b="b"/>
            <a:pathLst>
              <a:path w="624840" h="493394">
                <a:moveTo>
                  <a:pt x="445389" y="379095"/>
                </a:moveTo>
                <a:lnTo>
                  <a:pt x="179197" y="379095"/>
                </a:lnTo>
                <a:lnTo>
                  <a:pt x="179197" y="493395"/>
                </a:lnTo>
                <a:lnTo>
                  <a:pt x="217170" y="493395"/>
                </a:lnTo>
                <a:lnTo>
                  <a:pt x="217170" y="417195"/>
                </a:lnTo>
                <a:lnTo>
                  <a:pt x="445389" y="417195"/>
                </a:lnTo>
                <a:lnTo>
                  <a:pt x="445389" y="379095"/>
                </a:lnTo>
                <a:close/>
              </a:path>
              <a:path w="624840" h="493394">
                <a:moveTo>
                  <a:pt x="445389" y="417195"/>
                </a:moveTo>
                <a:lnTo>
                  <a:pt x="407289" y="417195"/>
                </a:lnTo>
                <a:lnTo>
                  <a:pt x="407289" y="493395"/>
                </a:lnTo>
                <a:lnTo>
                  <a:pt x="445389" y="493395"/>
                </a:lnTo>
                <a:lnTo>
                  <a:pt x="445389" y="417195"/>
                </a:lnTo>
                <a:close/>
              </a:path>
              <a:path w="624840" h="493394">
                <a:moveTo>
                  <a:pt x="79248" y="233425"/>
                </a:moveTo>
                <a:lnTo>
                  <a:pt x="78994" y="233425"/>
                </a:lnTo>
                <a:lnTo>
                  <a:pt x="0" y="312547"/>
                </a:lnTo>
                <a:lnTo>
                  <a:pt x="79248" y="391795"/>
                </a:lnTo>
                <a:lnTo>
                  <a:pt x="78994" y="391795"/>
                </a:lnTo>
                <a:lnTo>
                  <a:pt x="105918" y="364871"/>
                </a:lnTo>
                <a:lnTo>
                  <a:pt x="106171" y="364871"/>
                </a:lnTo>
                <a:lnTo>
                  <a:pt x="73024" y="331597"/>
                </a:lnTo>
                <a:lnTo>
                  <a:pt x="188595" y="331597"/>
                </a:lnTo>
                <a:lnTo>
                  <a:pt x="188595" y="293497"/>
                </a:lnTo>
                <a:lnTo>
                  <a:pt x="72898" y="293497"/>
                </a:lnTo>
                <a:lnTo>
                  <a:pt x="105918" y="260350"/>
                </a:lnTo>
                <a:lnTo>
                  <a:pt x="106172" y="260350"/>
                </a:lnTo>
                <a:lnTo>
                  <a:pt x="79248" y="233425"/>
                </a:lnTo>
                <a:close/>
              </a:path>
              <a:path w="624840" h="493394">
                <a:moveTo>
                  <a:pt x="545210" y="233425"/>
                </a:moveTo>
                <a:lnTo>
                  <a:pt x="518286" y="260350"/>
                </a:lnTo>
                <a:lnTo>
                  <a:pt x="551433" y="293497"/>
                </a:lnTo>
                <a:lnTo>
                  <a:pt x="435736" y="293497"/>
                </a:lnTo>
                <a:lnTo>
                  <a:pt x="435736" y="331597"/>
                </a:lnTo>
                <a:lnTo>
                  <a:pt x="551433" y="331597"/>
                </a:lnTo>
                <a:lnTo>
                  <a:pt x="518286" y="364871"/>
                </a:lnTo>
                <a:lnTo>
                  <a:pt x="545210" y="391795"/>
                </a:lnTo>
                <a:lnTo>
                  <a:pt x="624331" y="312547"/>
                </a:lnTo>
                <a:lnTo>
                  <a:pt x="545210" y="233425"/>
                </a:lnTo>
                <a:close/>
              </a:path>
              <a:path w="624840" h="493394">
                <a:moveTo>
                  <a:pt x="312293" y="226822"/>
                </a:moveTo>
                <a:lnTo>
                  <a:pt x="278987" y="233572"/>
                </a:lnTo>
                <a:lnTo>
                  <a:pt x="251777" y="251968"/>
                </a:lnTo>
                <a:lnTo>
                  <a:pt x="233425" y="279221"/>
                </a:lnTo>
                <a:lnTo>
                  <a:pt x="226695" y="312547"/>
                </a:lnTo>
                <a:lnTo>
                  <a:pt x="228833" y="331005"/>
                </a:lnTo>
                <a:lnTo>
                  <a:pt x="228902" y="331597"/>
                </a:lnTo>
                <a:lnTo>
                  <a:pt x="228961" y="332106"/>
                </a:lnTo>
                <a:lnTo>
                  <a:pt x="235394" y="350059"/>
                </a:lnTo>
                <a:lnTo>
                  <a:pt x="245447" y="365892"/>
                </a:lnTo>
                <a:lnTo>
                  <a:pt x="258572" y="379095"/>
                </a:lnTo>
                <a:lnTo>
                  <a:pt x="365886" y="379095"/>
                </a:lnTo>
                <a:lnTo>
                  <a:pt x="379067" y="365892"/>
                </a:lnTo>
                <a:lnTo>
                  <a:pt x="382783" y="360045"/>
                </a:lnTo>
                <a:lnTo>
                  <a:pt x="312166" y="360045"/>
                </a:lnTo>
                <a:lnTo>
                  <a:pt x="293653" y="356302"/>
                </a:lnTo>
                <a:lnTo>
                  <a:pt x="278558" y="346106"/>
                </a:lnTo>
                <a:lnTo>
                  <a:pt x="268392" y="331005"/>
                </a:lnTo>
                <a:lnTo>
                  <a:pt x="264668" y="312547"/>
                </a:lnTo>
                <a:lnTo>
                  <a:pt x="268392" y="294068"/>
                </a:lnTo>
                <a:lnTo>
                  <a:pt x="278558" y="278923"/>
                </a:lnTo>
                <a:lnTo>
                  <a:pt x="293653" y="268684"/>
                </a:lnTo>
                <a:lnTo>
                  <a:pt x="312166" y="264922"/>
                </a:lnTo>
                <a:lnTo>
                  <a:pt x="381497" y="264922"/>
                </a:lnTo>
                <a:lnTo>
                  <a:pt x="372760" y="251968"/>
                </a:lnTo>
                <a:lnTo>
                  <a:pt x="345545" y="233572"/>
                </a:lnTo>
                <a:lnTo>
                  <a:pt x="312293" y="226822"/>
                </a:lnTo>
                <a:close/>
              </a:path>
              <a:path w="624840" h="493394">
                <a:moveTo>
                  <a:pt x="381497" y="264922"/>
                </a:moveTo>
                <a:lnTo>
                  <a:pt x="312166" y="264922"/>
                </a:lnTo>
                <a:lnTo>
                  <a:pt x="330704" y="268684"/>
                </a:lnTo>
                <a:lnTo>
                  <a:pt x="345805" y="278923"/>
                </a:lnTo>
                <a:lnTo>
                  <a:pt x="355591" y="293497"/>
                </a:lnTo>
                <a:lnTo>
                  <a:pt x="355950" y="294068"/>
                </a:lnTo>
                <a:lnTo>
                  <a:pt x="359664" y="312547"/>
                </a:lnTo>
                <a:lnTo>
                  <a:pt x="355939" y="331005"/>
                </a:lnTo>
                <a:lnTo>
                  <a:pt x="345773" y="346106"/>
                </a:lnTo>
                <a:lnTo>
                  <a:pt x="330678" y="356302"/>
                </a:lnTo>
                <a:lnTo>
                  <a:pt x="312166" y="360045"/>
                </a:lnTo>
                <a:lnTo>
                  <a:pt x="382783" y="360045"/>
                </a:lnTo>
                <a:lnTo>
                  <a:pt x="389128" y="350059"/>
                </a:lnTo>
                <a:lnTo>
                  <a:pt x="395569" y="332106"/>
                </a:lnTo>
                <a:lnTo>
                  <a:pt x="397891" y="312547"/>
                </a:lnTo>
                <a:lnTo>
                  <a:pt x="391142" y="279221"/>
                </a:lnTo>
                <a:lnTo>
                  <a:pt x="381497" y="264922"/>
                </a:lnTo>
                <a:close/>
              </a:path>
              <a:path w="624840" h="493394">
                <a:moveTo>
                  <a:pt x="185463" y="158750"/>
                </a:moveTo>
                <a:lnTo>
                  <a:pt x="131698" y="158750"/>
                </a:lnTo>
                <a:lnTo>
                  <a:pt x="211327" y="238506"/>
                </a:lnTo>
                <a:lnTo>
                  <a:pt x="238125" y="211582"/>
                </a:lnTo>
                <a:lnTo>
                  <a:pt x="238379" y="211582"/>
                </a:lnTo>
                <a:lnTo>
                  <a:pt x="185463" y="158750"/>
                </a:lnTo>
                <a:close/>
              </a:path>
              <a:path w="624840" h="493394">
                <a:moveTo>
                  <a:pt x="530859" y="93725"/>
                </a:moveTo>
                <a:lnTo>
                  <a:pt x="416814" y="93725"/>
                </a:lnTo>
                <a:lnTo>
                  <a:pt x="416814" y="131699"/>
                </a:lnTo>
                <a:lnTo>
                  <a:pt x="465963" y="131699"/>
                </a:lnTo>
                <a:lnTo>
                  <a:pt x="386079" y="211582"/>
                </a:lnTo>
                <a:lnTo>
                  <a:pt x="413003" y="238506"/>
                </a:lnTo>
                <a:lnTo>
                  <a:pt x="492759" y="158750"/>
                </a:lnTo>
                <a:lnTo>
                  <a:pt x="530859" y="158750"/>
                </a:lnTo>
                <a:lnTo>
                  <a:pt x="530859" y="93725"/>
                </a:lnTo>
                <a:close/>
              </a:path>
              <a:path w="624840" h="493394">
                <a:moveTo>
                  <a:pt x="207518" y="93725"/>
                </a:moveTo>
                <a:lnTo>
                  <a:pt x="93472" y="93725"/>
                </a:lnTo>
                <a:lnTo>
                  <a:pt x="93472" y="207899"/>
                </a:lnTo>
                <a:lnTo>
                  <a:pt x="131572" y="207899"/>
                </a:lnTo>
                <a:lnTo>
                  <a:pt x="131572" y="158750"/>
                </a:lnTo>
                <a:lnTo>
                  <a:pt x="185463" y="158750"/>
                </a:lnTo>
                <a:lnTo>
                  <a:pt x="158369" y="131699"/>
                </a:lnTo>
                <a:lnTo>
                  <a:pt x="207518" y="131699"/>
                </a:lnTo>
                <a:lnTo>
                  <a:pt x="207518" y="93725"/>
                </a:lnTo>
                <a:close/>
              </a:path>
              <a:path w="624840" h="493394">
                <a:moveTo>
                  <a:pt x="530859" y="158750"/>
                </a:moveTo>
                <a:lnTo>
                  <a:pt x="492759" y="158750"/>
                </a:lnTo>
                <a:lnTo>
                  <a:pt x="492759" y="207899"/>
                </a:lnTo>
                <a:lnTo>
                  <a:pt x="530859" y="207899"/>
                </a:lnTo>
                <a:lnTo>
                  <a:pt x="530859" y="158750"/>
                </a:lnTo>
                <a:close/>
              </a:path>
              <a:path w="624840" h="493394">
                <a:moveTo>
                  <a:pt x="331216" y="72898"/>
                </a:moveTo>
                <a:lnTo>
                  <a:pt x="293116" y="72898"/>
                </a:lnTo>
                <a:lnTo>
                  <a:pt x="293116" y="188722"/>
                </a:lnTo>
                <a:lnTo>
                  <a:pt x="331216" y="188722"/>
                </a:lnTo>
                <a:lnTo>
                  <a:pt x="331216" y="72898"/>
                </a:lnTo>
                <a:close/>
              </a:path>
              <a:path w="624840" h="493394">
                <a:moveTo>
                  <a:pt x="312166" y="0"/>
                </a:moveTo>
                <a:lnTo>
                  <a:pt x="233045" y="79248"/>
                </a:lnTo>
                <a:lnTo>
                  <a:pt x="259969" y="106172"/>
                </a:lnTo>
                <a:lnTo>
                  <a:pt x="293116" y="72898"/>
                </a:lnTo>
                <a:lnTo>
                  <a:pt x="384947" y="72898"/>
                </a:lnTo>
                <a:lnTo>
                  <a:pt x="312166" y="0"/>
                </a:lnTo>
                <a:close/>
              </a:path>
              <a:path w="624840" h="493394">
                <a:moveTo>
                  <a:pt x="384947" y="72898"/>
                </a:moveTo>
                <a:lnTo>
                  <a:pt x="331216" y="72898"/>
                </a:lnTo>
                <a:lnTo>
                  <a:pt x="364363" y="106172"/>
                </a:lnTo>
                <a:lnTo>
                  <a:pt x="391286" y="79248"/>
                </a:lnTo>
                <a:lnTo>
                  <a:pt x="384947" y="72898"/>
                </a:lnTo>
                <a:close/>
              </a:path>
            </a:pathLst>
          </a:custGeom>
          <a:solidFill>
            <a:srgbClr val="0028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483090" y="2740914"/>
            <a:ext cx="2133600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2027,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nearly </a:t>
            </a:r>
            <a:r>
              <a:rPr dirty="0" sz="1800" spc="-25" b="1">
                <a:solidFill>
                  <a:srgbClr val="FF5309"/>
                </a:solidFill>
                <a:latin typeface="Arial"/>
                <a:cs typeface="Arial"/>
              </a:rPr>
              <a:t>15%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applications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automatically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generated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AI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human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loop,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FF5309"/>
                </a:solidFill>
                <a:latin typeface="Arial"/>
                <a:cs typeface="Arial"/>
              </a:rPr>
              <a:t>0%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today.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473183" y="2225039"/>
            <a:ext cx="1074420" cy="411480"/>
          </a:xfrm>
          <a:prstGeom prst="rect">
            <a:avLst/>
          </a:prstGeom>
          <a:solidFill>
            <a:srgbClr val="FF5309"/>
          </a:solidFill>
        </p:spPr>
        <p:txBody>
          <a:bodyPr wrap="square" lIns="0" tIns="3175" rIns="0" bIns="0" rtlCol="0" vert="horz">
            <a:spAutoFit/>
          </a:bodyPr>
          <a:lstStyle/>
          <a:p>
            <a:pPr marL="132080">
              <a:lnSpc>
                <a:spcPct val="100000"/>
              </a:lnSpc>
              <a:spcBef>
                <a:spcPts val="25"/>
              </a:spcBef>
            </a:pPr>
            <a:r>
              <a:rPr dirty="0" sz="2400" spc="-20">
                <a:solidFill>
                  <a:srgbClr val="FFFFFF"/>
                </a:solidFill>
                <a:latin typeface="Arial Black"/>
                <a:cs typeface="Arial Black"/>
              </a:rPr>
              <a:t>2027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74701"/>
            <a:ext cx="9149715" cy="953135"/>
          </a:xfrm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  <a:tabLst>
                <a:tab pos="3187065" algn="l"/>
              </a:tabLst>
            </a:pPr>
            <a:r>
              <a:rPr dirty="0" spc="-20">
                <a:solidFill>
                  <a:srgbClr val="FFFFFF"/>
                </a:solidFill>
              </a:rPr>
              <a:t>Tech</a:t>
            </a:r>
            <a:r>
              <a:rPr dirty="0" spc="-7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&amp;</a:t>
            </a:r>
            <a:r>
              <a:rPr dirty="0" spc="-7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Service</a:t>
            </a:r>
            <a:r>
              <a:rPr dirty="0" spc="-8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Provider</a:t>
            </a:r>
            <a:r>
              <a:rPr dirty="0" spc="-8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Response</a:t>
            </a:r>
            <a:r>
              <a:rPr dirty="0" spc="-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to</a:t>
            </a:r>
            <a:r>
              <a:rPr dirty="0" spc="-70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the </a:t>
            </a:r>
            <a:r>
              <a:rPr dirty="0">
                <a:solidFill>
                  <a:srgbClr val="FFFFFF"/>
                </a:solidFill>
              </a:rPr>
              <a:t>Generative</a:t>
            </a:r>
            <a:r>
              <a:rPr dirty="0" spc="-16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AI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dirty="0" spc="-10">
                <a:solidFill>
                  <a:srgbClr val="FFFFFF"/>
                </a:solidFill>
              </a:rPr>
              <a:t>Opportunity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400555" y="2200655"/>
            <a:ext cx="2390140" cy="2409825"/>
          </a:xfrm>
          <a:custGeom>
            <a:avLst/>
            <a:gdLst/>
            <a:ahLst/>
            <a:cxnLst/>
            <a:rect l="l" t="t" r="r" b="b"/>
            <a:pathLst>
              <a:path w="2390140" h="2409825">
                <a:moveTo>
                  <a:pt x="1194816" y="0"/>
                </a:moveTo>
                <a:lnTo>
                  <a:pt x="1146760" y="956"/>
                </a:lnTo>
                <a:lnTo>
                  <a:pt x="1099186" y="3802"/>
                </a:lnTo>
                <a:lnTo>
                  <a:pt x="1052129" y="8501"/>
                </a:lnTo>
                <a:lnTo>
                  <a:pt x="1005625" y="15017"/>
                </a:lnTo>
                <a:lnTo>
                  <a:pt x="959711" y="23314"/>
                </a:lnTo>
                <a:lnTo>
                  <a:pt x="914421" y="33357"/>
                </a:lnTo>
                <a:lnTo>
                  <a:pt x="869790" y="45109"/>
                </a:lnTo>
                <a:lnTo>
                  <a:pt x="825856" y="58534"/>
                </a:lnTo>
                <a:lnTo>
                  <a:pt x="782654" y="73596"/>
                </a:lnTo>
                <a:lnTo>
                  <a:pt x="740218" y="90260"/>
                </a:lnTo>
                <a:lnTo>
                  <a:pt x="698586" y="108489"/>
                </a:lnTo>
                <a:lnTo>
                  <a:pt x="657792" y="128247"/>
                </a:lnTo>
                <a:lnTo>
                  <a:pt x="617873" y="149499"/>
                </a:lnTo>
                <a:lnTo>
                  <a:pt x="578863" y="172208"/>
                </a:lnTo>
                <a:lnTo>
                  <a:pt x="540799" y="196338"/>
                </a:lnTo>
                <a:lnTo>
                  <a:pt x="503717" y="221854"/>
                </a:lnTo>
                <a:lnTo>
                  <a:pt x="467652" y="248719"/>
                </a:lnTo>
                <a:lnTo>
                  <a:pt x="432639" y="276897"/>
                </a:lnTo>
                <a:lnTo>
                  <a:pt x="398715" y="306353"/>
                </a:lnTo>
                <a:lnTo>
                  <a:pt x="365915" y="337050"/>
                </a:lnTo>
                <a:lnTo>
                  <a:pt x="334275" y="368953"/>
                </a:lnTo>
                <a:lnTo>
                  <a:pt x="303831" y="402025"/>
                </a:lnTo>
                <a:lnTo>
                  <a:pt x="274617" y="436230"/>
                </a:lnTo>
                <a:lnTo>
                  <a:pt x="246671" y="471533"/>
                </a:lnTo>
                <a:lnTo>
                  <a:pt x="220027" y="507898"/>
                </a:lnTo>
                <a:lnTo>
                  <a:pt x="194721" y="545288"/>
                </a:lnTo>
                <a:lnTo>
                  <a:pt x="170790" y="583667"/>
                </a:lnTo>
                <a:lnTo>
                  <a:pt x="148268" y="623000"/>
                </a:lnTo>
                <a:lnTo>
                  <a:pt x="127191" y="663250"/>
                </a:lnTo>
                <a:lnTo>
                  <a:pt x="107595" y="704382"/>
                </a:lnTo>
                <a:lnTo>
                  <a:pt x="89517" y="746360"/>
                </a:lnTo>
                <a:lnTo>
                  <a:pt x="72990" y="789147"/>
                </a:lnTo>
                <a:lnTo>
                  <a:pt x="58052" y="832707"/>
                </a:lnTo>
                <a:lnTo>
                  <a:pt x="44737" y="877005"/>
                </a:lnTo>
                <a:lnTo>
                  <a:pt x="33082" y="922005"/>
                </a:lnTo>
                <a:lnTo>
                  <a:pt x="23122" y="967670"/>
                </a:lnTo>
                <a:lnTo>
                  <a:pt x="14893" y="1013965"/>
                </a:lnTo>
                <a:lnTo>
                  <a:pt x="8431" y="1060854"/>
                </a:lnTo>
                <a:lnTo>
                  <a:pt x="3771" y="1108300"/>
                </a:lnTo>
                <a:lnTo>
                  <a:pt x="948" y="1156268"/>
                </a:lnTo>
                <a:lnTo>
                  <a:pt x="0" y="1204722"/>
                </a:lnTo>
                <a:lnTo>
                  <a:pt x="948" y="1253175"/>
                </a:lnTo>
                <a:lnTo>
                  <a:pt x="3771" y="1301143"/>
                </a:lnTo>
                <a:lnTo>
                  <a:pt x="8431" y="1348589"/>
                </a:lnTo>
                <a:lnTo>
                  <a:pt x="14893" y="1395478"/>
                </a:lnTo>
                <a:lnTo>
                  <a:pt x="23122" y="1441773"/>
                </a:lnTo>
                <a:lnTo>
                  <a:pt x="33082" y="1487438"/>
                </a:lnTo>
                <a:lnTo>
                  <a:pt x="44737" y="1532438"/>
                </a:lnTo>
                <a:lnTo>
                  <a:pt x="58052" y="1576736"/>
                </a:lnTo>
                <a:lnTo>
                  <a:pt x="72990" y="1620296"/>
                </a:lnTo>
                <a:lnTo>
                  <a:pt x="89517" y="1663083"/>
                </a:lnTo>
                <a:lnTo>
                  <a:pt x="107595" y="1705061"/>
                </a:lnTo>
                <a:lnTo>
                  <a:pt x="127191" y="1746193"/>
                </a:lnTo>
                <a:lnTo>
                  <a:pt x="148268" y="1786443"/>
                </a:lnTo>
                <a:lnTo>
                  <a:pt x="170790" y="1825776"/>
                </a:lnTo>
                <a:lnTo>
                  <a:pt x="194721" y="1864155"/>
                </a:lnTo>
                <a:lnTo>
                  <a:pt x="220027" y="1901545"/>
                </a:lnTo>
                <a:lnTo>
                  <a:pt x="246671" y="1937910"/>
                </a:lnTo>
                <a:lnTo>
                  <a:pt x="274617" y="1973213"/>
                </a:lnTo>
                <a:lnTo>
                  <a:pt x="303831" y="2007418"/>
                </a:lnTo>
                <a:lnTo>
                  <a:pt x="334275" y="2040490"/>
                </a:lnTo>
                <a:lnTo>
                  <a:pt x="365915" y="2072393"/>
                </a:lnTo>
                <a:lnTo>
                  <a:pt x="398715" y="2103090"/>
                </a:lnTo>
                <a:lnTo>
                  <a:pt x="432639" y="2132546"/>
                </a:lnTo>
                <a:lnTo>
                  <a:pt x="467652" y="2160724"/>
                </a:lnTo>
                <a:lnTo>
                  <a:pt x="503717" y="2187589"/>
                </a:lnTo>
                <a:lnTo>
                  <a:pt x="540799" y="2213105"/>
                </a:lnTo>
                <a:lnTo>
                  <a:pt x="578863" y="2237235"/>
                </a:lnTo>
                <a:lnTo>
                  <a:pt x="617873" y="2259944"/>
                </a:lnTo>
                <a:lnTo>
                  <a:pt x="657792" y="2281196"/>
                </a:lnTo>
                <a:lnTo>
                  <a:pt x="698586" y="2300954"/>
                </a:lnTo>
                <a:lnTo>
                  <a:pt x="740218" y="2319183"/>
                </a:lnTo>
                <a:lnTo>
                  <a:pt x="782654" y="2335847"/>
                </a:lnTo>
                <a:lnTo>
                  <a:pt x="825856" y="2350909"/>
                </a:lnTo>
                <a:lnTo>
                  <a:pt x="869790" y="2364334"/>
                </a:lnTo>
                <a:lnTo>
                  <a:pt x="914421" y="2376086"/>
                </a:lnTo>
                <a:lnTo>
                  <a:pt x="959711" y="2386129"/>
                </a:lnTo>
                <a:lnTo>
                  <a:pt x="1005625" y="2394426"/>
                </a:lnTo>
                <a:lnTo>
                  <a:pt x="1052129" y="2400942"/>
                </a:lnTo>
                <a:lnTo>
                  <a:pt x="1099186" y="2405641"/>
                </a:lnTo>
                <a:lnTo>
                  <a:pt x="1146760" y="2408487"/>
                </a:lnTo>
                <a:lnTo>
                  <a:pt x="1194816" y="2409444"/>
                </a:lnTo>
                <a:lnTo>
                  <a:pt x="1242871" y="2408487"/>
                </a:lnTo>
                <a:lnTo>
                  <a:pt x="1290445" y="2405641"/>
                </a:lnTo>
                <a:lnTo>
                  <a:pt x="1337502" y="2400942"/>
                </a:lnTo>
                <a:lnTo>
                  <a:pt x="1384006" y="2394426"/>
                </a:lnTo>
                <a:lnTo>
                  <a:pt x="1429920" y="2386129"/>
                </a:lnTo>
                <a:lnTo>
                  <a:pt x="1475210" y="2376086"/>
                </a:lnTo>
                <a:lnTo>
                  <a:pt x="1519841" y="2364334"/>
                </a:lnTo>
                <a:lnTo>
                  <a:pt x="1563775" y="2350909"/>
                </a:lnTo>
                <a:lnTo>
                  <a:pt x="1606977" y="2335847"/>
                </a:lnTo>
                <a:lnTo>
                  <a:pt x="1649413" y="2319183"/>
                </a:lnTo>
                <a:lnTo>
                  <a:pt x="1691045" y="2300954"/>
                </a:lnTo>
                <a:lnTo>
                  <a:pt x="1731839" y="2281196"/>
                </a:lnTo>
                <a:lnTo>
                  <a:pt x="1771758" y="2259944"/>
                </a:lnTo>
                <a:lnTo>
                  <a:pt x="1810768" y="2237235"/>
                </a:lnTo>
                <a:lnTo>
                  <a:pt x="1848832" y="2213105"/>
                </a:lnTo>
                <a:lnTo>
                  <a:pt x="1885914" y="2187589"/>
                </a:lnTo>
                <a:lnTo>
                  <a:pt x="1921979" y="2160724"/>
                </a:lnTo>
                <a:lnTo>
                  <a:pt x="1956992" y="2132546"/>
                </a:lnTo>
                <a:lnTo>
                  <a:pt x="1990916" y="2103090"/>
                </a:lnTo>
                <a:lnTo>
                  <a:pt x="2023716" y="2072393"/>
                </a:lnTo>
                <a:lnTo>
                  <a:pt x="2055356" y="2040490"/>
                </a:lnTo>
                <a:lnTo>
                  <a:pt x="2085800" y="2007418"/>
                </a:lnTo>
                <a:lnTo>
                  <a:pt x="2115014" y="1973213"/>
                </a:lnTo>
                <a:lnTo>
                  <a:pt x="2142960" y="1937910"/>
                </a:lnTo>
                <a:lnTo>
                  <a:pt x="2169604" y="1901545"/>
                </a:lnTo>
                <a:lnTo>
                  <a:pt x="2194910" y="1864155"/>
                </a:lnTo>
                <a:lnTo>
                  <a:pt x="2218841" y="1825776"/>
                </a:lnTo>
                <a:lnTo>
                  <a:pt x="2241363" y="1786443"/>
                </a:lnTo>
                <a:lnTo>
                  <a:pt x="2262440" y="1746193"/>
                </a:lnTo>
                <a:lnTo>
                  <a:pt x="2282036" y="1705061"/>
                </a:lnTo>
                <a:lnTo>
                  <a:pt x="2300114" y="1663083"/>
                </a:lnTo>
                <a:lnTo>
                  <a:pt x="2316641" y="1620296"/>
                </a:lnTo>
                <a:lnTo>
                  <a:pt x="2331579" y="1576736"/>
                </a:lnTo>
                <a:lnTo>
                  <a:pt x="2344894" y="1532438"/>
                </a:lnTo>
                <a:lnTo>
                  <a:pt x="2356549" y="1487438"/>
                </a:lnTo>
                <a:lnTo>
                  <a:pt x="2366509" y="1441773"/>
                </a:lnTo>
                <a:lnTo>
                  <a:pt x="2374738" y="1395478"/>
                </a:lnTo>
                <a:lnTo>
                  <a:pt x="2381200" y="1348589"/>
                </a:lnTo>
                <a:lnTo>
                  <a:pt x="2385860" y="1301143"/>
                </a:lnTo>
                <a:lnTo>
                  <a:pt x="2388683" y="1253175"/>
                </a:lnTo>
                <a:lnTo>
                  <a:pt x="2389632" y="1204722"/>
                </a:lnTo>
                <a:lnTo>
                  <a:pt x="2388683" y="1156268"/>
                </a:lnTo>
                <a:lnTo>
                  <a:pt x="2385860" y="1108300"/>
                </a:lnTo>
                <a:lnTo>
                  <a:pt x="2381200" y="1060854"/>
                </a:lnTo>
                <a:lnTo>
                  <a:pt x="2374738" y="1013965"/>
                </a:lnTo>
                <a:lnTo>
                  <a:pt x="2366509" y="967670"/>
                </a:lnTo>
                <a:lnTo>
                  <a:pt x="2356549" y="922005"/>
                </a:lnTo>
                <a:lnTo>
                  <a:pt x="2344894" y="877005"/>
                </a:lnTo>
                <a:lnTo>
                  <a:pt x="2331579" y="832707"/>
                </a:lnTo>
                <a:lnTo>
                  <a:pt x="2316641" y="789147"/>
                </a:lnTo>
                <a:lnTo>
                  <a:pt x="2300114" y="746360"/>
                </a:lnTo>
                <a:lnTo>
                  <a:pt x="2282036" y="704382"/>
                </a:lnTo>
                <a:lnTo>
                  <a:pt x="2262440" y="663250"/>
                </a:lnTo>
                <a:lnTo>
                  <a:pt x="2241363" y="623000"/>
                </a:lnTo>
                <a:lnTo>
                  <a:pt x="2218841" y="583667"/>
                </a:lnTo>
                <a:lnTo>
                  <a:pt x="2194910" y="545288"/>
                </a:lnTo>
                <a:lnTo>
                  <a:pt x="2169604" y="507898"/>
                </a:lnTo>
                <a:lnTo>
                  <a:pt x="2142960" y="471533"/>
                </a:lnTo>
                <a:lnTo>
                  <a:pt x="2115014" y="436230"/>
                </a:lnTo>
                <a:lnTo>
                  <a:pt x="2085800" y="402025"/>
                </a:lnTo>
                <a:lnTo>
                  <a:pt x="2055356" y="368953"/>
                </a:lnTo>
                <a:lnTo>
                  <a:pt x="2023716" y="337050"/>
                </a:lnTo>
                <a:lnTo>
                  <a:pt x="1990916" y="306353"/>
                </a:lnTo>
                <a:lnTo>
                  <a:pt x="1956992" y="276897"/>
                </a:lnTo>
                <a:lnTo>
                  <a:pt x="1921979" y="248719"/>
                </a:lnTo>
                <a:lnTo>
                  <a:pt x="1885914" y="221854"/>
                </a:lnTo>
                <a:lnTo>
                  <a:pt x="1848832" y="196338"/>
                </a:lnTo>
                <a:lnTo>
                  <a:pt x="1810768" y="172208"/>
                </a:lnTo>
                <a:lnTo>
                  <a:pt x="1771758" y="149499"/>
                </a:lnTo>
                <a:lnTo>
                  <a:pt x="1731839" y="128247"/>
                </a:lnTo>
                <a:lnTo>
                  <a:pt x="1691045" y="108489"/>
                </a:lnTo>
                <a:lnTo>
                  <a:pt x="1649413" y="90260"/>
                </a:lnTo>
                <a:lnTo>
                  <a:pt x="1606977" y="73596"/>
                </a:lnTo>
                <a:lnTo>
                  <a:pt x="1563775" y="58534"/>
                </a:lnTo>
                <a:lnTo>
                  <a:pt x="1519841" y="45109"/>
                </a:lnTo>
                <a:lnTo>
                  <a:pt x="1475210" y="33357"/>
                </a:lnTo>
                <a:lnTo>
                  <a:pt x="1429920" y="23314"/>
                </a:lnTo>
                <a:lnTo>
                  <a:pt x="1384006" y="15017"/>
                </a:lnTo>
                <a:lnTo>
                  <a:pt x="1337502" y="8501"/>
                </a:lnTo>
                <a:lnTo>
                  <a:pt x="1290445" y="3802"/>
                </a:lnTo>
                <a:lnTo>
                  <a:pt x="1242871" y="956"/>
                </a:lnTo>
                <a:lnTo>
                  <a:pt x="119481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252852" y="3202940"/>
            <a:ext cx="6864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latin typeface="Arial"/>
                <a:cs typeface="Arial"/>
              </a:rPr>
              <a:t>ISVs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899659" y="2200655"/>
            <a:ext cx="2390140" cy="2409825"/>
          </a:xfrm>
          <a:custGeom>
            <a:avLst/>
            <a:gdLst/>
            <a:ahLst/>
            <a:cxnLst/>
            <a:rect l="l" t="t" r="r" b="b"/>
            <a:pathLst>
              <a:path w="2390140" h="2409825">
                <a:moveTo>
                  <a:pt x="1194815" y="0"/>
                </a:moveTo>
                <a:lnTo>
                  <a:pt x="1146760" y="956"/>
                </a:lnTo>
                <a:lnTo>
                  <a:pt x="1099186" y="3802"/>
                </a:lnTo>
                <a:lnTo>
                  <a:pt x="1052129" y="8501"/>
                </a:lnTo>
                <a:lnTo>
                  <a:pt x="1005625" y="15017"/>
                </a:lnTo>
                <a:lnTo>
                  <a:pt x="959711" y="23314"/>
                </a:lnTo>
                <a:lnTo>
                  <a:pt x="914421" y="33357"/>
                </a:lnTo>
                <a:lnTo>
                  <a:pt x="869790" y="45109"/>
                </a:lnTo>
                <a:lnTo>
                  <a:pt x="825856" y="58534"/>
                </a:lnTo>
                <a:lnTo>
                  <a:pt x="782654" y="73596"/>
                </a:lnTo>
                <a:lnTo>
                  <a:pt x="740218" y="90260"/>
                </a:lnTo>
                <a:lnTo>
                  <a:pt x="698586" y="108489"/>
                </a:lnTo>
                <a:lnTo>
                  <a:pt x="657792" y="128247"/>
                </a:lnTo>
                <a:lnTo>
                  <a:pt x="617873" y="149499"/>
                </a:lnTo>
                <a:lnTo>
                  <a:pt x="578863" y="172208"/>
                </a:lnTo>
                <a:lnTo>
                  <a:pt x="540799" y="196338"/>
                </a:lnTo>
                <a:lnTo>
                  <a:pt x="503717" y="221854"/>
                </a:lnTo>
                <a:lnTo>
                  <a:pt x="467652" y="248719"/>
                </a:lnTo>
                <a:lnTo>
                  <a:pt x="432639" y="276897"/>
                </a:lnTo>
                <a:lnTo>
                  <a:pt x="398715" y="306353"/>
                </a:lnTo>
                <a:lnTo>
                  <a:pt x="365915" y="337050"/>
                </a:lnTo>
                <a:lnTo>
                  <a:pt x="334275" y="368953"/>
                </a:lnTo>
                <a:lnTo>
                  <a:pt x="303831" y="402025"/>
                </a:lnTo>
                <a:lnTo>
                  <a:pt x="274617" y="436230"/>
                </a:lnTo>
                <a:lnTo>
                  <a:pt x="246671" y="471533"/>
                </a:lnTo>
                <a:lnTo>
                  <a:pt x="220027" y="507898"/>
                </a:lnTo>
                <a:lnTo>
                  <a:pt x="194721" y="545288"/>
                </a:lnTo>
                <a:lnTo>
                  <a:pt x="170790" y="583667"/>
                </a:lnTo>
                <a:lnTo>
                  <a:pt x="148268" y="623000"/>
                </a:lnTo>
                <a:lnTo>
                  <a:pt x="127191" y="663250"/>
                </a:lnTo>
                <a:lnTo>
                  <a:pt x="107595" y="704382"/>
                </a:lnTo>
                <a:lnTo>
                  <a:pt x="89517" y="746360"/>
                </a:lnTo>
                <a:lnTo>
                  <a:pt x="72990" y="789147"/>
                </a:lnTo>
                <a:lnTo>
                  <a:pt x="58052" y="832707"/>
                </a:lnTo>
                <a:lnTo>
                  <a:pt x="44737" y="877005"/>
                </a:lnTo>
                <a:lnTo>
                  <a:pt x="33082" y="922005"/>
                </a:lnTo>
                <a:lnTo>
                  <a:pt x="23122" y="967670"/>
                </a:lnTo>
                <a:lnTo>
                  <a:pt x="14893" y="1013965"/>
                </a:lnTo>
                <a:lnTo>
                  <a:pt x="8431" y="1060854"/>
                </a:lnTo>
                <a:lnTo>
                  <a:pt x="3771" y="1108300"/>
                </a:lnTo>
                <a:lnTo>
                  <a:pt x="948" y="1156268"/>
                </a:lnTo>
                <a:lnTo>
                  <a:pt x="0" y="1204722"/>
                </a:lnTo>
                <a:lnTo>
                  <a:pt x="948" y="1253175"/>
                </a:lnTo>
                <a:lnTo>
                  <a:pt x="3771" y="1301143"/>
                </a:lnTo>
                <a:lnTo>
                  <a:pt x="8431" y="1348589"/>
                </a:lnTo>
                <a:lnTo>
                  <a:pt x="14893" y="1395478"/>
                </a:lnTo>
                <a:lnTo>
                  <a:pt x="23122" y="1441773"/>
                </a:lnTo>
                <a:lnTo>
                  <a:pt x="33082" y="1487438"/>
                </a:lnTo>
                <a:lnTo>
                  <a:pt x="44737" y="1532438"/>
                </a:lnTo>
                <a:lnTo>
                  <a:pt x="58052" y="1576736"/>
                </a:lnTo>
                <a:lnTo>
                  <a:pt x="72990" y="1620296"/>
                </a:lnTo>
                <a:lnTo>
                  <a:pt x="89517" y="1663083"/>
                </a:lnTo>
                <a:lnTo>
                  <a:pt x="107595" y="1705061"/>
                </a:lnTo>
                <a:lnTo>
                  <a:pt x="127191" y="1746193"/>
                </a:lnTo>
                <a:lnTo>
                  <a:pt x="148268" y="1786443"/>
                </a:lnTo>
                <a:lnTo>
                  <a:pt x="170790" y="1825776"/>
                </a:lnTo>
                <a:lnTo>
                  <a:pt x="194721" y="1864155"/>
                </a:lnTo>
                <a:lnTo>
                  <a:pt x="220027" y="1901545"/>
                </a:lnTo>
                <a:lnTo>
                  <a:pt x="246671" y="1937910"/>
                </a:lnTo>
                <a:lnTo>
                  <a:pt x="274617" y="1973213"/>
                </a:lnTo>
                <a:lnTo>
                  <a:pt x="303831" y="2007418"/>
                </a:lnTo>
                <a:lnTo>
                  <a:pt x="334275" y="2040490"/>
                </a:lnTo>
                <a:lnTo>
                  <a:pt x="365915" y="2072393"/>
                </a:lnTo>
                <a:lnTo>
                  <a:pt x="398715" y="2103090"/>
                </a:lnTo>
                <a:lnTo>
                  <a:pt x="432639" y="2132546"/>
                </a:lnTo>
                <a:lnTo>
                  <a:pt x="467652" y="2160724"/>
                </a:lnTo>
                <a:lnTo>
                  <a:pt x="503717" y="2187589"/>
                </a:lnTo>
                <a:lnTo>
                  <a:pt x="540799" y="2213105"/>
                </a:lnTo>
                <a:lnTo>
                  <a:pt x="578863" y="2237235"/>
                </a:lnTo>
                <a:lnTo>
                  <a:pt x="617873" y="2259944"/>
                </a:lnTo>
                <a:lnTo>
                  <a:pt x="657792" y="2281196"/>
                </a:lnTo>
                <a:lnTo>
                  <a:pt x="698586" y="2300954"/>
                </a:lnTo>
                <a:lnTo>
                  <a:pt x="740218" y="2319183"/>
                </a:lnTo>
                <a:lnTo>
                  <a:pt x="782654" y="2335847"/>
                </a:lnTo>
                <a:lnTo>
                  <a:pt x="825856" y="2350909"/>
                </a:lnTo>
                <a:lnTo>
                  <a:pt x="869790" y="2364334"/>
                </a:lnTo>
                <a:lnTo>
                  <a:pt x="914421" y="2376086"/>
                </a:lnTo>
                <a:lnTo>
                  <a:pt x="959711" y="2386129"/>
                </a:lnTo>
                <a:lnTo>
                  <a:pt x="1005625" y="2394426"/>
                </a:lnTo>
                <a:lnTo>
                  <a:pt x="1052129" y="2400942"/>
                </a:lnTo>
                <a:lnTo>
                  <a:pt x="1099186" y="2405641"/>
                </a:lnTo>
                <a:lnTo>
                  <a:pt x="1146760" y="2408487"/>
                </a:lnTo>
                <a:lnTo>
                  <a:pt x="1194815" y="2409444"/>
                </a:lnTo>
                <a:lnTo>
                  <a:pt x="1242871" y="2408487"/>
                </a:lnTo>
                <a:lnTo>
                  <a:pt x="1290445" y="2405641"/>
                </a:lnTo>
                <a:lnTo>
                  <a:pt x="1337502" y="2400942"/>
                </a:lnTo>
                <a:lnTo>
                  <a:pt x="1384006" y="2394426"/>
                </a:lnTo>
                <a:lnTo>
                  <a:pt x="1429920" y="2386129"/>
                </a:lnTo>
                <a:lnTo>
                  <a:pt x="1475210" y="2376086"/>
                </a:lnTo>
                <a:lnTo>
                  <a:pt x="1519841" y="2364334"/>
                </a:lnTo>
                <a:lnTo>
                  <a:pt x="1563775" y="2350909"/>
                </a:lnTo>
                <a:lnTo>
                  <a:pt x="1606977" y="2335847"/>
                </a:lnTo>
                <a:lnTo>
                  <a:pt x="1649413" y="2319183"/>
                </a:lnTo>
                <a:lnTo>
                  <a:pt x="1691045" y="2300954"/>
                </a:lnTo>
                <a:lnTo>
                  <a:pt x="1731839" y="2281196"/>
                </a:lnTo>
                <a:lnTo>
                  <a:pt x="1771758" y="2259944"/>
                </a:lnTo>
                <a:lnTo>
                  <a:pt x="1810768" y="2237235"/>
                </a:lnTo>
                <a:lnTo>
                  <a:pt x="1848832" y="2213105"/>
                </a:lnTo>
                <a:lnTo>
                  <a:pt x="1885914" y="2187589"/>
                </a:lnTo>
                <a:lnTo>
                  <a:pt x="1921979" y="2160724"/>
                </a:lnTo>
                <a:lnTo>
                  <a:pt x="1956992" y="2132546"/>
                </a:lnTo>
                <a:lnTo>
                  <a:pt x="1990916" y="2103090"/>
                </a:lnTo>
                <a:lnTo>
                  <a:pt x="2023716" y="2072393"/>
                </a:lnTo>
                <a:lnTo>
                  <a:pt x="2055356" y="2040490"/>
                </a:lnTo>
                <a:lnTo>
                  <a:pt x="2085800" y="2007418"/>
                </a:lnTo>
                <a:lnTo>
                  <a:pt x="2115014" y="1973213"/>
                </a:lnTo>
                <a:lnTo>
                  <a:pt x="2142960" y="1937910"/>
                </a:lnTo>
                <a:lnTo>
                  <a:pt x="2169604" y="1901545"/>
                </a:lnTo>
                <a:lnTo>
                  <a:pt x="2194910" y="1864155"/>
                </a:lnTo>
                <a:lnTo>
                  <a:pt x="2218841" y="1825776"/>
                </a:lnTo>
                <a:lnTo>
                  <a:pt x="2241363" y="1786443"/>
                </a:lnTo>
                <a:lnTo>
                  <a:pt x="2262440" y="1746193"/>
                </a:lnTo>
                <a:lnTo>
                  <a:pt x="2282036" y="1705061"/>
                </a:lnTo>
                <a:lnTo>
                  <a:pt x="2300114" y="1663083"/>
                </a:lnTo>
                <a:lnTo>
                  <a:pt x="2316641" y="1620296"/>
                </a:lnTo>
                <a:lnTo>
                  <a:pt x="2331579" y="1576736"/>
                </a:lnTo>
                <a:lnTo>
                  <a:pt x="2344894" y="1532438"/>
                </a:lnTo>
                <a:lnTo>
                  <a:pt x="2356549" y="1487438"/>
                </a:lnTo>
                <a:lnTo>
                  <a:pt x="2366509" y="1441773"/>
                </a:lnTo>
                <a:lnTo>
                  <a:pt x="2374738" y="1395478"/>
                </a:lnTo>
                <a:lnTo>
                  <a:pt x="2381200" y="1348589"/>
                </a:lnTo>
                <a:lnTo>
                  <a:pt x="2385860" y="1301143"/>
                </a:lnTo>
                <a:lnTo>
                  <a:pt x="2388683" y="1253175"/>
                </a:lnTo>
                <a:lnTo>
                  <a:pt x="2389632" y="1204722"/>
                </a:lnTo>
                <a:lnTo>
                  <a:pt x="2388683" y="1156268"/>
                </a:lnTo>
                <a:lnTo>
                  <a:pt x="2385860" y="1108300"/>
                </a:lnTo>
                <a:lnTo>
                  <a:pt x="2381200" y="1060854"/>
                </a:lnTo>
                <a:lnTo>
                  <a:pt x="2374738" y="1013965"/>
                </a:lnTo>
                <a:lnTo>
                  <a:pt x="2366509" y="967670"/>
                </a:lnTo>
                <a:lnTo>
                  <a:pt x="2356549" y="922005"/>
                </a:lnTo>
                <a:lnTo>
                  <a:pt x="2344894" y="877005"/>
                </a:lnTo>
                <a:lnTo>
                  <a:pt x="2331579" y="832707"/>
                </a:lnTo>
                <a:lnTo>
                  <a:pt x="2316641" y="789147"/>
                </a:lnTo>
                <a:lnTo>
                  <a:pt x="2300114" y="746360"/>
                </a:lnTo>
                <a:lnTo>
                  <a:pt x="2282036" y="704382"/>
                </a:lnTo>
                <a:lnTo>
                  <a:pt x="2262440" y="663250"/>
                </a:lnTo>
                <a:lnTo>
                  <a:pt x="2241363" y="623000"/>
                </a:lnTo>
                <a:lnTo>
                  <a:pt x="2218841" y="583667"/>
                </a:lnTo>
                <a:lnTo>
                  <a:pt x="2194910" y="545288"/>
                </a:lnTo>
                <a:lnTo>
                  <a:pt x="2169604" y="507898"/>
                </a:lnTo>
                <a:lnTo>
                  <a:pt x="2142960" y="471533"/>
                </a:lnTo>
                <a:lnTo>
                  <a:pt x="2115014" y="436230"/>
                </a:lnTo>
                <a:lnTo>
                  <a:pt x="2085800" y="402025"/>
                </a:lnTo>
                <a:lnTo>
                  <a:pt x="2055356" y="368953"/>
                </a:lnTo>
                <a:lnTo>
                  <a:pt x="2023716" y="337050"/>
                </a:lnTo>
                <a:lnTo>
                  <a:pt x="1990916" y="306353"/>
                </a:lnTo>
                <a:lnTo>
                  <a:pt x="1956992" y="276897"/>
                </a:lnTo>
                <a:lnTo>
                  <a:pt x="1921979" y="248719"/>
                </a:lnTo>
                <a:lnTo>
                  <a:pt x="1885914" y="221854"/>
                </a:lnTo>
                <a:lnTo>
                  <a:pt x="1848832" y="196338"/>
                </a:lnTo>
                <a:lnTo>
                  <a:pt x="1810768" y="172208"/>
                </a:lnTo>
                <a:lnTo>
                  <a:pt x="1771758" y="149499"/>
                </a:lnTo>
                <a:lnTo>
                  <a:pt x="1731839" y="128247"/>
                </a:lnTo>
                <a:lnTo>
                  <a:pt x="1691045" y="108489"/>
                </a:lnTo>
                <a:lnTo>
                  <a:pt x="1649413" y="90260"/>
                </a:lnTo>
                <a:lnTo>
                  <a:pt x="1606977" y="73596"/>
                </a:lnTo>
                <a:lnTo>
                  <a:pt x="1563775" y="58534"/>
                </a:lnTo>
                <a:lnTo>
                  <a:pt x="1519841" y="45109"/>
                </a:lnTo>
                <a:lnTo>
                  <a:pt x="1475210" y="33357"/>
                </a:lnTo>
                <a:lnTo>
                  <a:pt x="1429920" y="23314"/>
                </a:lnTo>
                <a:lnTo>
                  <a:pt x="1384006" y="15017"/>
                </a:lnTo>
                <a:lnTo>
                  <a:pt x="1337502" y="8501"/>
                </a:lnTo>
                <a:lnTo>
                  <a:pt x="1290445" y="3802"/>
                </a:lnTo>
                <a:lnTo>
                  <a:pt x="1242871" y="956"/>
                </a:lnTo>
                <a:lnTo>
                  <a:pt x="1194815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379465" y="3020059"/>
            <a:ext cx="14306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129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Arial"/>
                <a:cs typeface="Arial"/>
              </a:rPr>
              <a:t>Service Providers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8401811" y="2200655"/>
            <a:ext cx="2390140" cy="2409825"/>
          </a:xfrm>
          <a:custGeom>
            <a:avLst/>
            <a:gdLst/>
            <a:ahLst/>
            <a:cxnLst/>
            <a:rect l="l" t="t" r="r" b="b"/>
            <a:pathLst>
              <a:path w="2390140" h="2409825">
                <a:moveTo>
                  <a:pt x="1194816" y="0"/>
                </a:moveTo>
                <a:lnTo>
                  <a:pt x="1146760" y="956"/>
                </a:lnTo>
                <a:lnTo>
                  <a:pt x="1099186" y="3802"/>
                </a:lnTo>
                <a:lnTo>
                  <a:pt x="1052129" y="8501"/>
                </a:lnTo>
                <a:lnTo>
                  <a:pt x="1005625" y="15017"/>
                </a:lnTo>
                <a:lnTo>
                  <a:pt x="959711" y="23314"/>
                </a:lnTo>
                <a:lnTo>
                  <a:pt x="914421" y="33357"/>
                </a:lnTo>
                <a:lnTo>
                  <a:pt x="869790" y="45109"/>
                </a:lnTo>
                <a:lnTo>
                  <a:pt x="825856" y="58534"/>
                </a:lnTo>
                <a:lnTo>
                  <a:pt x="782654" y="73596"/>
                </a:lnTo>
                <a:lnTo>
                  <a:pt x="740218" y="90260"/>
                </a:lnTo>
                <a:lnTo>
                  <a:pt x="698586" y="108489"/>
                </a:lnTo>
                <a:lnTo>
                  <a:pt x="657792" y="128247"/>
                </a:lnTo>
                <a:lnTo>
                  <a:pt x="617873" y="149499"/>
                </a:lnTo>
                <a:lnTo>
                  <a:pt x="578863" y="172208"/>
                </a:lnTo>
                <a:lnTo>
                  <a:pt x="540799" y="196338"/>
                </a:lnTo>
                <a:lnTo>
                  <a:pt x="503717" y="221854"/>
                </a:lnTo>
                <a:lnTo>
                  <a:pt x="467652" y="248719"/>
                </a:lnTo>
                <a:lnTo>
                  <a:pt x="432639" y="276897"/>
                </a:lnTo>
                <a:lnTo>
                  <a:pt x="398715" y="306353"/>
                </a:lnTo>
                <a:lnTo>
                  <a:pt x="365915" y="337050"/>
                </a:lnTo>
                <a:lnTo>
                  <a:pt x="334275" y="368953"/>
                </a:lnTo>
                <a:lnTo>
                  <a:pt x="303831" y="402025"/>
                </a:lnTo>
                <a:lnTo>
                  <a:pt x="274617" y="436230"/>
                </a:lnTo>
                <a:lnTo>
                  <a:pt x="246671" y="471533"/>
                </a:lnTo>
                <a:lnTo>
                  <a:pt x="220027" y="507898"/>
                </a:lnTo>
                <a:lnTo>
                  <a:pt x="194721" y="545288"/>
                </a:lnTo>
                <a:lnTo>
                  <a:pt x="170790" y="583667"/>
                </a:lnTo>
                <a:lnTo>
                  <a:pt x="148268" y="623000"/>
                </a:lnTo>
                <a:lnTo>
                  <a:pt x="127191" y="663250"/>
                </a:lnTo>
                <a:lnTo>
                  <a:pt x="107595" y="704382"/>
                </a:lnTo>
                <a:lnTo>
                  <a:pt x="89517" y="746360"/>
                </a:lnTo>
                <a:lnTo>
                  <a:pt x="72990" y="789147"/>
                </a:lnTo>
                <a:lnTo>
                  <a:pt x="58052" y="832707"/>
                </a:lnTo>
                <a:lnTo>
                  <a:pt x="44737" y="877005"/>
                </a:lnTo>
                <a:lnTo>
                  <a:pt x="33082" y="922005"/>
                </a:lnTo>
                <a:lnTo>
                  <a:pt x="23122" y="967670"/>
                </a:lnTo>
                <a:lnTo>
                  <a:pt x="14893" y="1013965"/>
                </a:lnTo>
                <a:lnTo>
                  <a:pt x="8431" y="1060854"/>
                </a:lnTo>
                <a:lnTo>
                  <a:pt x="3771" y="1108300"/>
                </a:lnTo>
                <a:lnTo>
                  <a:pt x="948" y="1156268"/>
                </a:lnTo>
                <a:lnTo>
                  <a:pt x="0" y="1204722"/>
                </a:lnTo>
                <a:lnTo>
                  <a:pt x="948" y="1253175"/>
                </a:lnTo>
                <a:lnTo>
                  <a:pt x="3771" y="1301143"/>
                </a:lnTo>
                <a:lnTo>
                  <a:pt x="8431" y="1348589"/>
                </a:lnTo>
                <a:lnTo>
                  <a:pt x="14893" y="1395478"/>
                </a:lnTo>
                <a:lnTo>
                  <a:pt x="23122" y="1441773"/>
                </a:lnTo>
                <a:lnTo>
                  <a:pt x="33082" y="1487438"/>
                </a:lnTo>
                <a:lnTo>
                  <a:pt x="44737" y="1532438"/>
                </a:lnTo>
                <a:lnTo>
                  <a:pt x="58052" y="1576736"/>
                </a:lnTo>
                <a:lnTo>
                  <a:pt x="72990" y="1620296"/>
                </a:lnTo>
                <a:lnTo>
                  <a:pt x="89517" y="1663083"/>
                </a:lnTo>
                <a:lnTo>
                  <a:pt x="107595" y="1705061"/>
                </a:lnTo>
                <a:lnTo>
                  <a:pt x="127191" y="1746193"/>
                </a:lnTo>
                <a:lnTo>
                  <a:pt x="148268" y="1786443"/>
                </a:lnTo>
                <a:lnTo>
                  <a:pt x="170790" y="1825776"/>
                </a:lnTo>
                <a:lnTo>
                  <a:pt x="194721" y="1864155"/>
                </a:lnTo>
                <a:lnTo>
                  <a:pt x="220027" y="1901545"/>
                </a:lnTo>
                <a:lnTo>
                  <a:pt x="246671" y="1937910"/>
                </a:lnTo>
                <a:lnTo>
                  <a:pt x="274617" y="1973213"/>
                </a:lnTo>
                <a:lnTo>
                  <a:pt x="303831" y="2007418"/>
                </a:lnTo>
                <a:lnTo>
                  <a:pt x="334275" y="2040490"/>
                </a:lnTo>
                <a:lnTo>
                  <a:pt x="365915" y="2072393"/>
                </a:lnTo>
                <a:lnTo>
                  <a:pt x="398715" y="2103090"/>
                </a:lnTo>
                <a:lnTo>
                  <a:pt x="432639" y="2132546"/>
                </a:lnTo>
                <a:lnTo>
                  <a:pt x="467652" y="2160724"/>
                </a:lnTo>
                <a:lnTo>
                  <a:pt x="503717" y="2187589"/>
                </a:lnTo>
                <a:lnTo>
                  <a:pt x="540799" y="2213105"/>
                </a:lnTo>
                <a:lnTo>
                  <a:pt x="578863" y="2237235"/>
                </a:lnTo>
                <a:lnTo>
                  <a:pt x="617873" y="2259944"/>
                </a:lnTo>
                <a:lnTo>
                  <a:pt x="657792" y="2281196"/>
                </a:lnTo>
                <a:lnTo>
                  <a:pt x="698586" y="2300954"/>
                </a:lnTo>
                <a:lnTo>
                  <a:pt x="740218" y="2319183"/>
                </a:lnTo>
                <a:lnTo>
                  <a:pt x="782654" y="2335847"/>
                </a:lnTo>
                <a:lnTo>
                  <a:pt x="825856" y="2350909"/>
                </a:lnTo>
                <a:lnTo>
                  <a:pt x="869790" y="2364334"/>
                </a:lnTo>
                <a:lnTo>
                  <a:pt x="914421" y="2376086"/>
                </a:lnTo>
                <a:lnTo>
                  <a:pt x="959711" y="2386129"/>
                </a:lnTo>
                <a:lnTo>
                  <a:pt x="1005625" y="2394426"/>
                </a:lnTo>
                <a:lnTo>
                  <a:pt x="1052129" y="2400942"/>
                </a:lnTo>
                <a:lnTo>
                  <a:pt x="1099186" y="2405641"/>
                </a:lnTo>
                <a:lnTo>
                  <a:pt x="1146760" y="2408487"/>
                </a:lnTo>
                <a:lnTo>
                  <a:pt x="1194816" y="2409444"/>
                </a:lnTo>
                <a:lnTo>
                  <a:pt x="1242871" y="2408487"/>
                </a:lnTo>
                <a:lnTo>
                  <a:pt x="1290445" y="2405641"/>
                </a:lnTo>
                <a:lnTo>
                  <a:pt x="1337502" y="2400942"/>
                </a:lnTo>
                <a:lnTo>
                  <a:pt x="1384006" y="2394426"/>
                </a:lnTo>
                <a:lnTo>
                  <a:pt x="1429920" y="2386129"/>
                </a:lnTo>
                <a:lnTo>
                  <a:pt x="1475210" y="2376086"/>
                </a:lnTo>
                <a:lnTo>
                  <a:pt x="1519841" y="2364334"/>
                </a:lnTo>
                <a:lnTo>
                  <a:pt x="1563775" y="2350909"/>
                </a:lnTo>
                <a:lnTo>
                  <a:pt x="1606977" y="2335847"/>
                </a:lnTo>
                <a:lnTo>
                  <a:pt x="1649413" y="2319183"/>
                </a:lnTo>
                <a:lnTo>
                  <a:pt x="1691045" y="2300954"/>
                </a:lnTo>
                <a:lnTo>
                  <a:pt x="1731839" y="2281196"/>
                </a:lnTo>
                <a:lnTo>
                  <a:pt x="1771758" y="2259944"/>
                </a:lnTo>
                <a:lnTo>
                  <a:pt x="1810768" y="2237235"/>
                </a:lnTo>
                <a:lnTo>
                  <a:pt x="1848832" y="2213105"/>
                </a:lnTo>
                <a:lnTo>
                  <a:pt x="1885914" y="2187589"/>
                </a:lnTo>
                <a:lnTo>
                  <a:pt x="1921979" y="2160724"/>
                </a:lnTo>
                <a:lnTo>
                  <a:pt x="1956992" y="2132546"/>
                </a:lnTo>
                <a:lnTo>
                  <a:pt x="1990916" y="2103090"/>
                </a:lnTo>
                <a:lnTo>
                  <a:pt x="2023716" y="2072393"/>
                </a:lnTo>
                <a:lnTo>
                  <a:pt x="2055356" y="2040490"/>
                </a:lnTo>
                <a:lnTo>
                  <a:pt x="2085800" y="2007418"/>
                </a:lnTo>
                <a:lnTo>
                  <a:pt x="2115014" y="1973213"/>
                </a:lnTo>
                <a:lnTo>
                  <a:pt x="2142960" y="1937910"/>
                </a:lnTo>
                <a:lnTo>
                  <a:pt x="2169604" y="1901545"/>
                </a:lnTo>
                <a:lnTo>
                  <a:pt x="2194910" y="1864155"/>
                </a:lnTo>
                <a:lnTo>
                  <a:pt x="2218841" y="1825776"/>
                </a:lnTo>
                <a:lnTo>
                  <a:pt x="2241363" y="1786443"/>
                </a:lnTo>
                <a:lnTo>
                  <a:pt x="2262440" y="1746193"/>
                </a:lnTo>
                <a:lnTo>
                  <a:pt x="2282036" y="1705061"/>
                </a:lnTo>
                <a:lnTo>
                  <a:pt x="2300114" y="1663083"/>
                </a:lnTo>
                <a:lnTo>
                  <a:pt x="2316641" y="1620296"/>
                </a:lnTo>
                <a:lnTo>
                  <a:pt x="2331579" y="1576736"/>
                </a:lnTo>
                <a:lnTo>
                  <a:pt x="2344894" y="1532438"/>
                </a:lnTo>
                <a:lnTo>
                  <a:pt x="2356549" y="1487438"/>
                </a:lnTo>
                <a:lnTo>
                  <a:pt x="2366509" y="1441773"/>
                </a:lnTo>
                <a:lnTo>
                  <a:pt x="2374738" y="1395478"/>
                </a:lnTo>
                <a:lnTo>
                  <a:pt x="2381200" y="1348589"/>
                </a:lnTo>
                <a:lnTo>
                  <a:pt x="2385860" y="1301143"/>
                </a:lnTo>
                <a:lnTo>
                  <a:pt x="2388683" y="1253175"/>
                </a:lnTo>
                <a:lnTo>
                  <a:pt x="2389632" y="1204722"/>
                </a:lnTo>
                <a:lnTo>
                  <a:pt x="2388683" y="1156268"/>
                </a:lnTo>
                <a:lnTo>
                  <a:pt x="2385860" y="1108300"/>
                </a:lnTo>
                <a:lnTo>
                  <a:pt x="2381200" y="1060854"/>
                </a:lnTo>
                <a:lnTo>
                  <a:pt x="2374738" y="1013965"/>
                </a:lnTo>
                <a:lnTo>
                  <a:pt x="2366509" y="967670"/>
                </a:lnTo>
                <a:lnTo>
                  <a:pt x="2356549" y="922005"/>
                </a:lnTo>
                <a:lnTo>
                  <a:pt x="2344894" y="877005"/>
                </a:lnTo>
                <a:lnTo>
                  <a:pt x="2331579" y="832707"/>
                </a:lnTo>
                <a:lnTo>
                  <a:pt x="2316641" y="789147"/>
                </a:lnTo>
                <a:lnTo>
                  <a:pt x="2300114" y="746360"/>
                </a:lnTo>
                <a:lnTo>
                  <a:pt x="2282036" y="704382"/>
                </a:lnTo>
                <a:lnTo>
                  <a:pt x="2262440" y="663250"/>
                </a:lnTo>
                <a:lnTo>
                  <a:pt x="2241363" y="623000"/>
                </a:lnTo>
                <a:lnTo>
                  <a:pt x="2218841" y="583667"/>
                </a:lnTo>
                <a:lnTo>
                  <a:pt x="2194910" y="545288"/>
                </a:lnTo>
                <a:lnTo>
                  <a:pt x="2169604" y="507898"/>
                </a:lnTo>
                <a:lnTo>
                  <a:pt x="2142960" y="471533"/>
                </a:lnTo>
                <a:lnTo>
                  <a:pt x="2115014" y="436230"/>
                </a:lnTo>
                <a:lnTo>
                  <a:pt x="2085800" y="402025"/>
                </a:lnTo>
                <a:lnTo>
                  <a:pt x="2055356" y="368953"/>
                </a:lnTo>
                <a:lnTo>
                  <a:pt x="2023716" y="337050"/>
                </a:lnTo>
                <a:lnTo>
                  <a:pt x="1990916" y="306353"/>
                </a:lnTo>
                <a:lnTo>
                  <a:pt x="1956992" y="276897"/>
                </a:lnTo>
                <a:lnTo>
                  <a:pt x="1921979" y="248719"/>
                </a:lnTo>
                <a:lnTo>
                  <a:pt x="1885914" y="221854"/>
                </a:lnTo>
                <a:lnTo>
                  <a:pt x="1848832" y="196338"/>
                </a:lnTo>
                <a:lnTo>
                  <a:pt x="1810768" y="172208"/>
                </a:lnTo>
                <a:lnTo>
                  <a:pt x="1771758" y="149499"/>
                </a:lnTo>
                <a:lnTo>
                  <a:pt x="1731839" y="128247"/>
                </a:lnTo>
                <a:lnTo>
                  <a:pt x="1691045" y="108489"/>
                </a:lnTo>
                <a:lnTo>
                  <a:pt x="1649413" y="90260"/>
                </a:lnTo>
                <a:lnTo>
                  <a:pt x="1606977" y="73596"/>
                </a:lnTo>
                <a:lnTo>
                  <a:pt x="1563775" y="58534"/>
                </a:lnTo>
                <a:lnTo>
                  <a:pt x="1519841" y="45109"/>
                </a:lnTo>
                <a:lnTo>
                  <a:pt x="1475210" y="33357"/>
                </a:lnTo>
                <a:lnTo>
                  <a:pt x="1429920" y="23314"/>
                </a:lnTo>
                <a:lnTo>
                  <a:pt x="1384006" y="15017"/>
                </a:lnTo>
                <a:lnTo>
                  <a:pt x="1337502" y="8501"/>
                </a:lnTo>
                <a:lnTo>
                  <a:pt x="1290445" y="3802"/>
                </a:lnTo>
                <a:lnTo>
                  <a:pt x="1242871" y="956"/>
                </a:lnTo>
                <a:lnTo>
                  <a:pt x="119481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179432" y="3020059"/>
            <a:ext cx="8388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223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latin typeface="Arial"/>
                <a:cs typeface="Arial"/>
              </a:rPr>
              <a:t>Tech </a:t>
            </a:r>
            <a:r>
              <a:rPr dirty="0" sz="2400" spc="-10" b="1">
                <a:latin typeface="Arial"/>
                <a:cs typeface="Arial"/>
              </a:rPr>
              <a:t>Stack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08100" y="4978400"/>
            <a:ext cx="3262629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applications,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waves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new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‘AI-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Natives,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Growing</a:t>
            </a:r>
            <a:r>
              <a:rPr dirty="0" sz="18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modernization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08170" y="4966207"/>
            <a:ext cx="32232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Consulting,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FMs-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as-a-Service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910830" y="4966207"/>
            <a:ext cx="28054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FMs-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as-a-Service,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AIChips,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vector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database,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HPC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ETT</a:t>
            </a:r>
            <a:r>
              <a:rPr dirty="0" spc="-4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Case</a:t>
            </a:r>
            <a:r>
              <a:rPr dirty="0" spc="-6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Based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Research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(CBR)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462481"/>
            <a:ext cx="10576560" cy="413512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57810" marR="36830" indent="-245745">
              <a:lnSpc>
                <a:spcPts val="3030"/>
              </a:lnSpc>
              <a:spcBef>
                <a:spcPts val="475"/>
              </a:spcBef>
              <a:buChar char="•"/>
              <a:tabLst>
                <a:tab pos="259079" algn="l"/>
              </a:tabLst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800" spc="-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structured</a:t>
            </a:r>
            <a:r>
              <a:rPr dirty="0" sz="28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dirty="0" sz="2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study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seeking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reveal</a:t>
            </a:r>
            <a:r>
              <a:rPr dirty="0" sz="28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ongoing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28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demands</a:t>
            </a:r>
            <a:r>
              <a:rPr dirty="0" sz="28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8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emerging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technologies.</a:t>
            </a:r>
            <a:endParaRPr sz="2800">
              <a:latin typeface="Arial"/>
              <a:cs typeface="Arial"/>
            </a:endParaRPr>
          </a:p>
          <a:p>
            <a:pPr marL="257810" marR="261620" indent="-245745">
              <a:lnSpc>
                <a:spcPts val="3020"/>
              </a:lnSpc>
              <a:spcBef>
                <a:spcPts val="1195"/>
              </a:spcBef>
              <a:buChar char="•"/>
              <a:tabLst>
                <a:tab pos="259079" algn="l"/>
              </a:tabLst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Interviewed</a:t>
            </a:r>
            <a:r>
              <a:rPr dirty="0" sz="28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(30)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vendors</a:t>
            </a:r>
            <a:r>
              <a:rPr dirty="0" sz="28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offering</a:t>
            </a:r>
            <a:r>
              <a:rPr dirty="0" sz="28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software/platforms</a:t>
            </a:r>
            <a:r>
              <a:rPr dirty="0" sz="28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enabled</a:t>
            </a:r>
            <a:r>
              <a:rPr dirty="0" sz="2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by 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dirty="0" sz="2800" spc="-1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AI.</a:t>
            </a:r>
            <a:endParaRPr sz="28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830"/>
              </a:spcBef>
              <a:buChar char="•"/>
              <a:tabLst>
                <a:tab pos="258445" algn="l"/>
              </a:tabLst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Collected</a:t>
            </a:r>
            <a:r>
              <a:rPr dirty="0" sz="28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nearly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100</a:t>
            </a:r>
            <a:r>
              <a:rPr dirty="0" sz="28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case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studies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8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related</a:t>
            </a:r>
            <a:r>
              <a:rPr dirty="0" sz="2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cases.</a:t>
            </a:r>
            <a:endParaRPr sz="2800">
              <a:latin typeface="Arial"/>
              <a:cs typeface="Arial"/>
            </a:endParaRPr>
          </a:p>
          <a:p>
            <a:pPr marL="257810" marR="289560" indent="-245745">
              <a:lnSpc>
                <a:spcPts val="3020"/>
              </a:lnSpc>
              <a:spcBef>
                <a:spcPts val="1245"/>
              </a:spcBef>
              <a:buChar char="•"/>
              <a:tabLst>
                <a:tab pos="259079" algn="l"/>
              </a:tabLst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dirty="0" sz="2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survey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dirty="0" sz="2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spanned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Q4-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22</a:t>
            </a:r>
            <a:r>
              <a:rPr dirty="0" sz="28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through</a:t>
            </a:r>
            <a:r>
              <a:rPr dirty="0" sz="2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Q1-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23</a:t>
            </a:r>
            <a:r>
              <a:rPr dirty="0" sz="2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(with</a:t>
            </a:r>
            <a:r>
              <a:rPr dirty="0" sz="2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few 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additional</a:t>
            </a:r>
            <a:r>
              <a:rPr dirty="0" sz="28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engagement</a:t>
            </a:r>
            <a:r>
              <a:rPr dirty="0" sz="2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Q2-</a:t>
            </a:r>
            <a:r>
              <a:rPr dirty="0" sz="2800" spc="-20">
                <a:solidFill>
                  <a:srgbClr val="FFFFFF"/>
                </a:solidFill>
                <a:latin typeface="Arial"/>
                <a:cs typeface="Arial"/>
              </a:rPr>
              <a:t>23).</a:t>
            </a:r>
            <a:endParaRPr sz="2800">
              <a:latin typeface="Arial"/>
              <a:cs typeface="Arial"/>
            </a:endParaRPr>
          </a:p>
          <a:p>
            <a:pPr marL="257810" marR="5080" indent="-245745">
              <a:lnSpc>
                <a:spcPts val="3020"/>
              </a:lnSpc>
              <a:spcBef>
                <a:spcPts val="1210"/>
              </a:spcBef>
              <a:buChar char="•"/>
              <a:tabLst>
                <a:tab pos="259079" algn="l"/>
              </a:tabLst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Published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8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CBR</a:t>
            </a:r>
            <a:r>
              <a:rPr dirty="0" sz="2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study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currently</a:t>
            </a:r>
            <a:r>
              <a:rPr dirty="0" sz="28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available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800" spc="-2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several</a:t>
            </a:r>
            <a:r>
              <a:rPr dirty="0" sz="28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documents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process.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353311"/>
            <a:ext cx="1755775" cy="3291840"/>
          </a:xfrm>
          <a:custGeom>
            <a:avLst/>
            <a:gdLst/>
            <a:ahLst/>
            <a:cxnLst/>
            <a:rect l="l" t="t" r="r" b="b"/>
            <a:pathLst>
              <a:path w="1755775" h="3291840">
                <a:moveTo>
                  <a:pt x="1755648" y="0"/>
                </a:moveTo>
                <a:lnTo>
                  <a:pt x="0" y="0"/>
                </a:lnTo>
                <a:lnTo>
                  <a:pt x="0" y="3291840"/>
                </a:lnTo>
                <a:lnTo>
                  <a:pt x="1755648" y="3291840"/>
                </a:lnTo>
                <a:lnTo>
                  <a:pt x="1755648" y="0"/>
                </a:lnTo>
                <a:close/>
              </a:path>
            </a:pathLst>
          </a:custGeom>
          <a:solidFill>
            <a:srgbClr val="009A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141464" y="1353311"/>
            <a:ext cx="5047615" cy="3291840"/>
          </a:xfrm>
          <a:custGeom>
            <a:avLst/>
            <a:gdLst/>
            <a:ahLst/>
            <a:cxnLst/>
            <a:rect l="l" t="t" r="r" b="b"/>
            <a:pathLst>
              <a:path w="5047615" h="3291840">
                <a:moveTo>
                  <a:pt x="5047487" y="0"/>
                </a:moveTo>
                <a:lnTo>
                  <a:pt x="0" y="0"/>
                </a:lnTo>
                <a:lnTo>
                  <a:pt x="0" y="3291840"/>
                </a:lnTo>
                <a:lnTo>
                  <a:pt x="5047487" y="3291840"/>
                </a:lnTo>
                <a:lnTo>
                  <a:pt x="5047487" y="0"/>
                </a:lnTo>
                <a:close/>
              </a:path>
            </a:pathLst>
          </a:custGeom>
          <a:solidFill>
            <a:srgbClr val="009A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44954" y="2712542"/>
            <a:ext cx="234950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2935" algn="l"/>
              </a:tabLst>
            </a:pPr>
            <a:r>
              <a:rPr dirty="0" spc="-25">
                <a:solidFill>
                  <a:srgbClr val="FFFFFF"/>
                </a:solidFill>
              </a:rPr>
              <a:t>AI</a:t>
            </a:r>
            <a:r>
              <a:rPr dirty="0">
                <a:solidFill>
                  <a:srgbClr val="FFFFFF"/>
                </a:solidFill>
              </a:rPr>
              <a:t>	</a:t>
            </a:r>
            <a:r>
              <a:rPr dirty="0" spc="-10">
                <a:solidFill>
                  <a:srgbClr val="FFFFFF"/>
                </a:solidFill>
              </a:rPr>
              <a:t>Avatars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AI</a:t>
            </a:r>
            <a:r>
              <a:rPr dirty="0" spc="-7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Avatars</a:t>
            </a:r>
            <a:r>
              <a:rPr dirty="0" spc="-9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Are</a:t>
            </a:r>
            <a:r>
              <a:rPr dirty="0" spc="-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Complex</a:t>
            </a:r>
            <a:r>
              <a:rPr dirty="0" spc="-8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Technological</a:t>
            </a:r>
            <a:r>
              <a:rPr dirty="0" spc="-9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Creations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3768" y="3419855"/>
            <a:ext cx="2036064" cy="213360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69163" y="1493519"/>
            <a:ext cx="11977370" cy="4213860"/>
            <a:chOff x="169163" y="1493519"/>
            <a:chExt cx="11977370" cy="421386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3752" y="1493519"/>
              <a:ext cx="3462528" cy="188061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163" y="1493519"/>
              <a:ext cx="8514588" cy="4213859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359460" y="5906820"/>
            <a:ext cx="8368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97860" marR="5080" indent="-318579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Vendors:</a:t>
            </a:r>
            <a:r>
              <a:rPr dirty="0" sz="12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Amelia;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DAVI;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Openstream.ai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(Eva);</a:t>
            </a:r>
            <a:r>
              <a:rPr dirty="0" sz="12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Klleon,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NVIDIA</a:t>
            </a:r>
            <a:r>
              <a:rPr dirty="0" sz="12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(Omniverse</a:t>
            </a:r>
            <a:r>
              <a:rPr dirty="0" sz="12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Avatar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r>
              <a:rPr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Engine);</a:t>
            </a:r>
            <a:r>
              <a:rPr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Rephrase.ai,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Soul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Machines;</a:t>
            </a:r>
            <a:r>
              <a:rPr dirty="0" sz="12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Synthesia,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UneeQ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74701"/>
            <a:ext cx="10789920" cy="953135"/>
          </a:xfrm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  <a:tabLst>
                <a:tab pos="622935" algn="l"/>
              </a:tabLst>
            </a:pPr>
            <a:r>
              <a:rPr dirty="0">
                <a:solidFill>
                  <a:srgbClr val="FFFFFF"/>
                </a:solidFill>
              </a:rPr>
              <a:t>Advanced</a:t>
            </a:r>
            <a:r>
              <a:rPr dirty="0" spc="-5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</a:t>
            </a:r>
            <a:r>
              <a:rPr dirty="0" spc="-4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Generative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AI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Speed</a:t>
            </a:r>
            <a:r>
              <a:rPr dirty="0" spc="-4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Up</a:t>
            </a:r>
            <a:r>
              <a:rPr dirty="0" spc="-4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Creation</a:t>
            </a:r>
            <a:r>
              <a:rPr dirty="0" spc="-40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of AI</a:t>
            </a:r>
            <a:r>
              <a:rPr dirty="0">
                <a:solidFill>
                  <a:srgbClr val="FFFFFF"/>
                </a:solidFill>
              </a:rPr>
              <a:t>	Avatars</a:t>
            </a:r>
            <a:r>
              <a:rPr dirty="0" spc="-5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and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Open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Up</a:t>
            </a:r>
            <a:r>
              <a:rPr dirty="0" spc="-4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New</a:t>
            </a:r>
            <a:r>
              <a:rPr dirty="0" spc="-4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Use</a:t>
            </a:r>
            <a:r>
              <a:rPr dirty="0" spc="-4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Cases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943" y="1816607"/>
            <a:ext cx="2057400" cy="1612391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218183" y="1418844"/>
            <a:ext cx="4638675" cy="4140200"/>
            <a:chOff x="1218183" y="1418844"/>
            <a:chExt cx="4638675" cy="41402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9067" y="1418844"/>
              <a:ext cx="3407663" cy="22478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3583" y="3625595"/>
              <a:ext cx="3390900" cy="190804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230883" y="3612895"/>
              <a:ext cx="3416300" cy="1933575"/>
            </a:xfrm>
            <a:custGeom>
              <a:avLst/>
              <a:gdLst/>
              <a:ahLst/>
              <a:cxnLst/>
              <a:rect l="l" t="t" r="r" b="b"/>
              <a:pathLst>
                <a:path w="3416300" h="1933575">
                  <a:moveTo>
                    <a:pt x="0" y="1933447"/>
                  </a:moveTo>
                  <a:lnTo>
                    <a:pt x="3416300" y="1933447"/>
                  </a:lnTo>
                  <a:lnTo>
                    <a:pt x="3416300" y="0"/>
                  </a:lnTo>
                  <a:lnTo>
                    <a:pt x="0" y="0"/>
                  </a:lnTo>
                  <a:lnTo>
                    <a:pt x="0" y="1933447"/>
                  </a:lnTo>
                  <a:close/>
                </a:path>
              </a:pathLst>
            </a:custGeom>
            <a:ln w="25399">
              <a:solidFill>
                <a:srgbClr val="969D9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30376" y="1472565"/>
            <a:ext cx="10331450" cy="4783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054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Case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examples: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800">
              <a:latin typeface="Arial"/>
              <a:cs typeface="Arial"/>
            </a:endParaRPr>
          </a:p>
          <a:p>
            <a:pPr marL="5752465" indent="-247015">
              <a:lnSpc>
                <a:spcPct val="100000"/>
              </a:lnSpc>
              <a:buChar char="•"/>
              <a:tabLst>
                <a:tab pos="5752465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representatives</a:t>
            </a:r>
            <a:endParaRPr sz="1800">
              <a:latin typeface="Arial"/>
              <a:cs typeface="Arial"/>
            </a:endParaRPr>
          </a:p>
          <a:p>
            <a:pPr marL="5752465" indent="-247015">
              <a:lnSpc>
                <a:spcPct val="100000"/>
              </a:lnSpc>
              <a:spcBef>
                <a:spcPts val="990"/>
              </a:spcBef>
              <a:buChar char="•"/>
              <a:tabLst>
                <a:tab pos="5752465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Virtual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salesperson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financial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advisor</a:t>
            </a:r>
            <a:endParaRPr sz="1800">
              <a:latin typeface="Arial"/>
              <a:cs typeface="Arial"/>
            </a:endParaRPr>
          </a:p>
          <a:p>
            <a:pPr marL="5752465" marR="304800" indent="-247015">
              <a:lnSpc>
                <a:spcPts val="1939"/>
              </a:lnSpc>
              <a:spcBef>
                <a:spcPts val="1230"/>
              </a:spcBef>
              <a:buChar char="•"/>
              <a:tabLst>
                <a:tab pos="5752465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Supporting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virtual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coworking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collaboration.</a:t>
            </a:r>
            <a:endParaRPr sz="1800">
              <a:latin typeface="Arial"/>
              <a:cs typeface="Arial"/>
            </a:endParaRPr>
          </a:p>
          <a:p>
            <a:pPr marL="5752465" indent="-247015">
              <a:lnSpc>
                <a:spcPts val="2055"/>
              </a:lnSpc>
              <a:spcBef>
                <a:spcPts val="960"/>
              </a:spcBef>
              <a:buChar char="•"/>
              <a:tabLst>
                <a:tab pos="5752465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assistant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kiosk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airport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or</a:t>
            </a:r>
            <a:endParaRPr sz="1800">
              <a:latin typeface="Arial"/>
              <a:cs typeface="Arial"/>
            </a:endParaRPr>
          </a:p>
          <a:p>
            <a:pPr marL="5752465">
              <a:lnSpc>
                <a:spcPts val="2055"/>
              </a:lnSpc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social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venue.</a:t>
            </a:r>
            <a:endParaRPr sz="1800">
              <a:latin typeface="Arial"/>
              <a:cs typeface="Arial"/>
            </a:endParaRPr>
          </a:p>
          <a:p>
            <a:pPr marL="5752465" marR="186055" indent="-247015">
              <a:lnSpc>
                <a:spcPts val="1939"/>
              </a:lnSpc>
              <a:spcBef>
                <a:spcPts val="1235"/>
              </a:spcBef>
              <a:buChar char="•"/>
              <a:tabLst>
                <a:tab pos="5752465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assistant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(possibly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metaverse)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employees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students.</a:t>
            </a:r>
            <a:endParaRPr sz="1800">
              <a:latin typeface="Arial"/>
              <a:cs typeface="Arial"/>
            </a:endParaRPr>
          </a:p>
          <a:p>
            <a:pPr marL="5752465" indent="-247015">
              <a:lnSpc>
                <a:spcPts val="2050"/>
              </a:lnSpc>
              <a:spcBef>
                <a:spcPts val="960"/>
              </a:spcBef>
              <a:buChar char="•"/>
              <a:tabLst>
                <a:tab pos="5752465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Virtual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presence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entertainment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events,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endParaRPr sz="1800">
              <a:latin typeface="Arial"/>
              <a:cs typeface="Arial"/>
            </a:endParaRPr>
          </a:p>
          <a:p>
            <a:pPr marL="5752465">
              <a:lnSpc>
                <a:spcPts val="2050"/>
              </a:lnSpc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virtual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concert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gallery.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Arial"/>
              <a:cs typeface="Arial"/>
            </a:endParaRPr>
          </a:p>
          <a:p>
            <a:pPr marL="784860" marR="802005" indent="-772795">
              <a:lnSpc>
                <a:spcPct val="100000"/>
              </a:lnSpc>
            </a:pP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By</a:t>
            </a:r>
            <a:r>
              <a:rPr dirty="0" sz="1800" spc="-5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2025,</a:t>
            </a:r>
            <a:r>
              <a:rPr dirty="0" sz="1800" spc="-9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AI</a:t>
            </a:r>
            <a:r>
              <a:rPr dirty="0" sz="1800" spc="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avatars</a:t>
            </a:r>
            <a:r>
              <a:rPr dirty="0" sz="1800" spc="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leveraging</a:t>
            </a:r>
            <a:r>
              <a:rPr dirty="0" sz="1800" spc="-1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5309"/>
                </a:solidFill>
                <a:latin typeface="Arial"/>
                <a:cs typeface="Arial"/>
              </a:rPr>
              <a:t>text-to-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video</a:t>
            </a:r>
            <a:r>
              <a:rPr dirty="0" sz="1800" spc="-1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using</a:t>
            </a:r>
            <a:r>
              <a:rPr dirty="0" sz="1800" spc="-4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generative</a:t>
            </a:r>
            <a:r>
              <a:rPr dirty="0" sz="1800" spc="-6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AI technology</a:t>
            </a:r>
            <a:r>
              <a:rPr dirty="0" sz="1800" spc="-7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will</a:t>
            </a:r>
            <a:r>
              <a:rPr dirty="0" sz="1800" spc="-7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5309"/>
                </a:solidFill>
                <a:latin typeface="Arial"/>
                <a:cs typeface="Arial"/>
              </a:rPr>
              <a:t>support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70%</a:t>
            </a:r>
            <a:r>
              <a:rPr dirty="0" sz="1800" spc="-2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of</a:t>
            </a:r>
            <a:r>
              <a:rPr dirty="0" sz="1800" spc="-2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digital</a:t>
            </a:r>
            <a:r>
              <a:rPr dirty="0" sz="1800" spc="-4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and</a:t>
            </a:r>
            <a:r>
              <a:rPr dirty="0" sz="1800" spc="-2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marketing</a:t>
            </a:r>
            <a:r>
              <a:rPr dirty="0" sz="1800" spc="-2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communications</a:t>
            </a:r>
            <a:r>
              <a:rPr dirty="0" sz="1800" spc="-3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from</a:t>
            </a:r>
            <a:r>
              <a:rPr dirty="0" sz="1800" spc="-2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less</a:t>
            </a:r>
            <a:r>
              <a:rPr dirty="0" sz="1800" spc="-1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than</a:t>
            </a:r>
            <a:r>
              <a:rPr dirty="0" sz="1800" spc="-2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5%</a:t>
            </a:r>
            <a:r>
              <a:rPr dirty="0" sz="1800" spc="-3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in</a:t>
            </a:r>
            <a:r>
              <a:rPr dirty="0" sz="1800" spc="-2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5309"/>
                </a:solidFill>
                <a:latin typeface="Arial"/>
                <a:cs typeface="Arial"/>
              </a:rPr>
              <a:t>2022.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74701"/>
            <a:ext cx="972375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AI</a:t>
            </a:r>
            <a:r>
              <a:rPr dirty="0" spc="-7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Avatar</a:t>
            </a:r>
            <a:r>
              <a:rPr dirty="0" spc="-7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Implications</a:t>
            </a:r>
            <a:r>
              <a:rPr dirty="0" spc="-9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&amp;</a:t>
            </a:r>
            <a:r>
              <a:rPr dirty="0" spc="-7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047953"/>
            <a:ext cx="11181715" cy="487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079" indent="-246379">
              <a:lnSpc>
                <a:spcPct val="100000"/>
              </a:lnSpc>
              <a:spcBef>
                <a:spcPts val="100"/>
              </a:spcBef>
              <a:buChar char="•"/>
              <a:tabLst>
                <a:tab pos="259079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Implications</a:t>
            </a:r>
            <a:endParaRPr sz="2400">
              <a:latin typeface="Arial"/>
              <a:cs typeface="Arial"/>
            </a:endParaRPr>
          </a:p>
          <a:p>
            <a:pPr lvl="1" marL="753110" indent="-311150">
              <a:lnSpc>
                <a:spcPct val="100000"/>
              </a:lnSpc>
              <a:spcBef>
                <a:spcPts val="50"/>
              </a:spcBef>
              <a:buFont typeface="Wingdings"/>
              <a:buChar char=""/>
              <a:tabLst>
                <a:tab pos="753110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avatars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leveraging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 i="1">
                <a:solidFill>
                  <a:srgbClr val="FFFFFF"/>
                </a:solidFill>
                <a:latin typeface="Arial"/>
                <a:cs typeface="Arial"/>
              </a:rPr>
              <a:t>text-to-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dirty="0" sz="1800" spc="-2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18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enhance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creativity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humanize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internal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endParaRPr sz="1800">
              <a:latin typeface="Arial"/>
              <a:cs typeface="Arial"/>
            </a:endParaRPr>
          </a:p>
          <a:p>
            <a:pPr marL="753110">
              <a:lnSpc>
                <a:spcPct val="100000"/>
              </a:lnSpc>
              <a:spcBef>
                <a:spcPts val="219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communications,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enabling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hyper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personalization.</a:t>
            </a:r>
            <a:endParaRPr sz="1800">
              <a:latin typeface="Arial"/>
              <a:cs typeface="Arial"/>
            </a:endParaRPr>
          </a:p>
          <a:p>
            <a:pPr lvl="1" marL="753110" marR="233679" indent="-311150">
              <a:lnSpc>
                <a:spcPct val="110000"/>
              </a:lnSpc>
              <a:buFont typeface="Wingdings"/>
              <a:buChar char=""/>
              <a:tabLst>
                <a:tab pos="753110" algn="l"/>
              </a:tabLst>
            </a:pP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Two</a:t>
            </a:r>
            <a:r>
              <a:rPr dirty="0" sz="1800" spc="-4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biggest</a:t>
            </a:r>
            <a:r>
              <a:rPr dirty="0" sz="1800" spc="-5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technical</a:t>
            </a:r>
            <a:r>
              <a:rPr dirty="0" sz="1800" spc="-3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challenges</a:t>
            </a:r>
            <a:r>
              <a:rPr dirty="0" sz="1800" spc="-8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combining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various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emerging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technologies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enable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realistic, human-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centered and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super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responsive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avatars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applying</a:t>
            </a:r>
            <a:r>
              <a:rPr dirty="0" sz="18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scale.</a:t>
            </a:r>
            <a:endParaRPr sz="1800">
              <a:latin typeface="Arial"/>
              <a:cs typeface="Arial"/>
            </a:endParaRPr>
          </a:p>
          <a:p>
            <a:pPr lvl="1" marL="753110" indent="-311150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753110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Concerns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deepfakes,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nascent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but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lagging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legal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protection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content,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responsible</a:t>
            </a:r>
            <a:endParaRPr sz="1800">
              <a:latin typeface="Arial"/>
              <a:cs typeface="Arial"/>
            </a:endParaRPr>
          </a:p>
          <a:p>
            <a:pPr marL="753110">
              <a:lnSpc>
                <a:spcPct val="100000"/>
              </a:lnSpc>
              <a:spcBef>
                <a:spcPts val="215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principles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challenges</a:t>
            </a:r>
            <a:r>
              <a:rPr dirty="0" sz="18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2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FFFFFF"/>
                </a:solidFill>
                <a:latin typeface="Arial"/>
                <a:cs typeface="Arial"/>
              </a:rPr>
              <a:t>scaling</a:t>
            </a:r>
            <a:r>
              <a:rPr dirty="0" sz="1800" spc="-5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future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avatar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deployments.</a:t>
            </a:r>
            <a:endParaRPr sz="18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1080"/>
              </a:spcBef>
              <a:buChar char="•"/>
              <a:tabLst>
                <a:tab pos="259079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Recommendations</a:t>
            </a:r>
            <a:endParaRPr sz="2400">
              <a:latin typeface="Arial"/>
              <a:cs typeface="Arial"/>
            </a:endParaRPr>
          </a:p>
          <a:p>
            <a:pPr lvl="1" marL="753110" indent="-311150">
              <a:lnSpc>
                <a:spcPts val="2050"/>
              </a:lnSpc>
              <a:spcBef>
                <a:spcPts val="1000"/>
              </a:spcBef>
              <a:buFont typeface="Wingdings"/>
              <a:buChar char=""/>
              <a:tabLst>
                <a:tab pos="753110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Identify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cases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avatars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quantifiable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products,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as</a:t>
            </a:r>
            <a:endParaRPr sz="1800">
              <a:latin typeface="Arial"/>
              <a:cs typeface="Arial"/>
            </a:endParaRPr>
          </a:p>
          <a:p>
            <a:pPr marL="753110">
              <a:lnSpc>
                <a:spcPts val="2050"/>
              </a:lnSpc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brand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ambassadors,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digital customer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care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reps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even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metaverse.</a:t>
            </a:r>
            <a:endParaRPr sz="1800">
              <a:latin typeface="Arial"/>
              <a:cs typeface="Arial"/>
            </a:endParaRPr>
          </a:p>
          <a:p>
            <a:pPr lvl="1" marL="753110" marR="673100" indent="-311150">
              <a:lnSpc>
                <a:spcPts val="1939"/>
              </a:lnSpc>
              <a:spcBef>
                <a:spcPts val="1235"/>
              </a:spcBef>
              <a:buFont typeface="Wingdings"/>
              <a:buChar char=""/>
              <a:tabLst>
                <a:tab pos="753110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Further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enhance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VA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offerings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integrating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synthetic voice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emotion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technology into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voice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interfaces,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avatars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kiosks,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virtual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immersive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environments.</a:t>
            </a:r>
            <a:endParaRPr sz="1800">
              <a:latin typeface="Arial"/>
              <a:cs typeface="Arial"/>
            </a:endParaRPr>
          </a:p>
          <a:p>
            <a:pPr lvl="1" marL="753110" marR="81280" indent="-311150">
              <a:lnSpc>
                <a:spcPts val="1939"/>
              </a:lnSpc>
              <a:spcBef>
                <a:spcPts val="1205"/>
              </a:spcBef>
              <a:buFont typeface="Wingdings"/>
              <a:buChar char=""/>
              <a:tabLst>
                <a:tab pos="753110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visually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realistic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avatars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determining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18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technological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elements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developed internally,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avatar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CGI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shells,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collaborating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pertinent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NLT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providers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like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synthetic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voice,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multimodal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emotion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AI.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353311"/>
            <a:ext cx="1755775" cy="3291840"/>
          </a:xfrm>
          <a:custGeom>
            <a:avLst/>
            <a:gdLst/>
            <a:ahLst/>
            <a:cxnLst/>
            <a:rect l="l" t="t" r="r" b="b"/>
            <a:pathLst>
              <a:path w="1755775" h="3291840">
                <a:moveTo>
                  <a:pt x="1755648" y="0"/>
                </a:moveTo>
                <a:lnTo>
                  <a:pt x="0" y="0"/>
                </a:lnTo>
                <a:lnTo>
                  <a:pt x="0" y="3291840"/>
                </a:lnTo>
                <a:lnTo>
                  <a:pt x="1755648" y="3291840"/>
                </a:lnTo>
                <a:lnTo>
                  <a:pt x="1755648" y="0"/>
                </a:lnTo>
                <a:close/>
              </a:path>
            </a:pathLst>
          </a:custGeom>
          <a:solidFill>
            <a:srgbClr val="05C4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141464" y="1353311"/>
            <a:ext cx="5047615" cy="3291840"/>
          </a:xfrm>
          <a:custGeom>
            <a:avLst/>
            <a:gdLst/>
            <a:ahLst/>
            <a:cxnLst/>
            <a:rect l="l" t="t" r="r" b="b"/>
            <a:pathLst>
              <a:path w="5047615" h="3291840">
                <a:moveTo>
                  <a:pt x="5047487" y="0"/>
                </a:moveTo>
                <a:lnTo>
                  <a:pt x="0" y="0"/>
                </a:lnTo>
                <a:lnTo>
                  <a:pt x="0" y="3291840"/>
                </a:lnTo>
                <a:lnTo>
                  <a:pt x="5047487" y="3291840"/>
                </a:lnTo>
                <a:lnTo>
                  <a:pt x="5047487" y="0"/>
                </a:lnTo>
                <a:close/>
              </a:path>
            </a:pathLst>
          </a:custGeom>
          <a:solidFill>
            <a:srgbClr val="05C4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44954" y="2712542"/>
            <a:ext cx="486410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AI-Generated</a:t>
            </a:r>
            <a:r>
              <a:rPr dirty="0" spc="-8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13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28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82244" y="6289954"/>
            <a:ext cx="12414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FFFFFF"/>
                </a:solidFill>
                <a:latin typeface="Arial"/>
                <a:cs typeface="Arial"/>
              </a:rPr>
              <a:t>RESTRICTED</a:t>
            </a:r>
            <a:r>
              <a:rPr dirty="0" sz="7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FFFFFF"/>
                </a:solidFill>
                <a:latin typeface="Arial"/>
                <a:cs typeface="Arial"/>
              </a:rPr>
              <a:t>DISTRIBUTION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6418579"/>
            <a:ext cx="2590165" cy="1320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94"/>
              </a:lnSpc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17</a:t>
            </a:r>
            <a:r>
              <a:rPr dirty="0" sz="1000" spc="3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z="7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z="7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z="7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z="7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z="7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affiliates. All</a:t>
            </a:r>
            <a:r>
              <a:rPr dirty="0" sz="7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z="700" spc="-1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2303"/>
            <a:ext cx="1280159" cy="2926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AI-Generated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Content</a:t>
            </a:r>
            <a:r>
              <a:rPr dirty="0" spc="-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–</a:t>
            </a:r>
            <a:r>
              <a:rPr dirty="0" spc="-7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Market</a:t>
            </a:r>
            <a:r>
              <a:rPr dirty="0" spc="-5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Landscape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2363723" y="1339596"/>
            <a:ext cx="6353175" cy="4733925"/>
            <a:chOff x="2363723" y="1339596"/>
            <a:chExt cx="6353175" cy="473392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2011" y="1357884"/>
              <a:ext cx="6313932" cy="469544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382773" y="1358646"/>
              <a:ext cx="6315075" cy="4695825"/>
            </a:xfrm>
            <a:custGeom>
              <a:avLst/>
              <a:gdLst/>
              <a:ahLst/>
              <a:cxnLst/>
              <a:rect l="l" t="t" r="r" b="b"/>
              <a:pathLst>
                <a:path w="6315075" h="4695825">
                  <a:moveTo>
                    <a:pt x="0" y="4695825"/>
                  </a:moveTo>
                  <a:lnTo>
                    <a:pt x="6315075" y="0"/>
                  </a:lnTo>
                </a:path>
              </a:pathLst>
            </a:custGeom>
            <a:ln w="38100">
              <a:solidFill>
                <a:srgbClr val="6E78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902708" y="6454140"/>
            <a:ext cx="1191895" cy="36893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314960">
              <a:lnSpc>
                <a:spcPct val="100000"/>
              </a:lnSpc>
              <a:spcBef>
                <a:spcPts val="320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7639" y="3238500"/>
            <a:ext cx="955675" cy="36893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315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99361" y="4957064"/>
            <a:ext cx="444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Text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99361" y="3272154"/>
            <a:ext cx="660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99361" y="1686814"/>
            <a:ext cx="6045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950834" y="6099454"/>
            <a:ext cx="6045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44185" y="6099454"/>
            <a:ext cx="660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002407" y="6117437"/>
            <a:ext cx="444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Text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367784" y="2424683"/>
            <a:ext cx="2764790" cy="2255520"/>
          </a:xfrm>
          <a:custGeom>
            <a:avLst/>
            <a:gdLst/>
            <a:ahLst/>
            <a:cxnLst/>
            <a:rect l="l" t="t" r="r" b="b"/>
            <a:pathLst>
              <a:path w="2764790" h="2255520">
                <a:moveTo>
                  <a:pt x="1382267" y="0"/>
                </a:moveTo>
                <a:lnTo>
                  <a:pt x="1329248" y="814"/>
                </a:lnTo>
                <a:lnTo>
                  <a:pt x="1276733" y="3238"/>
                </a:lnTo>
                <a:lnTo>
                  <a:pt x="1224758" y="7242"/>
                </a:lnTo>
                <a:lnTo>
                  <a:pt x="1173360" y="12796"/>
                </a:lnTo>
                <a:lnTo>
                  <a:pt x="1122574" y="19873"/>
                </a:lnTo>
                <a:lnTo>
                  <a:pt x="1072436" y="28442"/>
                </a:lnTo>
                <a:lnTo>
                  <a:pt x="1022982" y="38474"/>
                </a:lnTo>
                <a:lnTo>
                  <a:pt x="974248" y="49941"/>
                </a:lnTo>
                <a:lnTo>
                  <a:pt x="926268" y="62812"/>
                </a:lnTo>
                <a:lnTo>
                  <a:pt x="879080" y="77059"/>
                </a:lnTo>
                <a:lnTo>
                  <a:pt x="832719" y="92653"/>
                </a:lnTo>
                <a:lnTo>
                  <a:pt x="787221" y="109563"/>
                </a:lnTo>
                <a:lnTo>
                  <a:pt x="742621" y="127762"/>
                </a:lnTo>
                <a:lnTo>
                  <a:pt x="698956" y="147219"/>
                </a:lnTo>
                <a:lnTo>
                  <a:pt x="656260" y="167907"/>
                </a:lnTo>
                <a:lnTo>
                  <a:pt x="614571" y="189794"/>
                </a:lnTo>
                <a:lnTo>
                  <a:pt x="573923" y="212853"/>
                </a:lnTo>
                <a:lnTo>
                  <a:pt x="534353" y="237053"/>
                </a:lnTo>
                <a:lnTo>
                  <a:pt x="495896" y="262367"/>
                </a:lnTo>
                <a:lnTo>
                  <a:pt x="458588" y="288763"/>
                </a:lnTo>
                <a:lnTo>
                  <a:pt x="422465" y="316215"/>
                </a:lnTo>
                <a:lnTo>
                  <a:pt x="387563" y="344691"/>
                </a:lnTo>
                <a:lnTo>
                  <a:pt x="353918" y="374163"/>
                </a:lnTo>
                <a:lnTo>
                  <a:pt x="321565" y="404602"/>
                </a:lnTo>
                <a:lnTo>
                  <a:pt x="290539" y="435978"/>
                </a:lnTo>
                <a:lnTo>
                  <a:pt x="260878" y="468263"/>
                </a:lnTo>
                <a:lnTo>
                  <a:pt x="232616" y="501427"/>
                </a:lnTo>
                <a:lnTo>
                  <a:pt x="205790" y="535440"/>
                </a:lnTo>
                <a:lnTo>
                  <a:pt x="180436" y="570274"/>
                </a:lnTo>
                <a:lnTo>
                  <a:pt x="156588" y="605900"/>
                </a:lnTo>
                <a:lnTo>
                  <a:pt x="134283" y="642288"/>
                </a:lnTo>
                <a:lnTo>
                  <a:pt x="113557" y="679409"/>
                </a:lnTo>
                <a:lnTo>
                  <a:pt x="94445" y="717233"/>
                </a:lnTo>
                <a:lnTo>
                  <a:pt x="76984" y="755732"/>
                </a:lnTo>
                <a:lnTo>
                  <a:pt x="61208" y="794877"/>
                </a:lnTo>
                <a:lnTo>
                  <a:pt x="47155" y="834637"/>
                </a:lnTo>
                <a:lnTo>
                  <a:pt x="34859" y="874985"/>
                </a:lnTo>
                <a:lnTo>
                  <a:pt x="24357" y="915890"/>
                </a:lnTo>
                <a:lnTo>
                  <a:pt x="15684" y="957324"/>
                </a:lnTo>
                <a:lnTo>
                  <a:pt x="8875" y="999257"/>
                </a:lnTo>
                <a:lnTo>
                  <a:pt x="3968" y="1041660"/>
                </a:lnTo>
                <a:lnTo>
                  <a:pt x="998" y="1084504"/>
                </a:lnTo>
                <a:lnTo>
                  <a:pt x="0" y="1127760"/>
                </a:lnTo>
                <a:lnTo>
                  <a:pt x="998" y="1171015"/>
                </a:lnTo>
                <a:lnTo>
                  <a:pt x="3968" y="1213859"/>
                </a:lnTo>
                <a:lnTo>
                  <a:pt x="8875" y="1256262"/>
                </a:lnTo>
                <a:lnTo>
                  <a:pt x="15684" y="1298195"/>
                </a:lnTo>
                <a:lnTo>
                  <a:pt x="24357" y="1339629"/>
                </a:lnTo>
                <a:lnTo>
                  <a:pt x="34859" y="1380534"/>
                </a:lnTo>
                <a:lnTo>
                  <a:pt x="47155" y="1420882"/>
                </a:lnTo>
                <a:lnTo>
                  <a:pt x="61208" y="1460642"/>
                </a:lnTo>
                <a:lnTo>
                  <a:pt x="76984" y="1499787"/>
                </a:lnTo>
                <a:lnTo>
                  <a:pt x="94445" y="1538286"/>
                </a:lnTo>
                <a:lnTo>
                  <a:pt x="113557" y="1576110"/>
                </a:lnTo>
                <a:lnTo>
                  <a:pt x="134283" y="1613231"/>
                </a:lnTo>
                <a:lnTo>
                  <a:pt x="156588" y="1649619"/>
                </a:lnTo>
                <a:lnTo>
                  <a:pt x="180436" y="1685245"/>
                </a:lnTo>
                <a:lnTo>
                  <a:pt x="205790" y="1720079"/>
                </a:lnTo>
                <a:lnTo>
                  <a:pt x="232616" y="1754092"/>
                </a:lnTo>
                <a:lnTo>
                  <a:pt x="260878" y="1787256"/>
                </a:lnTo>
                <a:lnTo>
                  <a:pt x="290539" y="1819541"/>
                </a:lnTo>
                <a:lnTo>
                  <a:pt x="321565" y="1850917"/>
                </a:lnTo>
                <a:lnTo>
                  <a:pt x="353918" y="1881356"/>
                </a:lnTo>
                <a:lnTo>
                  <a:pt x="387563" y="1910828"/>
                </a:lnTo>
                <a:lnTo>
                  <a:pt x="422465" y="1939304"/>
                </a:lnTo>
                <a:lnTo>
                  <a:pt x="458588" y="1966756"/>
                </a:lnTo>
                <a:lnTo>
                  <a:pt x="495896" y="1993152"/>
                </a:lnTo>
                <a:lnTo>
                  <a:pt x="534353" y="2018466"/>
                </a:lnTo>
                <a:lnTo>
                  <a:pt x="573923" y="2042666"/>
                </a:lnTo>
                <a:lnTo>
                  <a:pt x="614571" y="2065725"/>
                </a:lnTo>
                <a:lnTo>
                  <a:pt x="656260" y="2087612"/>
                </a:lnTo>
                <a:lnTo>
                  <a:pt x="698956" y="2108300"/>
                </a:lnTo>
                <a:lnTo>
                  <a:pt x="742621" y="2127757"/>
                </a:lnTo>
                <a:lnTo>
                  <a:pt x="787221" y="2145956"/>
                </a:lnTo>
                <a:lnTo>
                  <a:pt x="832719" y="2162866"/>
                </a:lnTo>
                <a:lnTo>
                  <a:pt x="879080" y="2178460"/>
                </a:lnTo>
                <a:lnTo>
                  <a:pt x="926268" y="2192707"/>
                </a:lnTo>
                <a:lnTo>
                  <a:pt x="974248" y="2205578"/>
                </a:lnTo>
                <a:lnTo>
                  <a:pt x="1022982" y="2217045"/>
                </a:lnTo>
                <a:lnTo>
                  <a:pt x="1072436" y="2227077"/>
                </a:lnTo>
                <a:lnTo>
                  <a:pt x="1122574" y="2235646"/>
                </a:lnTo>
                <a:lnTo>
                  <a:pt x="1173360" y="2242723"/>
                </a:lnTo>
                <a:lnTo>
                  <a:pt x="1224758" y="2248277"/>
                </a:lnTo>
                <a:lnTo>
                  <a:pt x="1276733" y="2252281"/>
                </a:lnTo>
                <a:lnTo>
                  <a:pt x="1329248" y="2254705"/>
                </a:lnTo>
                <a:lnTo>
                  <a:pt x="1382267" y="2255520"/>
                </a:lnTo>
                <a:lnTo>
                  <a:pt x="1435287" y="2254705"/>
                </a:lnTo>
                <a:lnTo>
                  <a:pt x="1487802" y="2252281"/>
                </a:lnTo>
                <a:lnTo>
                  <a:pt x="1539777" y="2248277"/>
                </a:lnTo>
                <a:lnTo>
                  <a:pt x="1591175" y="2242723"/>
                </a:lnTo>
                <a:lnTo>
                  <a:pt x="1641961" y="2235646"/>
                </a:lnTo>
                <a:lnTo>
                  <a:pt x="1692099" y="2227077"/>
                </a:lnTo>
                <a:lnTo>
                  <a:pt x="1741553" y="2217045"/>
                </a:lnTo>
                <a:lnTo>
                  <a:pt x="1790287" y="2205578"/>
                </a:lnTo>
                <a:lnTo>
                  <a:pt x="1838267" y="2192707"/>
                </a:lnTo>
                <a:lnTo>
                  <a:pt x="1885455" y="2178460"/>
                </a:lnTo>
                <a:lnTo>
                  <a:pt x="1931816" y="2162866"/>
                </a:lnTo>
                <a:lnTo>
                  <a:pt x="1977314" y="2145956"/>
                </a:lnTo>
                <a:lnTo>
                  <a:pt x="2021914" y="2127757"/>
                </a:lnTo>
                <a:lnTo>
                  <a:pt x="2065579" y="2108300"/>
                </a:lnTo>
                <a:lnTo>
                  <a:pt x="2108275" y="2087612"/>
                </a:lnTo>
                <a:lnTo>
                  <a:pt x="2149964" y="2065725"/>
                </a:lnTo>
                <a:lnTo>
                  <a:pt x="2190612" y="2042666"/>
                </a:lnTo>
                <a:lnTo>
                  <a:pt x="2230182" y="2018466"/>
                </a:lnTo>
                <a:lnTo>
                  <a:pt x="2268639" y="1993152"/>
                </a:lnTo>
                <a:lnTo>
                  <a:pt x="2305947" y="1966756"/>
                </a:lnTo>
                <a:lnTo>
                  <a:pt x="2342070" y="1939304"/>
                </a:lnTo>
                <a:lnTo>
                  <a:pt x="2376972" y="1910828"/>
                </a:lnTo>
                <a:lnTo>
                  <a:pt x="2410617" y="1881356"/>
                </a:lnTo>
                <a:lnTo>
                  <a:pt x="2442970" y="1850917"/>
                </a:lnTo>
                <a:lnTo>
                  <a:pt x="2473996" y="1819541"/>
                </a:lnTo>
                <a:lnTo>
                  <a:pt x="2503657" y="1787256"/>
                </a:lnTo>
                <a:lnTo>
                  <a:pt x="2531919" y="1754092"/>
                </a:lnTo>
                <a:lnTo>
                  <a:pt x="2558745" y="1720079"/>
                </a:lnTo>
                <a:lnTo>
                  <a:pt x="2584099" y="1685245"/>
                </a:lnTo>
                <a:lnTo>
                  <a:pt x="2607947" y="1649619"/>
                </a:lnTo>
                <a:lnTo>
                  <a:pt x="2630252" y="1613231"/>
                </a:lnTo>
                <a:lnTo>
                  <a:pt x="2650978" y="1576110"/>
                </a:lnTo>
                <a:lnTo>
                  <a:pt x="2670090" y="1538286"/>
                </a:lnTo>
                <a:lnTo>
                  <a:pt x="2687551" y="1499787"/>
                </a:lnTo>
                <a:lnTo>
                  <a:pt x="2703327" y="1460642"/>
                </a:lnTo>
                <a:lnTo>
                  <a:pt x="2717380" y="1420882"/>
                </a:lnTo>
                <a:lnTo>
                  <a:pt x="2729676" y="1380534"/>
                </a:lnTo>
                <a:lnTo>
                  <a:pt x="2740178" y="1339629"/>
                </a:lnTo>
                <a:lnTo>
                  <a:pt x="2748851" y="1298195"/>
                </a:lnTo>
                <a:lnTo>
                  <a:pt x="2755660" y="1256262"/>
                </a:lnTo>
                <a:lnTo>
                  <a:pt x="2760567" y="1213859"/>
                </a:lnTo>
                <a:lnTo>
                  <a:pt x="2763537" y="1171015"/>
                </a:lnTo>
                <a:lnTo>
                  <a:pt x="2764536" y="1127760"/>
                </a:lnTo>
                <a:lnTo>
                  <a:pt x="2763537" y="1084504"/>
                </a:lnTo>
                <a:lnTo>
                  <a:pt x="2760567" y="1041660"/>
                </a:lnTo>
                <a:lnTo>
                  <a:pt x="2755660" y="999257"/>
                </a:lnTo>
                <a:lnTo>
                  <a:pt x="2748851" y="957324"/>
                </a:lnTo>
                <a:lnTo>
                  <a:pt x="2740178" y="915890"/>
                </a:lnTo>
                <a:lnTo>
                  <a:pt x="2729676" y="874985"/>
                </a:lnTo>
                <a:lnTo>
                  <a:pt x="2717380" y="834637"/>
                </a:lnTo>
                <a:lnTo>
                  <a:pt x="2703327" y="794877"/>
                </a:lnTo>
                <a:lnTo>
                  <a:pt x="2687551" y="755732"/>
                </a:lnTo>
                <a:lnTo>
                  <a:pt x="2670090" y="717233"/>
                </a:lnTo>
                <a:lnTo>
                  <a:pt x="2650978" y="679409"/>
                </a:lnTo>
                <a:lnTo>
                  <a:pt x="2630252" y="642288"/>
                </a:lnTo>
                <a:lnTo>
                  <a:pt x="2607947" y="605900"/>
                </a:lnTo>
                <a:lnTo>
                  <a:pt x="2584099" y="570274"/>
                </a:lnTo>
                <a:lnTo>
                  <a:pt x="2558745" y="535440"/>
                </a:lnTo>
                <a:lnTo>
                  <a:pt x="2531919" y="501427"/>
                </a:lnTo>
                <a:lnTo>
                  <a:pt x="2503657" y="468263"/>
                </a:lnTo>
                <a:lnTo>
                  <a:pt x="2473996" y="435978"/>
                </a:lnTo>
                <a:lnTo>
                  <a:pt x="2442970" y="404602"/>
                </a:lnTo>
                <a:lnTo>
                  <a:pt x="2410617" y="374163"/>
                </a:lnTo>
                <a:lnTo>
                  <a:pt x="2376972" y="344691"/>
                </a:lnTo>
                <a:lnTo>
                  <a:pt x="2342070" y="316215"/>
                </a:lnTo>
                <a:lnTo>
                  <a:pt x="2305947" y="288763"/>
                </a:lnTo>
                <a:lnTo>
                  <a:pt x="2268639" y="262367"/>
                </a:lnTo>
                <a:lnTo>
                  <a:pt x="2230182" y="237053"/>
                </a:lnTo>
                <a:lnTo>
                  <a:pt x="2190612" y="212853"/>
                </a:lnTo>
                <a:lnTo>
                  <a:pt x="2149964" y="189794"/>
                </a:lnTo>
                <a:lnTo>
                  <a:pt x="2108275" y="167907"/>
                </a:lnTo>
                <a:lnTo>
                  <a:pt x="2065579" y="147219"/>
                </a:lnTo>
                <a:lnTo>
                  <a:pt x="2021914" y="127762"/>
                </a:lnTo>
                <a:lnTo>
                  <a:pt x="1977314" y="109563"/>
                </a:lnTo>
                <a:lnTo>
                  <a:pt x="1931816" y="92653"/>
                </a:lnTo>
                <a:lnTo>
                  <a:pt x="1885455" y="77059"/>
                </a:lnTo>
                <a:lnTo>
                  <a:pt x="1838267" y="62812"/>
                </a:lnTo>
                <a:lnTo>
                  <a:pt x="1790287" y="49941"/>
                </a:lnTo>
                <a:lnTo>
                  <a:pt x="1741553" y="38474"/>
                </a:lnTo>
                <a:lnTo>
                  <a:pt x="1692099" y="28442"/>
                </a:lnTo>
                <a:lnTo>
                  <a:pt x="1641961" y="19873"/>
                </a:lnTo>
                <a:lnTo>
                  <a:pt x="1591175" y="12796"/>
                </a:lnTo>
                <a:lnTo>
                  <a:pt x="1539777" y="7242"/>
                </a:lnTo>
                <a:lnTo>
                  <a:pt x="1487802" y="3238"/>
                </a:lnTo>
                <a:lnTo>
                  <a:pt x="1435287" y="814"/>
                </a:lnTo>
                <a:lnTo>
                  <a:pt x="1382267" y="0"/>
                </a:lnTo>
                <a:close/>
              </a:path>
            </a:pathLst>
          </a:custGeom>
          <a:solidFill>
            <a:srgbClr val="6E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5032502" y="3292602"/>
            <a:ext cx="144780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2585" marR="5080" indent="-36322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AI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10">
                <a:latin typeface="Arial"/>
                <a:cs typeface="Arial"/>
              </a:rPr>
              <a:t> Marketing Content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799333" y="1513077"/>
            <a:ext cx="1358900" cy="4347210"/>
            <a:chOff x="2799333" y="1513077"/>
            <a:chExt cx="1358900" cy="4347210"/>
          </a:xfrm>
        </p:grpSpPr>
        <p:sp>
          <p:nvSpPr>
            <p:cNvPr id="21" name="object 21" descr=""/>
            <p:cNvSpPr/>
            <p:nvPr/>
          </p:nvSpPr>
          <p:spPr>
            <a:xfrm>
              <a:off x="2805683" y="4742688"/>
              <a:ext cx="1346200" cy="1117600"/>
            </a:xfrm>
            <a:custGeom>
              <a:avLst/>
              <a:gdLst/>
              <a:ahLst/>
              <a:cxnLst/>
              <a:rect l="l" t="t" r="r" b="b"/>
              <a:pathLst>
                <a:path w="1346200" h="1117600">
                  <a:moveTo>
                    <a:pt x="672845" y="0"/>
                  </a:moveTo>
                  <a:lnTo>
                    <a:pt x="620263" y="1680"/>
                  </a:lnTo>
                  <a:lnTo>
                    <a:pt x="568787" y="6638"/>
                  </a:lnTo>
                  <a:lnTo>
                    <a:pt x="518568" y="14751"/>
                  </a:lnTo>
                  <a:lnTo>
                    <a:pt x="469755" y="25893"/>
                  </a:lnTo>
                  <a:lnTo>
                    <a:pt x="422498" y="39941"/>
                  </a:lnTo>
                  <a:lnTo>
                    <a:pt x="376945" y="56770"/>
                  </a:lnTo>
                  <a:lnTo>
                    <a:pt x="333248" y="76256"/>
                  </a:lnTo>
                  <a:lnTo>
                    <a:pt x="291554" y="98275"/>
                  </a:lnTo>
                  <a:lnTo>
                    <a:pt x="252015" y="122704"/>
                  </a:lnTo>
                  <a:lnTo>
                    <a:pt x="214779" y="149417"/>
                  </a:lnTo>
                  <a:lnTo>
                    <a:pt x="179996" y="178291"/>
                  </a:lnTo>
                  <a:lnTo>
                    <a:pt x="147816" y="209201"/>
                  </a:lnTo>
                  <a:lnTo>
                    <a:pt x="118389" y="242023"/>
                  </a:lnTo>
                  <a:lnTo>
                    <a:pt x="91863" y="276634"/>
                  </a:lnTo>
                  <a:lnTo>
                    <a:pt x="68388" y="312908"/>
                  </a:lnTo>
                  <a:lnTo>
                    <a:pt x="48115" y="350723"/>
                  </a:lnTo>
                  <a:lnTo>
                    <a:pt x="31192" y="389953"/>
                  </a:lnTo>
                  <a:lnTo>
                    <a:pt x="17770" y="430474"/>
                  </a:lnTo>
                  <a:lnTo>
                    <a:pt x="7997" y="472163"/>
                  </a:lnTo>
                  <a:lnTo>
                    <a:pt x="2024" y="514895"/>
                  </a:lnTo>
                  <a:lnTo>
                    <a:pt x="0" y="558546"/>
                  </a:lnTo>
                  <a:lnTo>
                    <a:pt x="2024" y="602195"/>
                  </a:lnTo>
                  <a:lnTo>
                    <a:pt x="7997" y="644925"/>
                  </a:lnTo>
                  <a:lnTo>
                    <a:pt x="17770" y="686613"/>
                  </a:lnTo>
                  <a:lnTo>
                    <a:pt x="31192" y="727134"/>
                  </a:lnTo>
                  <a:lnTo>
                    <a:pt x="48115" y="766363"/>
                  </a:lnTo>
                  <a:lnTo>
                    <a:pt x="68388" y="804177"/>
                  </a:lnTo>
                  <a:lnTo>
                    <a:pt x="91863" y="840452"/>
                  </a:lnTo>
                  <a:lnTo>
                    <a:pt x="118389" y="875062"/>
                  </a:lnTo>
                  <a:lnTo>
                    <a:pt x="147816" y="907885"/>
                  </a:lnTo>
                  <a:lnTo>
                    <a:pt x="179996" y="938795"/>
                  </a:lnTo>
                  <a:lnTo>
                    <a:pt x="214779" y="967670"/>
                  </a:lnTo>
                  <a:lnTo>
                    <a:pt x="252015" y="994383"/>
                  </a:lnTo>
                  <a:lnTo>
                    <a:pt x="291554" y="1018812"/>
                  </a:lnTo>
                  <a:lnTo>
                    <a:pt x="333248" y="1040832"/>
                  </a:lnTo>
                  <a:lnTo>
                    <a:pt x="376945" y="1060319"/>
                  </a:lnTo>
                  <a:lnTo>
                    <a:pt x="422498" y="1077149"/>
                  </a:lnTo>
                  <a:lnTo>
                    <a:pt x="469755" y="1091197"/>
                  </a:lnTo>
                  <a:lnTo>
                    <a:pt x="518568" y="1102340"/>
                  </a:lnTo>
                  <a:lnTo>
                    <a:pt x="568787" y="1110452"/>
                  </a:lnTo>
                  <a:lnTo>
                    <a:pt x="620263" y="1115411"/>
                  </a:lnTo>
                  <a:lnTo>
                    <a:pt x="672845" y="1117092"/>
                  </a:lnTo>
                  <a:lnTo>
                    <a:pt x="725428" y="1115411"/>
                  </a:lnTo>
                  <a:lnTo>
                    <a:pt x="776904" y="1110452"/>
                  </a:lnTo>
                  <a:lnTo>
                    <a:pt x="827123" y="1102340"/>
                  </a:lnTo>
                  <a:lnTo>
                    <a:pt x="875936" y="1091197"/>
                  </a:lnTo>
                  <a:lnTo>
                    <a:pt x="923193" y="1077149"/>
                  </a:lnTo>
                  <a:lnTo>
                    <a:pt x="968746" y="1060319"/>
                  </a:lnTo>
                  <a:lnTo>
                    <a:pt x="1012444" y="1040832"/>
                  </a:lnTo>
                  <a:lnTo>
                    <a:pt x="1054137" y="1018812"/>
                  </a:lnTo>
                  <a:lnTo>
                    <a:pt x="1093676" y="994383"/>
                  </a:lnTo>
                  <a:lnTo>
                    <a:pt x="1130912" y="967670"/>
                  </a:lnTo>
                  <a:lnTo>
                    <a:pt x="1165695" y="938795"/>
                  </a:lnTo>
                  <a:lnTo>
                    <a:pt x="1197875" y="907885"/>
                  </a:lnTo>
                  <a:lnTo>
                    <a:pt x="1227302" y="875062"/>
                  </a:lnTo>
                  <a:lnTo>
                    <a:pt x="1253828" y="840452"/>
                  </a:lnTo>
                  <a:lnTo>
                    <a:pt x="1277303" y="804177"/>
                  </a:lnTo>
                  <a:lnTo>
                    <a:pt x="1297576" y="766363"/>
                  </a:lnTo>
                  <a:lnTo>
                    <a:pt x="1314499" y="727134"/>
                  </a:lnTo>
                  <a:lnTo>
                    <a:pt x="1327921" y="686613"/>
                  </a:lnTo>
                  <a:lnTo>
                    <a:pt x="1337694" y="644925"/>
                  </a:lnTo>
                  <a:lnTo>
                    <a:pt x="1343667" y="602195"/>
                  </a:lnTo>
                  <a:lnTo>
                    <a:pt x="1345692" y="558546"/>
                  </a:lnTo>
                  <a:lnTo>
                    <a:pt x="1343667" y="514895"/>
                  </a:lnTo>
                  <a:lnTo>
                    <a:pt x="1337694" y="472163"/>
                  </a:lnTo>
                  <a:lnTo>
                    <a:pt x="1327921" y="430474"/>
                  </a:lnTo>
                  <a:lnTo>
                    <a:pt x="1314499" y="389953"/>
                  </a:lnTo>
                  <a:lnTo>
                    <a:pt x="1297576" y="350723"/>
                  </a:lnTo>
                  <a:lnTo>
                    <a:pt x="1277303" y="312908"/>
                  </a:lnTo>
                  <a:lnTo>
                    <a:pt x="1253828" y="276634"/>
                  </a:lnTo>
                  <a:lnTo>
                    <a:pt x="1227302" y="242023"/>
                  </a:lnTo>
                  <a:lnTo>
                    <a:pt x="1197875" y="209201"/>
                  </a:lnTo>
                  <a:lnTo>
                    <a:pt x="1165695" y="178291"/>
                  </a:lnTo>
                  <a:lnTo>
                    <a:pt x="1130912" y="149417"/>
                  </a:lnTo>
                  <a:lnTo>
                    <a:pt x="1093676" y="122704"/>
                  </a:lnTo>
                  <a:lnTo>
                    <a:pt x="1054137" y="98275"/>
                  </a:lnTo>
                  <a:lnTo>
                    <a:pt x="1012444" y="76256"/>
                  </a:lnTo>
                  <a:lnTo>
                    <a:pt x="968746" y="56770"/>
                  </a:lnTo>
                  <a:lnTo>
                    <a:pt x="923193" y="39941"/>
                  </a:lnTo>
                  <a:lnTo>
                    <a:pt x="875936" y="25893"/>
                  </a:lnTo>
                  <a:lnTo>
                    <a:pt x="827123" y="14751"/>
                  </a:lnTo>
                  <a:lnTo>
                    <a:pt x="776904" y="6638"/>
                  </a:lnTo>
                  <a:lnTo>
                    <a:pt x="725428" y="1680"/>
                  </a:lnTo>
                  <a:lnTo>
                    <a:pt x="6728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805683" y="1519427"/>
              <a:ext cx="1346200" cy="1117600"/>
            </a:xfrm>
            <a:custGeom>
              <a:avLst/>
              <a:gdLst/>
              <a:ahLst/>
              <a:cxnLst/>
              <a:rect l="l" t="t" r="r" b="b"/>
              <a:pathLst>
                <a:path w="1346200" h="1117600">
                  <a:moveTo>
                    <a:pt x="672845" y="0"/>
                  </a:moveTo>
                  <a:lnTo>
                    <a:pt x="620263" y="1680"/>
                  </a:lnTo>
                  <a:lnTo>
                    <a:pt x="568787" y="6638"/>
                  </a:lnTo>
                  <a:lnTo>
                    <a:pt x="518568" y="14751"/>
                  </a:lnTo>
                  <a:lnTo>
                    <a:pt x="469755" y="25893"/>
                  </a:lnTo>
                  <a:lnTo>
                    <a:pt x="422498" y="39941"/>
                  </a:lnTo>
                  <a:lnTo>
                    <a:pt x="376945" y="56770"/>
                  </a:lnTo>
                  <a:lnTo>
                    <a:pt x="333248" y="76256"/>
                  </a:lnTo>
                  <a:lnTo>
                    <a:pt x="291554" y="98275"/>
                  </a:lnTo>
                  <a:lnTo>
                    <a:pt x="252015" y="122704"/>
                  </a:lnTo>
                  <a:lnTo>
                    <a:pt x="214779" y="149417"/>
                  </a:lnTo>
                  <a:lnTo>
                    <a:pt x="179996" y="178291"/>
                  </a:lnTo>
                  <a:lnTo>
                    <a:pt x="147816" y="209201"/>
                  </a:lnTo>
                  <a:lnTo>
                    <a:pt x="118389" y="242023"/>
                  </a:lnTo>
                  <a:lnTo>
                    <a:pt x="91863" y="276634"/>
                  </a:lnTo>
                  <a:lnTo>
                    <a:pt x="68388" y="312908"/>
                  </a:lnTo>
                  <a:lnTo>
                    <a:pt x="48115" y="350723"/>
                  </a:lnTo>
                  <a:lnTo>
                    <a:pt x="31192" y="389953"/>
                  </a:lnTo>
                  <a:lnTo>
                    <a:pt x="17770" y="430474"/>
                  </a:lnTo>
                  <a:lnTo>
                    <a:pt x="7997" y="472163"/>
                  </a:lnTo>
                  <a:lnTo>
                    <a:pt x="2024" y="514895"/>
                  </a:lnTo>
                  <a:lnTo>
                    <a:pt x="0" y="558546"/>
                  </a:lnTo>
                  <a:lnTo>
                    <a:pt x="2024" y="602196"/>
                  </a:lnTo>
                  <a:lnTo>
                    <a:pt x="7997" y="644928"/>
                  </a:lnTo>
                  <a:lnTo>
                    <a:pt x="17770" y="686617"/>
                  </a:lnTo>
                  <a:lnTo>
                    <a:pt x="31192" y="727138"/>
                  </a:lnTo>
                  <a:lnTo>
                    <a:pt x="48115" y="766368"/>
                  </a:lnTo>
                  <a:lnTo>
                    <a:pt x="68388" y="804183"/>
                  </a:lnTo>
                  <a:lnTo>
                    <a:pt x="91863" y="840457"/>
                  </a:lnTo>
                  <a:lnTo>
                    <a:pt x="118389" y="875068"/>
                  </a:lnTo>
                  <a:lnTo>
                    <a:pt x="147816" y="907890"/>
                  </a:lnTo>
                  <a:lnTo>
                    <a:pt x="179996" y="938800"/>
                  </a:lnTo>
                  <a:lnTo>
                    <a:pt x="214779" y="967674"/>
                  </a:lnTo>
                  <a:lnTo>
                    <a:pt x="252015" y="994387"/>
                  </a:lnTo>
                  <a:lnTo>
                    <a:pt x="291554" y="1018816"/>
                  </a:lnTo>
                  <a:lnTo>
                    <a:pt x="333248" y="1040835"/>
                  </a:lnTo>
                  <a:lnTo>
                    <a:pt x="376945" y="1060321"/>
                  </a:lnTo>
                  <a:lnTo>
                    <a:pt x="422498" y="1077150"/>
                  </a:lnTo>
                  <a:lnTo>
                    <a:pt x="469755" y="1091198"/>
                  </a:lnTo>
                  <a:lnTo>
                    <a:pt x="518568" y="1102340"/>
                  </a:lnTo>
                  <a:lnTo>
                    <a:pt x="568787" y="1110453"/>
                  </a:lnTo>
                  <a:lnTo>
                    <a:pt x="620263" y="1115411"/>
                  </a:lnTo>
                  <a:lnTo>
                    <a:pt x="672845" y="1117092"/>
                  </a:lnTo>
                  <a:lnTo>
                    <a:pt x="725428" y="1115411"/>
                  </a:lnTo>
                  <a:lnTo>
                    <a:pt x="776904" y="1110453"/>
                  </a:lnTo>
                  <a:lnTo>
                    <a:pt x="827123" y="1102340"/>
                  </a:lnTo>
                  <a:lnTo>
                    <a:pt x="875936" y="1091198"/>
                  </a:lnTo>
                  <a:lnTo>
                    <a:pt x="923193" y="1077150"/>
                  </a:lnTo>
                  <a:lnTo>
                    <a:pt x="968746" y="1060321"/>
                  </a:lnTo>
                  <a:lnTo>
                    <a:pt x="1012444" y="1040835"/>
                  </a:lnTo>
                  <a:lnTo>
                    <a:pt x="1054137" y="1018816"/>
                  </a:lnTo>
                  <a:lnTo>
                    <a:pt x="1093676" y="994387"/>
                  </a:lnTo>
                  <a:lnTo>
                    <a:pt x="1130912" y="967674"/>
                  </a:lnTo>
                  <a:lnTo>
                    <a:pt x="1165695" y="938800"/>
                  </a:lnTo>
                  <a:lnTo>
                    <a:pt x="1197875" y="907890"/>
                  </a:lnTo>
                  <a:lnTo>
                    <a:pt x="1227302" y="875068"/>
                  </a:lnTo>
                  <a:lnTo>
                    <a:pt x="1253828" y="840457"/>
                  </a:lnTo>
                  <a:lnTo>
                    <a:pt x="1277303" y="804183"/>
                  </a:lnTo>
                  <a:lnTo>
                    <a:pt x="1297576" y="766368"/>
                  </a:lnTo>
                  <a:lnTo>
                    <a:pt x="1314499" y="727138"/>
                  </a:lnTo>
                  <a:lnTo>
                    <a:pt x="1327921" y="686617"/>
                  </a:lnTo>
                  <a:lnTo>
                    <a:pt x="1337694" y="644928"/>
                  </a:lnTo>
                  <a:lnTo>
                    <a:pt x="1343667" y="602196"/>
                  </a:lnTo>
                  <a:lnTo>
                    <a:pt x="1345692" y="558546"/>
                  </a:lnTo>
                  <a:lnTo>
                    <a:pt x="1343667" y="514895"/>
                  </a:lnTo>
                  <a:lnTo>
                    <a:pt x="1337694" y="472163"/>
                  </a:lnTo>
                  <a:lnTo>
                    <a:pt x="1327921" y="430474"/>
                  </a:lnTo>
                  <a:lnTo>
                    <a:pt x="1314499" y="389953"/>
                  </a:lnTo>
                  <a:lnTo>
                    <a:pt x="1297576" y="350723"/>
                  </a:lnTo>
                  <a:lnTo>
                    <a:pt x="1277303" y="312908"/>
                  </a:lnTo>
                  <a:lnTo>
                    <a:pt x="1253828" y="276634"/>
                  </a:lnTo>
                  <a:lnTo>
                    <a:pt x="1227302" y="242023"/>
                  </a:lnTo>
                  <a:lnTo>
                    <a:pt x="1197875" y="209201"/>
                  </a:lnTo>
                  <a:lnTo>
                    <a:pt x="1165695" y="178291"/>
                  </a:lnTo>
                  <a:lnTo>
                    <a:pt x="1130912" y="149417"/>
                  </a:lnTo>
                  <a:lnTo>
                    <a:pt x="1093676" y="122704"/>
                  </a:lnTo>
                  <a:lnTo>
                    <a:pt x="1054137" y="98275"/>
                  </a:lnTo>
                  <a:lnTo>
                    <a:pt x="1012444" y="76256"/>
                  </a:lnTo>
                  <a:lnTo>
                    <a:pt x="968746" y="56770"/>
                  </a:lnTo>
                  <a:lnTo>
                    <a:pt x="923193" y="39941"/>
                  </a:lnTo>
                  <a:lnTo>
                    <a:pt x="875936" y="25893"/>
                  </a:lnTo>
                  <a:lnTo>
                    <a:pt x="827123" y="14751"/>
                  </a:lnTo>
                  <a:lnTo>
                    <a:pt x="776904" y="6638"/>
                  </a:lnTo>
                  <a:lnTo>
                    <a:pt x="725428" y="1680"/>
                  </a:lnTo>
                  <a:lnTo>
                    <a:pt x="672845" y="0"/>
                  </a:lnTo>
                  <a:close/>
                </a:path>
              </a:pathLst>
            </a:custGeom>
            <a:solidFill>
              <a:srgbClr val="0028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805683" y="1519427"/>
              <a:ext cx="1346200" cy="1117600"/>
            </a:xfrm>
            <a:custGeom>
              <a:avLst/>
              <a:gdLst/>
              <a:ahLst/>
              <a:cxnLst/>
              <a:rect l="l" t="t" r="r" b="b"/>
              <a:pathLst>
                <a:path w="1346200" h="1117600">
                  <a:moveTo>
                    <a:pt x="0" y="558546"/>
                  </a:moveTo>
                  <a:lnTo>
                    <a:pt x="2024" y="514895"/>
                  </a:lnTo>
                  <a:lnTo>
                    <a:pt x="7997" y="472163"/>
                  </a:lnTo>
                  <a:lnTo>
                    <a:pt x="17770" y="430474"/>
                  </a:lnTo>
                  <a:lnTo>
                    <a:pt x="31192" y="389953"/>
                  </a:lnTo>
                  <a:lnTo>
                    <a:pt x="48115" y="350723"/>
                  </a:lnTo>
                  <a:lnTo>
                    <a:pt x="68388" y="312908"/>
                  </a:lnTo>
                  <a:lnTo>
                    <a:pt x="91863" y="276634"/>
                  </a:lnTo>
                  <a:lnTo>
                    <a:pt x="118389" y="242023"/>
                  </a:lnTo>
                  <a:lnTo>
                    <a:pt x="147816" y="209201"/>
                  </a:lnTo>
                  <a:lnTo>
                    <a:pt x="179996" y="178291"/>
                  </a:lnTo>
                  <a:lnTo>
                    <a:pt x="214779" y="149417"/>
                  </a:lnTo>
                  <a:lnTo>
                    <a:pt x="252015" y="122704"/>
                  </a:lnTo>
                  <a:lnTo>
                    <a:pt x="291554" y="98275"/>
                  </a:lnTo>
                  <a:lnTo>
                    <a:pt x="333248" y="76256"/>
                  </a:lnTo>
                  <a:lnTo>
                    <a:pt x="376945" y="56770"/>
                  </a:lnTo>
                  <a:lnTo>
                    <a:pt x="422498" y="39941"/>
                  </a:lnTo>
                  <a:lnTo>
                    <a:pt x="469755" y="25893"/>
                  </a:lnTo>
                  <a:lnTo>
                    <a:pt x="518568" y="14751"/>
                  </a:lnTo>
                  <a:lnTo>
                    <a:pt x="568787" y="6638"/>
                  </a:lnTo>
                  <a:lnTo>
                    <a:pt x="620263" y="1680"/>
                  </a:lnTo>
                  <a:lnTo>
                    <a:pt x="672845" y="0"/>
                  </a:lnTo>
                  <a:lnTo>
                    <a:pt x="725428" y="1680"/>
                  </a:lnTo>
                  <a:lnTo>
                    <a:pt x="776904" y="6638"/>
                  </a:lnTo>
                  <a:lnTo>
                    <a:pt x="827123" y="14751"/>
                  </a:lnTo>
                  <a:lnTo>
                    <a:pt x="875936" y="25893"/>
                  </a:lnTo>
                  <a:lnTo>
                    <a:pt x="923193" y="39941"/>
                  </a:lnTo>
                  <a:lnTo>
                    <a:pt x="968746" y="56770"/>
                  </a:lnTo>
                  <a:lnTo>
                    <a:pt x="1012444" y="76256"/>
                  </a:lnTo>
                  <a:lnTo>
                    <a:pt x="1054137" y="98275"/>
                  </a:lnTo>
                  <a:lnTo>
                    <a:pt x="1093676" y="122704"/>
                  </a:lnTo>
                  <a:lnTo>
                    <a:pt x="1130912" y="149417"/>
                  </a:lnTo>
                  <a:lnTo>
                    <a:pt x="1165695" y="178291"/>
                  </a:lnTo>
                  <a:lnTo>
                    <a:pt x="1197875" y="209201"/>
                  </a:lnTo>
                  <a:lnTo>
                    <a:pt x="1227302" y="242023"/>
                  </a:lnTo>
                  <a:lnTo>
                    <a:pt x="1253828" y="276634"/>
                  </a:lnTo>
                  <a:lnTo>
                    <a:pt x="1277303" y="312908"/>
                  </a:lnTo>
                  <a:lnTo>
                    <a:pt x="1297576" y="350723"/>
                  </a:lnTo>
                  <a:lnTo>
                    <a:pt x="1314499" y="389953"/>
                  </a:lnTo>
                  <a:lnTo>
                    <a:pt x="1327921" y="430474"/>
                  </a:lnTo>
                  <a:lnTo>
                    <a:pt x="1337694" y="472163"/>
                  </a:lnTo>
                  <a:lnTo>
                    <a:pt x="1343667" y="514895"/>
                  </a:lnTo>
                  <a:lnTo>
                    <a:pt x="1345692" y="558546"/>
                  </a:lnTo>
                  <a:lnTo>
                    <a:pt x="1343667" y="602196"/>
                  </a:lnTo>
                  <a:lnTo>
                    <a:pt x="1337694" y="644928"/>
                  </a:lnTo>
                  <a:lnTo>
                    <a:pt x="1327921" y="686617"/>
                  </a:lnTo>
                  <a:lnTo>
                    <a:pt x="1314499" y="727138"/>
                  </a:lnTo>
                  <a:lnTo>
                    <a:pt x="1297576" y="766368"/>
                  </a:lnTo>
                  <a:lnTo>
                    <a:pt x="1277303" y="804183"/>
                  </a:lnTo>
                  <a:lnTo>
                    <a:pt x="1253828" y="840457"/>
                  </a:lnTo>
                  <a:lnTo>
                    <a:pt x="1227302" y="875068"/>
                  </a:lnTo>
                  <a:lnTo>
                    <a:pt x="1197875" y="907890"/>
                  </a:lnTo>
                  <a:lnTo>
                    <a:pt x="1165695" y="938800"/>
                  </a:lnTo>
                  <a:lnTo>
                    <a:pt x="1130912" y="967674"/>
                  </a:lnTo>
                  <a:lnTo>
                    <a:pt x="1093676" y="994387"/>
                  </a:lnTo>
                  <a:lnTo>
                    <a:pt x="1054137" y="1018816"/>
                  </a:lnTo>
                  <a:lnTo>
                    <a:pt x="1012444" y="1040835"/>
                  </a:lnTo>
                  <a:lnTo>
                    <a:pt x="968746" y="1060321"/>
                  </a:lnTo>
                  <a:lnTo>
                    <a:pt x="923193" y="1077150"/>
                  </a:lnTo>
                  <a:lnTo>
                    <a:pt x="875936" y="1091198"/>
                  </a:lnTo>
                  <a:lnTo>
                    <a:pt x="827123" y="1102340"/>
                  </a:lnTo>
                  <a:lnTo>
                    <a:pt x="776904" y="1110453"/>
                  </a:lnTo>
                  <a:lnTo>
                    <a:pt x="725428" y="1115411"/>
                  </a:lnTo>
                  <a:lnTo>
                    <a:pt x="672845" y="1117092"/>
                  </a:lnTo>
                  <a:lnTo>
                    <a:pt x="620263" y="1115411"/>
                  </a:lnTo>
                  <a:lnTo>
                    <a:pt x="568787" y="1110453"/>
                  </a:lnTo>
                  <a:lnTo>
                    <a:pt x="518568" y="1102340"/>
                  </a:lnTo>
                  <a:lnTo>
                    <a:pt x="469755" y="1091198"/>
                  </a:lnTo>
                  <a:lnTo>
                    <a:pt x="422498" y="1077150"/>
                  </a:lnTo>
                  <a:lnTo>
                    <a:pt x="376945" y="1060321"/>
                  </a:lnTo>
                  <a:lnTo>
                    <a:pt x="333248" y="1040835"/>
                  </a:lnTo>
                  <a:lnTo>
                    <a:pt x="291554" y="1018816"/>
                  </a:lnTo>
                  <a:lnTo>
                    <a:pt x="252015" y="994387"/>
                  </a:lnTo>
                  <a:lnTo>
                    <a:pt x="214779" y="967674"/>
                  </a:lnTo>
                  <a:lnTo>
                    <a:pt x="179996" y="938800"/>
                  </a:lnTo>
                  <a:lnTo>
                    <a:pt x="147816" y="907890"/>
                  </a:lnTo>
                  <a:lnTo>
                    <a:pt x="118389" y="875068"/>
                  </a:lnTo>
                  <a:lnTo>
                    <a:pt x="91863" y="840457"/>
                  </a:lnTo>
                  <a:lnTo>
                    <a:pt x="68388" y="804183"/>
                  </a:lnTo>
                  <a:lnTo>
                    <a:pt x="48115" y="766368"/>
                  </a:lnTo>
                  <a:lnTo>
                    <a:pt x="31192" y="727138"/>
                  </a:lnTo>
                  <a:lnTo>
                    <a:pt x="17770" y="686617"/>
                  </a:lnTo>
                  <a:lnTo>
                    <a:pt x="7997" y="644928"/>
                  </a:lnTo>
                  <a:lnTo>
                    <a:pt x="2024" y="602196"/>
                  </a:lnTo>
                  <a:lnTo>
                    <a:pt x="0" y="558546"/>
                  </a:lnTo>
                  <a:close/>
                </a:path>
              </a:pathLst>
            </a:custGeom>
            <a:ln w="12700">
              <a:solidFill>
                <a:srgbClr val="0028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134867" y="1816988"/>
            <a:ext cx="69786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381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AI</a:t>
            </a:r>
            <a:endParaRPr sz="1600">
              <a:latin typeface="Arial"/>
              <a:cs typeface="Arial"/>
            </a:endParaRPr>
          </a:p>
          <a:p>
            <a:pPr algn="ctr" marR="5080">
              <a:lnSpc>
                <a:spcPct val="100000"/>
              </a:lnSpc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Avatars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710171" y="1392936"/>
            <a:ext cx="1986280" cy="1347470"/>
          </a:xfrm>
          <a:custGeom>
            <a:avLst/>
            <a:gdLst/>
            <a:ahLst/>
            <a:cxnLst/>
            <a:rect l="l" t="t" r="r" b="b"/>
            <a:pathLst>
              <a:path w="1986279" h="1347470">
                <a:moveTo>
                  <a:pt x="992885" y="0"/>
                </a:moveTo>
                <a:lnTo>
                  <a:pt x="936540" y="1066"/>
                </a:lnTo>
                <a:lnTo>
                  <a:pt x="881020" y="4227"/>
                </a:lnTo>
                <a:lnTo>
                  <a:pt x="826409" y="9427"/>
                </a:lnTo>
                <a:lnTo>
                  <a:pt x="772790" y="16608"/>
                </a:lnTo>
                <a:lnTo>
                  <a:pt x="720248" y="25713"/>
                </a:lnTo>
                <a:lnTo>
                  <a:pt x="668866" y="36686"/>
                </a:lnTo>
                <a:lnTo>
                  <a:pt x="618727" y="49469"/>
                </a:lnTo>
                <a:lnTo>
                  <a:pt x="569916" y="64005"/>
                </a:lnTo>
                <a:lnTo>
                  <a:pt x="522517" y="80239"/>
                </a:lnTo>
                <a:lnTo>
                  <a:pt x="476614" y="98112"/>
                </a:lnTo>
                <a:lnTo>
                  <a:pt x="432289" y="117568"/>
                </a:lnTo>
                <a:lnTo>
                  <a:pt x="389627" y="138551"/>
                </a:lnTo>
                <a:lnTo>
                  <a:pt x="348712" y="161002"/>
                </a:lnTo>
                <a:lnTo>
                  <a:pt x="309627" y="184866"/>
                </a:lnTo>
                <a:lnTo>
                  <a:pt x="272457" y="210085"/>
                </a:lnTo>
                <a:lnTo>
                  <a:pt x="237285" y="236603"/>
                </a:lnTo>
                <a:lnTo>
                  <a:pt x="204195" y="264362"/>
                </a:lnTo>
                <a:lnTo>
                  <a:pt x="173270" y="293306"/>
                </a:lnTo>
                <a:lnTo>
                  <a:pt x="144595" y="323378"/>
                </a:lnTo>
                <a:lnTo>
                  <a:pt x="118253" y="354521"/>
                </a:lnTo>
                <a:lnTo>
                  <a:pt x="94328" y="386677"/>
                </a:lnTo>
                <a:lnTo>
                  <a:pt x="72904" y="419791"/>
                </a:lnTo>
                <a:lnTo>
                  <a:pt x="54065" y="453805"/>
                </a:lnTo>
                <a:lnTo>
                  <a:pt x="37894" y="488662"/>
                </a:lnTo>
                <a:lnTo>
                  <a:pt x="13893" y="560679"/>
                </a:lnTo>
                <a:lnTo>
                  <a:pt x="1571" y="635387"/>
                </a:lnTo>
                <a:lnTo>
                  <a:pt x="0" y="673608"/>
                </a:lnTo>
                <a:lnTo>
                  <a:pt x="1571" y="711828"/>
                </a:lnTo>
                <a:lnTo>
                  <a:pt x="13893" y="786536"/>
                </a:lnTo>
                <a:lnTo>
                  <a:pt x="37894" y="858553"/>
                </a:lnTo>
                <a:lnTo>
                  <a:pt x="54065" y="893410"/>
                </a:lnTo>
                <a:lnTo>
                  <a:pt x="72904" y="927424"/>
                </a:lnTo>
                <a:lnTo>
                  <a:pt x="94328" y="960538"/>
                </a:lnTo>
                <a:lnTo>
                  <a:pt x="118253" y="992694"/>
                </a:lnTo>
                <a:lnTo>
                  <a:pt x="144595" y="1023837"/>
                </a:lnTo>
                <a:lnTo>
                  <a:pt x="173270" y="1053909"/>
                </a:lnTo>
                <a:lnTo>
                  <a:pt x="204195" y="1082853"/>
                </a:lnTo>
                <a:lnTo>
                  <a:pt x="237285" y="1110612"/>
                </a:lnTo>
                <a:lnTo>
                  <a:pt x="272457" y="1137130"/>
                </a:lnTo>
                <a:lnTo>
                  <a:pt x="309627" y="1162349"/>
                </a:lnTo>
                <a:lnTo>
                  <a:pt x="348712" y="1186213"/>
                </a:lnTo>
                <a:lnTo>
                  <a:pt x="389627" y="1208664"/>
                </a:lnTo>
                <a:lnTo>
                  <a:pt x="432289" y="1229647"/>
                </a:lnTo>
                <a:lnTo>
                  <a:pt x="476614" y="1249103"/>
                </a:lnTo>
                <a:lnTo>
                  <a:pt x="522517" y="1266976"/>
                </a:lnTo>
                <a:lnTo>
                  <a:pt x="569916" y="1283210"/>
                </a:lnTo>
                <a:lnTo>
                  <a:pt x="618727" y="1297746"/>
                </a:lnTo>
                <a:lnTo>
                  <a:pt x="668866" y="1310529"/>
                </a:lnTo>
                <a:lnTo>
                  <a:pt x="720248" y="1321502"/>
                </a:lnTo>
                <a:lnTo>
                  <a:pt x="772790" y="1330607"/>
                </a:lnTo>
                <a:lnTo>
                  <a:pt x="826409" y="1337788"/>
                </a:lnTo>
                <a:lnTo>
                  <a:pt x="881020" y="1342988"/>
                </a:lnTo>
                <a:lnTo>
                  <a:pt x="936540" y="1346149"/>
                </a:lnTo>
                <a:lnTo>
                  <a:pt x="992885" y="1347215"/>
                </a:lnTo>
                <a:lnTo>
                  <a:pt x="1049231" y="1346149"/>
                </a:lnTo>
                <a:lnTo>
                  <a:pt x="1104751" y="1342988"/>
                </a:lnTo>
                <a:lnTo>
                  <a:pt x="1159362" y="1337788"/>
                </a:lnTo>
                <a:lnTo>
                  <a:pt x="1212981" y="1330607"/>
                </a:lnTo>
                <a:lnTo>
                  <a:pt x="1265523" y="1321502"/>
                </a:lnTo>
                <a:lnTo>
                  <a:pt x="1316905" y="1310529"/>
                </a:lnTo>
                <a:lnTo>
                  <a:pt x="1367044" y="1297746"/>
                </a:lnTo>
                <a:lnTo>
                  <a:pt x="1415855" y="1283210"/>
                </a:lnTo>
                <a:lnTo>
                  <a:pt x="1463254" y="1266976"/>
                </a:lnTo>
                <a:lnTo>
                  <a:pt x="1509157" y="1249103"/>
                </a:lnTo>
                <a:lnTo>
                  <a:pt x="1553482" y="1229647"/>
                </a:lnTo>
                <a:lnTo>
                  <a:pt x="1596144" y="1208664"/>
                </a:lnTo>
                <a:lnTo>
                  <a:pt x="1637059" y="1186213"/>
                </a:lnTo>
                <a:lnTo>
                  <a:pt x="1676144" y="1162349"/>
                </a:lnTo>
                <a:lnTo>
                  <a:pt x="1713314" y="1137130"/>
                </a:lnTo>
                <a:lnTo>
                  <a:pt x="1748486" y="1110612"/>
                </a:lnTo>
                <a:lnTo>
                  <a:pt x="1781576" y="1082853"/>
                </a:lnTo>
                <a:lnTo>
                  <a:pt x="1812501" y="1053909"/>
                </a:lnTo>
                <a:lnTo>
                  <a:pt x="1841176" y="1023837"/>
                </a:lnTo>
                <a:lnTo>
                  <a:pt x="1867518" y="992694"/>
                </a:lnTo>
                <a:lnTo>
                  <a:pt x="1891443" y="960538"/>
                </a:lnTo>
                <a:lnTo>
                  <a:pt x="1912867" y="927424"/>
                </a:lnTo>
                <a:lnTo>
                  <a:pt x="1931706" y="893410"/>
                </a:lnTo>
                <a:lnTo>
                  <a:pt x="1947877" y="858553"/>
                </a:lnTo>
                <a:lnTo>
                  <a:pt x="1971878" y="786536"/>
                </a:lnTo>
                <a:lnTo>
                  <a:pt x="1984200" y="711828"/>
                </a:lnTo>
                <a:lnTo>
                  <a:pt x="1985772" y="673608"/>
                </a:lnTo>
                <a:lnTo>
                  <a:pt x="1984200" y="635387"/>
                </a:lnTo>
                <a:lnTo>
                  <a:pt x="1971878" y="560679"/>
                </a:lnTo>
                <a:lnTo>
                  <a:pt x="1947877" y="488662"/>
                </a:lnTo>
                <a:lnTo>
                  <a:pt x="1931706" y="453805"/>
                </a:lnTo>
                <a:lnTo>
                  <a:pt x="1912867" y="419791"/>
                </a:lnTo>
                <a:lnTo>
                  <a:pt x="1891443" y="386677"/>
                </a:lnTo>
                <a:lnTo>
                  <a:pt x="1867518" y="354521"/>
                </a:lnTo>
                <a:lnTo>
                  <a:pt x="1841176" y="323378"/>
                </a:lnTo>
                <a:lnTo>
                  <a:pt x="1812501" y="293306"/>
                </a:lnTo>
                <a:lnTo>
                  <a:pt x="1781576" y="264362"/>
                </a:lnTo>
                <a:lnTo>
                  <a:pt x="1748486" y="236603"/>
                </a:lnTo>
                <a:lnTo>
                  <a:pt x="1713314" y="210085"/>
                </a:lnTo>
                <a:lnTo>
                  <a:pt x="1676144" y="184866"/>
                </a:lnTo>
                <a:lnTo>
                  <a:pt x="1637059" y="161002"/>
                </a:lnTo>
                <a:lnTo>
                  <a:pt x="1596144" y="138551"/>
                </a:lnTo>
                <a:lnTo>
                  <a:pt x="1553482" y="117568"/>
                </a:lnTo>
                <a:lnTo>
                  <a:pt x="1509157" y="98112"/>
                </a:lnTo>
                <a:lnTo>
                  <a:pt x="1463254" y="80239"/>
                </a:lnTo>
                <a:lnTo>
                  <a:pt x="1415855" y="64005"/>
                </a:lnTo>
                <a:lnTo>
                  <a:pt x="1367044" y="49469"/>
                </a:lnTo>
                <a:lnTo>
                  <a:pt x="1316905" y="36686"/>
                </a:lnTo>
                <a:lnTo>
                  <a:pt x="1265523" y="25713"/>
                </a:lnTo>
                <a:lnTo>
                  <a:pt x="1212981" y="16608"/>
                </a:lnTo>
                <a:lnTo>
                  <a:pt x="1159362" y="9427"/>
                </a:lnTo>
                <a:lnTo>
                  <a:pt x="1104751" y="4227"/>
                </a:lnTo>
                <a:lnTo>
                  <a:pt x="1049231" y="1066"/>
                </a:lnTo>
                <a:lnTo>
                  <a:pt x="992885" y="0"/>
                </a:lnTo>
                <a:close/>
              </a:path>
            </a:pathLst>
          </a:custGeom>
          <a:solidFill>
            <a:srgbClr val="009A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7117968" y="1806067"/>
            <a:ext cx="118491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0670" marR="5080" indent="-281305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Arial"/>
                <a:cs typeface="Arial"/>
              </a:rPr>
              <a:t>AI-generated trailers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3081527" y="3852671"/>
            <a:ext cx="2138680" cy="1531620"/>
          </a:xfrm>
          <a:custGeom>
            <a:avLst/>
            <a:gdLst/>
            <a:ahLst/>
            <a:cxnLst/>
            <a:rect l="l" t="t" r="r" b="b"/>
            <a:pathLst>
              <a:path w="2138679" h="1531620">
                <a:moveTo>
                  <a:pt x="1069086" y="0"/>
                </a:moveTo>
                <a:lnTo>
                  <a:pt x="1014072" y="996"/>
                </a:lnTo>
                <a:lnTo>
                  <a:pt x="959780" y="3954"/>
                </a:lnTo>
                <a:lnTo>
                  <a:pt x="906278" y="8824"/>
                </a:lnTo>
                <a:lnTo>
                  <a:pt x="853632" y="15559"/>
                </a:lnTo>
                <a:lnTo>
                  <a:pt x="801910" y="24111"/>
                </a:lnTo>
                <a:lnTo>
                  <a:pt x="751178" y="34432"/>
                </a:lnTo>
                <a:lnTo>
                  <a:pt x="701505" y="46473"/>
                </a:lnTo>
                <a:lnTo>
                  <a:pt x="652956" y="60186"/>
                </a:lnTo>
                <a:lnTo>
                  <a:pt x="605600" y="75523"/>
                </a:lnTo>
                <a:lnTo>
                  <a:pt x="559503" y="92436"/>
                </a:lnTo>
                <a:lnTo>
                  <a:pt x="514733" y="110877"/>
                </a:lnTo>
                <a:lnTo>
                  <a:pt x="471357" y="130797"/>
                </a:lnTo>
                <a:lnTo>
                  <a:pt x="429442" y="152149"/>
                </a:lnTo>
                <a:lnTo>
                  <a:pt x="389055" y="174885"/>
                </a:lnTo>
                <a:lnTo>
                  <a:pt x="350263" y="198955"/>
                </a:lnTo>
                <a:lnTo>
                  <a:pt x="313134" y="224313"/>
                </a:lnTo>
                <a:lnTo>
                  <a:pt x="277735" y="250910"/>
                </a:lnTo>
                <a:lnTo>
                  <a:pt x="244132" y="278698"/>
                </a:lnTo>
                <a:lnTo>
                  <a:pt x="212394" y="307628"/>
                </a:lnTo>
                <a:lnTo>
                  <a:pt x="182587" y="337653"/>
                </a:lnTo>
                <a:lnTo>
                  <a:pt x="154779" y="368725"/>
                </a:lnTo>
                <a:lnTo>
                  <a:pt x="129036" y="400795"/>
                </a:lnTo>
                <a:lnTo>
                  <a:pt x="105426" y="433815"/>
                </a:lnTo>
                <a:lnTo>
                  <a:pt x="84016" y="467737"/>
                </a:lnTo>
                <a:lnTo>
                  <a:pt x="64873" y="502512"/>
                </a:lnTo>
                <a:lnTo>
                  <a:pt x="48065" y="538094"/>
                </a:lnTo>
                <a:lnTo>
                  <a:pt x="33658" y="574433"/>
                </a:lnTo>
                <a:lnTo>
                  <a:pt x="21720" y="611482"/>
                </a:lnTo>
                <a:lnTo>
                  <a:pt x="12318" y="649192"/>
                </a:lnTo>
                <a:lnTo>
                  <a:pt x="5519" y="687516"/>
                </a:lnTo>
                <a:lnTo>
                  <a:pt x="1391" y="726404"/>
                </a:lnTo>
                <a:lnTo>
                  <a:pt x="0" y="765809"/>
                </a:lnTo>
                <a:lnTo>
                  <a:pt x="1391" y="805215"/>
                </a:lnTo>
                <a:lnTo>
                  <a:pt x="5519" y="844103"/>
                </a:lnTo>
                <a:lnTo>
                  <a:pt x="12318" y="882427"/>
                </a:lnTo>
                <a:lnTo>
                  <a:pt x="21720" y="920137"/>
                </a:lnTo>
                <a:lnTo>
                  <a:pt x="33658" y="957186"/>
                </a:lnTo>
                <a:lnTo>
                  <a:pt x="48065" y="993525"/>
                </a:lnTo>
                <a:lnTo>
                  <a:pt x="64873" y="1029107"/>
                </a:lnTo>
                <a:lnTo>
                  <a:pt x="84016" y="1063882"/>
                </a:lnTo>
                <a:lnTo>
                  <a:pt x="105426" y="1097804"/>
                </a:lnTo>
                <a:lnTo>
                  <a:pt x="129036" y="1130824"/>
                </a:lnTo>
                <a:lnTo>
                  <a:pt x="154779" y="1162894"/>
                </a:lnTo>
                <a:lnTo>
                  <a:pt x="182587" y="1193966"/>
                </a:lnTo>
                <a:lnTo>
                  <a:pt x="212394" y="1223991"/>
                </a:lnTo>
                <a:lnTo>
                  <a:pt x="244132" y="1252921"/>
                </a:lnTo>
                <a:lnTo>
                  <a:pt x="277735" y="1280709"/>
                </a:lnTo>
                <a:lnTo>
                  <a:pt x="313134" y="1307306"/>
                </a:lnTo>
                <a:lnTo>
                  <a:pt x="350263" y="1332664"/>
                </a:lnTo>
                <a:lnTo>
                  <a:pt x="389055" y="1356734"/>
                </a:lnTo>
                <a:lnTo>
                  <a:pt x="429442" y="1379470"/>
                </a:lnTo>
                <a:lnTo>
                  <a:pt x="471357" y="1400822"/>
                </a:lnTo>
                <a:lnTo>
                  <a:pt x="514733" y="1420742"/>
                </a:lnTo>
                <a:lnTo>
                  <a:pt x="559503" y="1439183"/>
                </a:lnTo>
                <a:lnTo>
                  <a:pt x="605600" y="1456096"/>
                </a:lnTo>
                <a:lnTo>
                  <a:pt x="652956" y="1471433"/>
                </a:lnTo>
                <a:lnTo>
                  <a:pt x="701505" y="1485146"/>
                </a:lnTo>
                <a:lnTo>
                  <a:pt x="751178" y="1497187"/>
                </a:lnTo>
                <a:lnTo>
                  <a:pt x="801910" y="1507508"/>
                </a:lnTo>
                <a:lnTo>
                  <a:pt x="853632" y="1516060"/>
                </a:lnTo>
                <a:lnTo>
                  <a:pt x="906278" y="1522795"/>
                </a:lnTo>
                <a:lnTo>
                  <a:pt x="959780" y="1527665"/>
                </a:lnTo>
                <a:lnTo>
                  <a:pt x="1014072" y="1530623"/>
                </a:lnTo>
                <a:lnTo>
                  <a:pt x="1069086" y="1531619"/>
                </a:lnTo>
                <a:lnTo>
                  <a:pt x="1124099" y="1530623"/>
                </a:lnTo>
                <a:lnTo>
                  <a:pt x="1178391" y="1527665"/>
                </a:lnTo>
                <a:lnTo>
                  <a:pt x="1231893" y="1522795"/>
                </a:lnTo>
                <a:lnTo>
                  <a:pt x="1284539" y="1516060"/>
                </a:lnTo>
                <a:lnTo>
                  <a:pt x="1336261" y="1507508"/>
                </a:lnTo>
                <a:lnTo>
                  <a:pt x="1386993" y="1497187"/>
                </a:lnTo>
                <a:lnTo>
                  <a:pt x="1436666" y="1485146"/>
                </a:lnTo>
                <a:lnTo>
                  <a:pt x="1485215" y="1471433"/>
                </a:lnTo>
                <a:lnTo>
                  <a:pt x="1532571" y="1456096"/>
                </a:lnTo>
                <a:lnTo>
                  <a:pt x="1578668" y="1439183"/>
                </a:lnTo>
                <a:lnTo>
                  <a:pt x="1623438" y="1420742"/>
                </a:lnTo>
                <a:lnTo>
                  <a:pt x="1666814" y="1400822"/>
                </a:lnTo>
                <a:lnTo>
                  <a:pt x="1708729" y="1379470"/>
                </a:lnTo>
                <a:lnTo>
                  <a:pt x="1749116" y="1356734"/>
                </a:lnTo>
                <a:lnTo>
                  <a:pt x="1787908" y="1332664"/>
                </a:lnTo>
                <a:lnTo>
                  <a:pt x="1825037" y="1307306"/>
                </a:lnTo>
                <a:lnTo>
                  <a:pt x="1860436" y="1280709"/>
                </a:lnTo>
                <a:lnTo>
                  <a:pt x="1894039" y="1252921"/>
                </a:lnTo>
                <a:lnTo>
                  <a:pt x="1925777" y="1223991"/>
                </a:lnTo>
                <a:lnTo>
                  <a:pt x="1955584" y="1193966"/>
                </a:lnTo>
                <a:lnTo>
                  <a:pt x="1983392" y="1162894"/>
                </a:lnTo>
                <a:lnTo>
                  <a:pt x="2009135" y="1130824"/>
                </a:lnTo>
                <a:lnTo>
                  <a:pt x="2032745" y="1097804"/>
                </a:lnTo>
                <a:lnTo>
                  <a:pt x="2054155" y="1063882"/>
                </a:lnTo>
                <a:lnTo>
                  <a:pt x="2073298" y="1029107"/>
                </a:lnTo>
                <a:lnTo>
                  <a:pt x="2090106" y="993525"/>
                </a:lnTo>
                <a:lnTo>
                  <a:pt x="2104513" y="957186"/>
                </a:lnTo>
                <a:lnTo>
                  <a:pt x="2116451" y="920137"/>
                </a:lnTo>
                <a:lnTo>
                  <a:pt x="2125853" y="882427"/>
                </a:lnTo>
                <a:lnTo>
                  <a:pt x="2132652" y="844103"/>
                </a:lnTo>
                <a:lnTo>
                  <a:pt x="2136780" y="805215"/>
                </a:lnTo>
                <a:lnTo>
                  <a:pt x="2138172" y="765809"/>
                </a:lnTo>
                <a:lnTo>
                  <a:pt x="2136780" y="726404"/>
                </a:lnTo>
                <a:lnTo>
                  <a:pt x="2132652" y="687516"/>
                </a:lnTo>
                <a:lnTo>
                  <a:pt x="2125853" y="649192"/>
                </a:lnTo>
                <a:lnTo>
                  <a:pt x="2116451" y="611482"/>
                </a:lnTo>
                <a:lnTo>
                  <a:pt x="2104513" y="574433"/>
                </a:lnTo>
                <a:lnTo>
                  <a:pt x="2090106" y="538094"/>
                </a:lnTo>
                <a:lnTo>
                  <a:pt x="2073298" y="502512"/>
                </a:lnTo>
                <a:lnTo>
                  <a:pt x="2054155" y="467737"/>
                </a:lnTo>
                <a:lnTo>
                  <a:pt x="2032745" y="433815"/>
                </a:lnTo>
                <a:lnTo>
                  <a:pt x="2009135" y="400795"/>
                </a:lnTo>
                <a:lnTo>
                  <a:pt x="1983392" y="368725"/>
                </a:lnTo>
                <a:lnTo>
                  <a:pt x="1955584" y="337653"/>
                </a:lnTo>
                <a:lnTo>
                  <a:pt x="1925777" y="307628"/>
                </a:lnTo>
                <a:lnTo>
                  <a:pt x="1894039" y="278698"/>
                </a:lnTo>
                <a:lnTo>
                  <a:pt x="1860436" y="250910"/>
                </a:lnTo>
                <a:lnTo>
                  <a:pt x="1825037" y="224313"/>
                </a:lnTo>
                <a:lnTo>
                  <a:pt x="1787908" y="198955"/>
                </a:lnTo>
                <a:lnTo>
                  <a:pt x="1749116" y="174885"/>
                </a:lnTo>
                <a:lnTo>
                  <a:pt x="1708729" y="152149"/>
                </a:lnTo>
                <a:lnTo>
                  <a:pt x="1666814" y="130797"/>
                </a:lnTo>
                <a:lnTo>
                  <a:pt x="1623438" y="110877"/>
                </a:lnTo>
                <a:lnTo>
                  <a:pt x="1578668" y="92436"/>
                </a:lnTo>
                <a:lnTo>
                  <a:pt x="1532571" y="75523"/>
                </a:lnTo>
                <a:lnTo>
                  <a:pt x="1485215" y="60186"/>
                </a:lnTo>
                <a:lnTo>
                  <a:pt x="1436666" y="46473"/>
                </a:lnTo>
                <a:lnTo>
                  <a:pt x="1386993" y="34432"/>
                </a:lnTo>
                <a:lnTo>
                  <a:pt x="1336261" y="24111"/>
                </a:lnTo>
                <a:lnTo>
                  <a:pt x="1284539" y="15559"/>
                </a:lnTo>
                <a:lnTo>
                  <a:pt x="1231893" y="8824"/>
                </a:lnTo>
                <a:lnTo>
                  <a:pt x="1178391" y="3954"/>
                </a:lnTo>
                <a:lnTo>
                  <a:pt x="1124099" y="996"/>
                </a:lnTo>
                <a:lnTo>
                  <a:pt x="106908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3130295" y="4326128"/>
            <a:ext cx="1433195" cy="1167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73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Domain</a:t>
            </a:r>
            <a:endParaRPr sz="1800">
              <a:latin typeface="Arial"/>
              <a:cs typeface="Arial"/>
            </a:endParaRPr>
          </a:p>
          <a:p>
            <a:pPr marL="621665">
              <a:lnSpc>
                <a:spcPct val="100000"/>
              </a:lnSpc>
            </a:pPr>
            <a:r>
              <a:rPr dirty="0" sz="1800" spc="-10">
                <a:latin typeface="Arial"/>
                <a:cs typeface="Arial"/>
              </a:rPr>
              <a:t>Content</a:t>
            </a:r>
            <a:endParaRPr sz="1800">
              <a:latin typeface="Arial"/>
              <a:cs typeface="Arial"/>
            </a:endParaRPr>
          </a:p>
          <a:p>
            <a:pPr marR="728980" indent="16510">
              <a:lnSpc>
                <a:spcPct val="100000"/>
              </a:lnSpc>
              <a:spcBef>
                <a:spcPts val="1789"/>
              </a:spcBef>
            </a:pPr>
            <a:r>
              <a:rPr dirty="0" sz="1200">
                <a:latin typeface="Arial"/>
                <a:cs typeface="Arial"/>
              </a:rPr>
              <a:t>AI</a:t>
            </a:r>
            <a:r>
              <a:rPr dirty="0" sz="1200" spc="-10">
                <a:latin typeface="Arial"/>
                <a:cs typeface="Arial"/>
              </a:rPr>
              <a:t> Writing Assistants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7138161" y="4673853"/>
            <a:ext cx="1356995" cy="1130300"/>
            <a:chOff x="7138161" y="4673853"/>
            <a:chExt cx="1356995" cy="1130300"/>
          </a:xfrm>
        </p:grpSpPr>
        <p:sp>
          <p:nvSpPr>
            <p:cNvPr id="30" name="object 30" descr=""/>
            <p:cNvSpPr/>
            <p:nvPr/>
          </p:nvSpPr>
          <p:spPr>
            <a:xfrm>
              <a:off x="7144511" y="4680203"/>
              <a:ext cx="1344295" cy="1117600"/>
            </a:xfrm>
            <a:custGeom>
              <a:avLst/>
              <a:gdLst/>
              <a:ahLst/>
              <a:cxnLst/>
              <a:rect l="l" t="t" r="r" b="b"/>
              <a:pathLst>
                <a:path w="1344295" h="1117600">
                  <a:moveTo>
                    <a:pt x="672084" y="0"/>
                  </a:moveTo>
                  <a:lnTo>
                    <a:pt x="619555" y="1680"/>
                  </a:lnTo>
                  <a:lnTo>
                    <a:pt x="568134" y="6638"/>
                  </a:lnTo>
                  <a:lnTo>
                    <a:pt x="517968" y="14751"/>
                  </a:lnTo>
                  <a:lnTo>
                    <a:pt x="469208" y="25893"/>
                  </a:lnTo>
                  <a:lnTo>
                    <a:pt x="422003" y="39941"/>
                  </a:lnTo>
                  <a:lnTo>
                    <a:pt x="376501" y="56770"/>
                  </a:lnTo>
                  <a:lnTo>
                    <a:pt x="332852" y="76256"/>
                  </a:lnTo>
                  <a:lnTo>
                    <a:pt x="291207" y="98275"/>
                  </a:lnTo>
                  <a:lnTo>
                    <a:pt x="251713" y="122704"/>
                  </a:lnTo>
                  <a:lnTo>
                    <a:pt x="214520" y="149417"/>
                  </a:lnTo>
                  <a:lnTo>
                    <a:pt x="179778" y="178291"/>
                  </a:lnTo>
                  <a:lnTo>
                    <a:pt x="147636" y="209201"/>
                  </a:lnTo>
                  <a:lnTo>
                    <a:pt x="118244" y="242023"/>
                  </a:lnTo>
                  <a:lnTo>
                    <a:pt x="91750" y="276634"/>
                  </a:lnTo>
                  <a:lnTo>
                    <a:pt x="68304" y="312908"/>
                  </a:lnTo>
                  <a:lnTo>
                    <a:pt x="48055" y="350723"/>
                  </a:lnTo>
                  <a:lnTo>
                    <a:pt x="31154" y="389953"/>
                  </a:lnTo>
                  <a:lnTo>
                    <a:pt x="17748" y="430474"/>
                  </a:lnTo>
                  <a:lnTo>
                    <a:pt x="7987" y="472163"/>
                  </a:lnTo>
                  <a:lnTo>
                    <a:pt x="2021" y="514895"/>
                  </a:lnTo>
                  <a:lnTo>
                    <a:pt x="0" y="558546"/>
                  </a:lnTo>
                  <a:lnTo>
                    <a:pt x="2021" y="602196"/>
                  </a:lnTo>
                  <a:lnTo>
                    <a:pt x="7987" y="644928"/>
                  </a:lnTo>
                  <a:lnTo>
                    <a:pt x="17748" y="686617"/>
                  </a:lnTo>
                  <a:lnTo>
                    <a:pt x="31154" y="727138"/>
                  </a:lnTo>
                  <a:lnTo>
                    <a:pt x="48055" y="766368"/>
                  </a:lnTo>
                  <a:lnTo>
                    <a:pt x="68304" y="804183"/>
                  </a:lnTo>
                  <a:lnTo>
                    <a:pt x="91750" y="840457"/>
                  </a:lnTo>
                  <a:lnTo>
                    <a:pt x="118244" y="875068"/>
                  </a:lnTo>
                  <a:lnTo>
                    <a:pt x="147636" y="907890"/>
                  </a:lnTo>
                  <a:lnTo>
                    <a:pt x="179778" y="938800"/>
                  </a:lnTo>
                  <a:lnTo>
                    <a:pt x="214520" y="967674"/>
                  </a:lnTo>
                  <a:lnTo>
                    <a:pt x="251713" y="994387"/>
                  </a:lnTo>
                  <a:lnTo>
                    <a:pt x="291207" y="1018816"/>
                  </a:lnTo>
                  <a:lnTo>
                    <a:pt x="332852" y="1040835"/>
                  </a:lnTo>
                  <a:lnTo>
                    <a:pt x="376501" y="1060321"/>
                  </a:lnTo>
                  <a:lnTo>
                    <a:pt x="422003" y="1077150"/>
                  </a:lnTo>
                  <a:lnTo>
                    <a:pt x="469208" y="1091198"/>
                  </a:lnTo>
                  <a:lnTo>
                    <a:pt x="517968" y="1102340"/>
                  </a:lnTo>
                  <a:lnTo>
                    <a:pt x="568134" y="1110453"/>
                  </a:lnTo>
                  <a:lnTo>
                    <a:pt x="619555" y="1115411"/>
                  </a:lnTo>
                  <a:lnTo>
                    <a:pt x="672084" y="1117092"/>
                  </a:lnTo>
                  <a:lnTo>
                    <a:pt x="724612" y="1115411"/>
                  </a:lnTo>
                  <a:lnTo>
                    <a:pt x="776033" y="1110453"/>
                  </a:lnTo>
                  <a:lnTo>
                    <a:pt x="826199" y="1102340"/>
                  </a:lnTo>
                  <a:lnTo>
                    <a:pt x="874959" y="1091198"/>
                  </a:lnTo>
                  <a:lnTo>
                    <a:pt x="922164" y="1077150"/>
                  </a:lnTo>
                  <a:lnTo>
                    <a:pt x="967666" y="1060321"/>
                  </a:lnTo>
                  <a:lnTo>
                    <a:pt x="1011315" y="1040835"/>
                  </a:lnTo>
                  <a:lnTo>
                    <a:pt x="1052960" y="1018816"/>
                  </a:lnTo>
                  <a:lnTo>
                    <a:pt x="1092454" y="994387"/>
                  </a:lnTo>
                  <a:lnTo>
                    <a:pt x="1129647" y="967674"/>
                  </a:lnTo>
                  <a:lnTo>
                    <a:pt x="1164389" y="938800"/>
                  </a:lnTo>
                  <a:lnTo>
                    <a:pt x="1196531" y="907890"/>
                  </a:lnTo>
                  <a:lnTo>
                    <a:pt x="1225923" y="875068"/>
                  </a:lnTo>
                  <a:lnTo>
                    <a:pt x="1252417" y="840457"/>
                  </a:lnTo>
                  <a:lnTo>
                    <a:pt x="1275863" y="804183"/>
                  </a:lnTo>
                  <a:lnTo>
                    <a:pt x="1296112" y="766368"/>
                  </a:lnTo>
                  <a:lnTo>
                    <a:pt x="1313013" y="727138"/>
                  </a:lnTo>
                  <a:lnTo>
                    <a:pt x="1326419" y="686617"/>
                  </a:lnTo>
                  <a:lnTo>
                    <a:pt x="1336180" y="644928"/>
                  </a:lnTo>
                  <a:lnTo>
                    <a:pt x="1342146" y="602196"/>
                  </a:lnTo>
                  <a:lnTo>
                    <a:pt x="1344168" y="558546"/>
                  </a:lnTo>
                  <a:lnTo>
                    <a:pt x="1342146" y="514895"/>
                  </a:lnTo>
                  <a:lnTo>
                    <a:pt x="1336180" y="472163"/>
                  </a:lnTo>
                  <a:lnTo>
                    <a:pt x="1326419" y="430474"/>
                  </a:lnTo>
                  <a:lnTo>
                    <a:pt x="1313013" y="389953"/>
                  </a:lnTo>
                  <a:lnTo>
                    <a:pt x="1296112" y="350723"/>
                  </a:lnTo>
                  <a:lnTo>
                    <a:pt x="1275863" y="312908"/>
                  </a:lnTo>
                  <a:lnTo>
                    <a:pt x="1252417" y="276634"/>
                  </a:lnTo>
                  <a:lnTo>
                    <a:pt x="1225923" y="242023"/>
                  </a:lnTo>
                  <a:lnTo>
                    <a:pt x="1196531" y="209201"/>
                  </a:lnTo>
                  <a:lnTo>
                    <a:pt x="1164389" y="178291"/>
                  </a:lnTo>
                  <a:lnTo>
                    <a:pt x="1129647" y="149417"/>
                  </a:lnTo>
                  <a:lnTo>
                    <a:pt x="1092454" y="122704"/>
                  </a:lnTo>
                  <a:lnTo>
                    <a:pt x="1052960" y="98275"/>
                  </a:lnTo>
                  <a:lnTo>
                    <a:pt x="1011315" y="76256"/>
                  </a:lnTo>
                  <a:lnTo>
                    <a:pt x="967666" y="56770"/>
                  </a:lnTo>
                  <a:lnTo>
                    <a:pt x="922164" y="39941"/>
                  </a:lnTo>
                  <a:lnTo>
                    <a:pt x="874959" y="25893"/>
                  </a:lnTo>
                  <a:lnTo>
                    <a:pt x="826199" y="14751"/>
                  </a:lnTo>
                  <a:lnTo>
                    <a:pt x="776033" y="6638"/>
                  </a:lnTo>
                  <a:lnTo>
                    <a:pt x="724612" y="1680"/>
                  </a:lnTo>
                  <a:lnTo>
                    <a:pt x="672084" y="0"/>
                  </a:lnTo>
                  <a:close/>
                </a:path>
              </a:pathLst>
            </a:custGeom>
            <a:solidFill>
              <a:srgbClr val="FDC1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144511" y="4680203"/>
              <a:ext cx="1344295" cy="1117600"/>
            </a:xfrm>
            <a:custGeom>
              <a:avLst/>
              <a:gdLst/>
              <a:ahLst/>
              <a:cxnLst/>
              <a:rect l="l" t="t" r="r" b="b"/>
              <a:pathLst>
                <a:path w="1344295" h="1117600">
                  <a:moveTo>
                    <a:pt x="0" y="558546"/>
                  </a:moveTo>
                  <a:lnTo>
                    <a:pt x="2021" y="514895"/>
                  </a:lnTo>
                  <a:lnTo>
                    <a:pt x="7987" y="472163"/>
                  </a:lnTo>
                  <a:lnTo>
                    <a:pt x="17748" y="430474"/>
                  </a:lnTo>
                  <a:lnTo>
                    <a:pt x="31154" y="389953"/>
                  </a:lnTo>
                  <a:lnTo>
                    <a:pt x="48055" y="350723"/>
                  </a:lnTo>
                  <a:lnTo>
                    <a:pt x="68304" y="312908"/>
                  </a:lnTo>
                  <a:lnTo>
                    <a:pt x="91750" y="276634"/>
                  </a:lnTo>
                  <a:lnTo>
                    <a:pt x="118244" y="242023"/>
                  </a:lnTo>
                  <a:lnTo>
                    <a:pt x="147636" y="209201"/>
                  </a:lnTo>
                  <a:lnTo>
                    <a:pt x="179778" y="178291"/>
                  </a:lnTo>
                  <a:lnTo>
                    <a:pt x="214520" y="149417"/>
                  </a:lnTo>
                  <a:lnTo>
                    <a:pt x="251713" y="122704"/>
                  </a:lnTo>
                  <a:lnTo>
                    <a:pt x="291207" y="98275"/>
                  </a:lnTo>
                  <a:lnTo>
                    <a:pt x="332852" y="76256"/>
                  </a:lnTo>
                  <a:lnTo>
                    <a:pt x="376501" y="56770"/>
                  </a:lnTo>
                  <a:lnTo>
                    <a:pt x="422003" y="39941"/>
                  </a:lnTo>
                  <a:lnTo>
                    <a:pt x="469208" y="25893"/>
                  </a:lnTo>
                  <a:lnTo>
                    <a:pt x="517968" y="14751"/>
                  </a:lnTo>
                  <a:lnTo>
                    <a:pt x="568134" y="6638"/>
                  </a:lnTo>
                  <a:lnTo>
                    <a:pt x="619555" y="1680"/>
                  </a:lnTo>
                  <a:lnTo>
                    <a:pt x="672084" y="0"/>
                  </a:lnTo>
                  <a:lnTo>
                    <a:pt x="724612" y="1680"/>
                  </a:lnTo>
                  <a:lnTo>
                    <a:pt x="776033" y="6638"/>
                  </a:lnTo>
                  <a:lnTo>
                    <a:pt x="826199" y="14751"/>
                  </a:lnTo>
                  <a:lnTo>
                    <a:pt x="874959" y="25893"/>
                  </a:lnTo>
                  <a:lnTo>
                    <a:pt x="922164" y="39941"/>
                  </a:lnTo>
                  <a:lnTo>
                    <a:pt x="967666" y="56770"/>
                  </a:lnTo>
                  <a:lnTo>
                    <a:pt x="1011315" y="76256"/>
                  </a:lnTo>
                  <a:lnTo>
                    <a:pt x="1052960" y="98275"/>
                  </a:lnTo>
                  <a:lnTo>
                    <a:pt x="1092454" y="122704"/>
                  </a:lnTo>
                  <a:lnTo>
                    <a:pt x="1129647" y="149417"/>
                  </a:lnTo>
                  <a:lnTo>
                    <a:pt x="1164389" y="178291"/>
                  </a:lnTo>
                  <a:lnTo>
                    <a:pt x="1196531" y="209201"/>
                  </a:lnTo>
                  <a:lnTo>
                    <a:pt x="1225923" y="242023"/>
                  </a:lnTo>
                  <a:lnTo>
                    <a:pt x="1252417" y="276634"/>
                  </a:lnTo>
                  <a:lnTo>
                    <a:pt x="1275863" y="312908"/>
                  </a:lnTo>
                  <a:lnTo>
                    <a:pt x="1296112" y="350723"/>
                  </a:lnTo>
                  <a:lnTo>
                    <a:pt x="1313013" y="389953"/>
                  </a:lnTo>
                  <a:lnTo>
                    <a:pt x="1326419" y="430474"/>
                  </a:lnTo>
                  <a:lnTo>
                    <a:pt x="1336180" y="472163"/>
                  </a:lnTo>
                  <a:lnTo>
                    <a:pt x="1342146" y="514895"/>
                  </a:lnTo>
                  <a:lnTo>
                    <a:pt x="1344168" y="558546"/>
                  </a:lnTo>
                  <a:lnTo>
                    <a:pt x="1342146" y="602196"/>
                  </a:lnTo>
                  <a:lnTo>
                    <a:pt x="1336180" y="644928"/>
                  </a:lnTo>
                  <a:lnTo>
                    <a:pt x="1326419" y="686617"/>
                  </a:lnTo>
                  <a:lnTo>
                    <a:pt x="1313013" y="727138"/>
                  </a:lnTo>
                  <a:lnTo>
                    <a:pt x="1296112" y="766368"/>
                  </a:lnTo>
                  <a:lnTo>
                    <a:pt x="1275863" y="804183"/>
                  </a:lnTo>
                  <a:lnTo>
                    <a:pt x="1252417" y="840457"/>
                  </a:lnTo>
                  <a:lnTo>
                    <a:pt x="1225923" y="875068"/>
                  </a:lnTo>
                  <a:lnTo>
                    <a:pt x="1196531" y="907890"/>
                  </a:lnTo>
                  <a:lnTo>
                    <a:pt x="1164389" y="938800"/>
                  </a:lnTo>
                  <a:lnTo>
                    <a:pt x="1129647" y="967674"/>
                  </a:lnTo>
                  <a:lnTo>
                    <a:pt x="1092454" y="994387"/>
                  </a:lnTo>
                  <a:lnTo>
                    <a:pt x="1052960" y="1018816"/>
                  </a:lnTo>
                  <a:lnTo>
                    <a:pt x="1011315" y="1040835"/>
                  </a:lnTo>
                  <a:lnTo>
                    <a:pt x="967666" y="1060321"/>
                  </a:lnTo>
                  <a:lnTo>
                    <a:pt x="922164" y="1077150"/>
                  </a:lnTo>
                  <a:lnTo>
                    <a:pt x="874959" y="1091198"/>
                  </a:lnTo>
                  <a:lnTo>
                    <a:pt x="826199" y="1102340"/>
                  </a:lnTo>
                  <a:lnTo>
                    <a:pt x="776033" y="1110453"/>
                  </a:lnTo>
                  <a:lnTo>
                    <a:pt x="724612" y="1115411"/>
                  </a:lnTo>
                  <a:lnTo>
                    <a:pt x="672084" y="1117092"/>
                  </a:lnTo>
                  <a:lnTo>
                    <a:pt x="619555" y="1115411"/>
                  </a:lnTo>
                  <a:lnTo>
                    <a:pt x="568134" y="1110453"/>
                  </a:lnTo>
                  <a:lnTo>
                    <a:pt x="517968" y="1102340"/>
                  </a:lnTo>
                  <a:lnTo>
                    <a:pt x="469208" y="1091198"/>
                  </a:lnTo>
                  <a:lnTo>
                    <a:pt x="422003" y="1077150"/>
                  </a:lnTo>
                  <a:lnTo>
                    <a:pt x="376501" y="1060321"/>
                  </a:lnTo>
                  <a:lnTo>
                    <a:pt x="332852" y="1040835"/>
                  </a:lnTo>
                  <a:lnTo>
                    <a:pt x="291207" y="1018816"/>
                  </a:lnTo>
                  <a:lnTo>
                    <a:pt x="251713" y="994387"/>
                  </a:lnTo>
                  <a:lnTo>
                    <a:pt x="214520" y="967674"/>
                  </a:lnTo>
                  <a:lnTo>
                    <a:pt x="179778" y="938800"/>
                  </a:lnTo>
                  <a:lnTo>
                    <a:pt x="147636" y="907890"/>
                  </a:lnTo>
                  <a:lnTo>
                    <a:pt x="118244" y="875068"/>
                  </a:lnTo>
                  <a:lnTo>
                    <a:pt x="91750" y="840457"/>
                  </a:lnTo>
                  <a:lnTo>
                    <a:pt x="68304" y="804183"/>
                  </a:lnTo>
                  <a:lnTo>
                    <a:pt x="48055" y="766368"/>
                  </a:lnTo>
                  <a:lnTo>
                    <a:pt x="31154" y="727138"/>
                  </a:lnTo>
                  <a:lnTo>
                    <a:pt x="17748" y="686617"/>
                  </a:lnTo>
                  <a:lnTo>
                    <a:pt x="7987" y="644928"/>
                  </a:lnTo>
                  <a:lnTo>
                    <a:pt x="2021" y="602196"/>
                  </a:lnTo>
                  <a:lnTo>
                    <a:pt x="0" y="558546"/>
                  </a:lnTo>
                  <a:close/>
                </a:path>
              </a:pathLst>
            </a:custGeom>
            <a:ln w="12700">
              <a:solidFill>
                <a:srgbClr val="0028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520940" y="5040248"/>
            <a:ext cx="6051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1016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02855"/>
                </a:solidFill>
                <a:latin typeface="Arial"/>
                <a:cs typeface="Arial"/>
              </a:rPr>
              <a:t>Video analytics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Use</a:t>
            </a:r>
            <a:r>
              <a:rPr dirty="0" spc="-1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Case</a:t>
            </a:r>
            <a:r>
              <a:rPr dirty="0" spc="-114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For</a:t>
            </a:r>
            <a:r>
              <a:rPr dirty="0" spc="-95">
                <a:solidFill>
                  <a:srgbClr val="FFFFFF"/>
                </a:solidFill>
              </a:rPr>
              <a:t> </a:t>
            </a:r>
            <a:r>
              <a:rPr dirty="0" spc="-30">
                <a:solidFill>
                  <a:srgbClr val="FFFFFF"/>
                </a:solidFill>
              </a:rPr>
              <a:t>Text</a:t>
            </a:r>
            <a:r>
              <a:rPr dirty="0" spc="-10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Automation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354200"/>
            <a:ext cx="10371455" cy="420878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259079" indent="-246379">
              <a:lnSpc>
                <a:spcPct val="100000"/>
              </a:lnSpc>
              <a:spcBef>
                <a:spcPts val="1015"/>
              </a:spcBef>
              <a:buChar char="•"/>
              <a:tabLst>
                <a:tab pos="259079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Q&amp;A,</a:t>
            </a:r>
            <a:r>
              <a:rPr dirty="0" sz="24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Translation,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Summarization</a:t>
            </a:r>
            <a:endParaRPr sz="24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915"/>
              </a:spcBef>
              <a:buChar char="•"/>
              <a:tabLst>
                <a:tab pos="259079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Domain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endParaRPr sz="2400">
              <a:latin typeface="Arial"/>
              <a:cs typeface="Arial"/>
            </a:endParaRPr>
          </a:p>
          <a:p>
            <a:pPr lvl="1" marL="753110" indent="-311150">
              <a:lnSpc>
                <a:spcPct val="100000"/>
              </a:lnSpc>
              <a:spcBef>
                <a:spcPts val="910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Summarization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Translation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Legal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Document</a:t>
            </a:r>
            <a:endParaRPr sz="2400">
              <a:latin typeface="Arial"/>
              <a:cs typeface="Arial"/>
            </a:endParaRPr>
          </a:p>
          <a:p>
            <a:pPr lvl="1" marL="753110" indent="-311150">
              <a:lnSpc>
                <a:spcPct val="100000"/>
              </a:lnSpc>
              <a:spcBef>
                <a:spcPts val="915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Automated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Report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Writing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Clinical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Trial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Pharma</a:t>
            </a:r>
            <a:endParaRPr sz="2400">
              <a:latin typeface="Arial"/>
              <a:cs typeface="Arial"/>
            </a:endParaRPr>
          </a:p>
          <a:p>
            <a:pPr lvl="1" marL="753110" marR="5080" indent="-311150">
              <a:lnSpc>
                <a:spcPts val="2590"/>
              </a:lnSpc>
              <a:spcBef>
                <a:spcPts val="1240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2400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Model,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Sizing,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SWOT</a:t>
            </a:r>
            <a:r>
              <a:rPr dirty="0" sz="2400" spc="-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Analysis,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PEST</a:t>
            </a:r>
            <a:r>
              <a:rPr dirty="0" sz="2400" spc="-1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Analysis,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Brand Naming</a:t>
            </a:r>
            <a:endParaRPr sz="2400">
              <a:latin typeface="Arial"/>
              <a:cs typeface="Arial"/>
            </a:endParaRPr>
          </a:p>
          <a:p>
            <a:pPr lvl="1" marL="753110" indent="-311150">
              <a:lnSpc>
                <a:spcPct val="100000"/>
              </a:lnSpc>
              <a:spcBef>
                <a:spcPts val="875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Media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Converting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Sports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News</a:t>
            </a:r>
            <a:endParaRPr sz="2400">
              <a:latin typeface="Arial"/>
              <a:cs typeface="Arial"/>
            </a:endParaRPr>
          </a:p>
          <a:p>
            <a:pPr lvl="1" marL="753110" indent="-311150">
              <a:lnSpc>
                <a:spcPct val="100000"/>
              </a:lnSpc>
              <a:spcBef>
                <a:spcPts val="915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Sports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Player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Report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dirty="0" sz="24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Analytics</a:t>
            </a:r>
            <a:endParaRPr sz="2400">
              <a:latin typeface="Arial"/>
              <a:cs typeface="Arial"/>
            </a:endParaRPr>
          </a:p>
          <a:p>
            <a:pPr lvl="1" marL="753110" indent="-311150">
              <a:lnSpc>
                <a:spcPct val="100000"/>
              </a:lnSpc>
              <a:spcBef>
                <a:spcPts val="915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Real</a:t>
            </a:r>
            <a:r>
              <a:rPr dirty="0" sz="24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Financial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74701"/>
            <a:ext cx="964819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Use</a:t>
            </a:r>
            <a:r>
              <a:rPr dirty="0" spc="-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Case:</a:t>
            </a:r>
            <a:r>
              <a:rPr dirty="0" spc="-8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Automated</a:t>
            </a:r>
            <a:r>
              <a:rPr dirty="0" spc="-7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Clinical</a:t>
            </a:r>
            <a:r>
              <a:rPr dirty="0" spc="-10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Trial</a:t>
            </a:r>
            <a:r>
              <a:rPr dirty="0" spc="-8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Reports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973196"/>
            <a:ext cx="8571865" cy="423799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24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Challenge</a:t>
            </a:r>
            <a:endParaRPr sz="24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1000"/>
              </a:spcBef>
              <a:buChar char="•"/>
              <a:tabLst>
                <a:tab pos="259079" algn="l"/>
              </a:tabLst>
            </a:pP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third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party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dependency to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build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reports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clinical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trial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endParaRPr sz="18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har char="•"/>
              <a:tabLst>
                <a:tab pos="259079" algn="l"/>
              </a:tabLst>
            </a:pP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time,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effort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required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build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report.</a:t>
            </a:r>
            <a:endParaRPr sz="18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har char="•"/>
              <a:tabLst>
                <a:tab pos="259079" algn="l"/>
              </a:tabLst>
            </a:pP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human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error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operational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efficiency.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70"/>
              </a:spcBef>
              <a:buClr>
                <a:srgbClr val="FFFFFF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Value</a:t>
            </a:r>
            <a:r>
              <a:rPr dirty="0" sz="24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Achieved</a:t>
            </a:r>
            <a:endParaRPr sz="24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994"/>
              </a:spcBef>
              <a:buChar char="•"/>
              <a:tabLst>
                <a:tab pos="259079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65%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reduction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spent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documentation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generation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hence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faster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approvals.</a:t>
            </a:r>
            <a:endParaRPr sz="18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har char="•"/>
              <a:tabLst>
                <a:tab pos="259079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40%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expected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reduction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writing.</a:t>
            </a:r>
            <a:endParaRPr sz="18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har char="•"/>
              <a:tabLst>
                <a:tab pos="259079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50%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reduction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reviews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required.</a:t>
            </a:r>
            <a:endParaRPr sz="18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har char="•"/>
              <a:tabLst>
                <a:tab pos="259079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Increase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operational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efficiencies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standardized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streamlined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process.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5805627"/>
            <a:ext cx="1080135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r>
              <a:rPr dirty="0" sz="1050" spc="4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sng" sz="1050" spc="-1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"/>
                <a:cs typeface="Arial"/>
                <a:hlinkClick r:id="rId2"/>
              </a:rPr>
              <a:t>https://www.narrativa.com/4-benefits-</a:t>
            </a:r>
            <a:r>
              <a:rPr dirty="0" u="sng" sz="105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"/>
                <a:cs typeface="Arial"/>
                <a:hlinkClick r:id="rId2"/>
              </a:rPr>
              <a:t>of-</a:t>
            </a:r>
            <a:r>
              <a:rPr dirty="0" u="sng" sz="1050" spc="-1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"/>
                <a:cs typeface="Arial"/>
                <a:hlinkClick r:id="rId2"/>
              </a:rPr>
              <a:t>automating-clinical-study-reports-</a:t>
            </a:r>
            <a:r>
              <a:rPr dirty="0" u="sng" sz="105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"/>
                <a:cs typeface="Arial"/>
                <a:hlinkClick r:id="rId2"/>
              </a:rPr>
              <a:t>csrs/</a:t>
            </a:r>
            <a:r>
              <a:rPr dirty="0" u="none" sz="105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u="none" sz="1050" spc="3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sng" sz="1050" spc="-1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"/>
                <a:cs typeface="Arial"/>
                <a:hlinkClick r:id="rId3"/>
              </a:rPr>
              <a:t>https://www.narrativa.com/narrativa-lls-bring-ai-generated-reporting-to-the-clinical-trial-process/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Use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Cases</a:t>
            </a:r>
            <a:r>
              <a:rPr dirty="0" spc="-6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For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Image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and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Video</a:t>
            </a:r>
            <a:r>
              <a:rPr dirty="0" spc="-4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Automation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470405"/>
            <a:ext cx="10781665" cy="20135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59079" marR="298450" indent="-247015">
              <a:lnSpc>
                <a:spcPts val="2600"/>
              </a:lnSpc>
              <a:spcBef>
                <a:spcPts val="420"/>
              </a:spcBef>
              <a:buChar char="•"/>
              <a:tabLst>
                <a:tab pos="259079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Personalized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Customized</a:t>
            </a:r>
            <a:r>
              <a:rPr dirty="0" sz="24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Advertisement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Geography, Race,</a:t>
            </a:r>
            <a:r>
              <a:rPr dirty="0" sz="2400" spc="-1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Age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Group,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Profession</a:t>
            </a:r>
            <a:endParaRPr sz="24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865"/>
              </a:spcBef>
              <a:buChar char="•"/>
              <a:tabLst>
                <a:tab pos="259079" algn="l"/>
              </a:tabLst>
            </a:pP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Creative</a:t>
            </a:r>
            <a:r>
              <a:rPr dirty="0" sz="2400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Advertisement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dirty="0" sz="24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endParaRPr sz="2400">
              <a:latin typeface="Arial"/>
              <a:cs typeface="Arial"/>
            </a:endParaRPr>
          </a:p>
          <a:p>
            <a:pPr marL="259079" marR="5080" indent="-247015">
              <a:lnSpc>
                <a:spcPts val="2590"/>
              </a:lnSpc>
              <a:spcBef>
                <a:spcPts val="1240"/>
              </a:spcBef>
              <a:buChar char="•"/>
              <a:tabLst>
                <a:tab pos="259079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AI-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generated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customized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trailer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preference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towards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emotions, thriller,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action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931" y="3855720"/>
            <a:ext cx="4229100" cy="20193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9676" y="3855720"/>
            <a:ext cx="5498591" cy="2019300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74701"/>
            <a:ext cx="980059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Use</a:t>
            </a:r>
            <a:r>
              <a:rPr dirty="0" spc="-7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Case:</a:t>
            </a:r>
            <a:r>
              <a:rPr dirty="0" spc="-7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Creative</a:t>
            </a:r>
            <a:r>
              <a:rPr dirty="0" spc="-6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Ads</a:t>
            </a:r>
            <a:r>
              <a:rPr dirty="0" spc="-7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Using</a:t>
            </a:r>
            <a:r>
              <a:rPr dirty="0" spc="-6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Generative</a:t>
            </a:r>
            <a:r>
              <a:rPr dirty="0" spc="-6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133759"/>
            <a:ext cx="10619740" cy="3041015"/>
          </a:xfrm>
          <a:prstGeom prst="rect">
            <a:avLst/>
          </a:prstGeom>
        </p:spPr>
        <p:txBody>
          <a:bodyPr wrap="square" lIns="0" tIns="181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Challenge</a:t>
            </a:r>
            <a:endParaRPr sz="24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1000"/>
              </a:spcBef>
              <a:buChar char="•"/>
              <a:tabLst>
                <a:tab pos="259079" algn="l"/>
              </a:tabLst>
            </a:pP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acquisition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50%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performing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creatives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ads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dog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food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brand.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75"/>
              </a:spcBef>
              <a:buClr>
                <a:srgbClr val="FFFFFF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Achieved</a:t>
            </a:r>
            <a:endParaRPr sz="24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1000"/>
              </a:spcBef>
              <a:buChar char="•"/>
              <a:tabLst>
                <a:tab pos="259079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16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ads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tested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performing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ads.</a:t>
            </a:r>
            <a:endParaRPr sz="18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980"/>
              </a:spcBef>
              <a:buChar char="•"/>
              <a:tabLst>
                <a:tab pos="259079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Average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15%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reduction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acquisition.</a:t>
            </a:r>
            <a:endParaRPr sz="18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985"/>
              </a:spcBef>
              <a:buChar char="•"/>
              <a:tabLst>
                <a:tab pos="259079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Max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56%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reduction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acquisition.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4500" y="5975400"/>
            <a:ext cx="3081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r>
              <a:rPr dirty="0" sz="1050" spc="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sng" sz="1050" spc="-10">
                <a:solidFill>
                  <a:srgbClr val="0052D5"/>
                </a:solidFill>
                <a:uFill>
                  <a:solidFill>
                    <a:srgbClr val="0052D5"/>
                  </a:solidFill>
                </a:uFill>
                <a:latin typeface="Arial"/>
                <a:cs typeface="Arial"/>
                <a:hlinkClick r:id="rId2"/>
              </a:rPr>
              <a:t>https://www.trypencil.com/mini-case-studies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3535" y="2750820"/>
            <a:ext cx="5465064" cy="195833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>
                <a:solidFill>
                  <a:srgbClr val="FFFFFF"/>
                </a:solidFill>
              </a:rPr>
              <a:t>AI-Generated</a:t>
            </a:r>
            <a:r>
              <a:rPr dirty="0" spc="-4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Content</a:t>
            </a:r>
            <a:r>
              <a:rPr dirty="0" spc="-4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Implications</a:t>
            </a:r>
            <a:r>
              <a:rPr dirty="0" spc="-60">
                <a:solidFill>
                  <a:srgbClr val="FFFFFF"/>
                </a:solidFill>
              </a:rPr>
              <a:t> </a:t>
            </a:r>
            <a:r>
              <a:rPr dirty="0" spc="-50">
                <a:solidFill>
                  <a:srgbClr val="FFFFFF"/>
                </a:solidFill>
              </a:rPr>
              <a:t>&amp; </a:t>
            </a:r>
            <a:r>
              <a:rPr dirty="0" spc="-1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354200"/>
            <a:ext cx="11170920" cy="294068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259079" indent="-246379">
              <a:lnSpc>
                <a:spcPct val="100000"/>
              </a:lnSpc>
              <a:spcBef>
                <a:spcPts val="1015"/>
              </a:spcBef>
              <a:buChar char="•"/>
              <a:tabLst>
                <a:tab pos="259079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Implications</a:t>
            </a:r>
            <a:endParaRPr sz="2400">
              <a:latin typeface="Arial"/>
              <a:cs typeface="Arial"/>
            </a:endParaRPr>
          </a:p>
          <a:p>
            <a:pPr lvl="1" marL="753110" marR="516255" indent="-311150">
              <a:lnSpc>
                <a:spcPts val="2590"/>
              </a:lnSpc>
              <a:spcBef>
                <a:spcPts val="1240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2027,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Nearly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50%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outbound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messages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large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organizations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synthetically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generated;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less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than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5%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today.</a:t>
            </a:r>
            <a:endParaRPr sz="2400">
              <a:latin typeface="Arial"/>
              <a:cs typeface="Arial"/>
            </a:endParaRPr>
          </a:p>
          <a:p>
            <a:pPr lvl="1" marL="753110" marR="220345" indent="-311150">
              <a:lnSpc>
                <a:spcPts val="2590"/>
              </a:lnSpc>
              <a:spcBef>
                <a:spcPts val="1205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Broad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spectrum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advertising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support: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copy,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images,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video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driving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massive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disruption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internal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third-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party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ecosystems.</a:t>
            </a:r>
            <a:endParaRPr sz="2400">
              <a:latin typeface="Arial"/>
              <a:cs typeface="Arial"/>
            </a:endParaRPr>
          </a:p>
          <a:p>
            <a:pPr lvl="1" marL="753110" marR="5080" indent="-311150">
              <a:lnSpc>
                <a:spcPts val="2590"/>
              </a:lnSpc>
              <a:spcBef>
                <a:spcPts val="1205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put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misuse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lead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creation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fake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news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propaganda.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>
                <a:solidFill>
                  <a:srgbClr val="FFFFFF"/>
                </a:solidFill>
              </a:rPr>
              <a:t>AI-Generated</a:t>
            </a:r>
            <a:r>
              <a:rPr dirty="0" spc="-4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Content</a:t>
            </a:r>
            <a:r>
              <a:rPr dirty="0" spc="-4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Implications</a:t>
            </a:r>
            <a:r>
              <a:rPr dirty="0" spc="-60">
                <a:solidFill>
                  <a:srgbClr val="FFFFFF"/>
                </a:solidFill>
              </a:rPr>
              <a:t> </a:t>
            </a:r>
            <a:r>
              <a:rPr dirty="0" spc="-50">
                <a:solidFill>
                  <a:srgbClr val="FFFFFF"/>
                </a:solidFill>
              </a:rPr>
              <a:t>&amp; </a:t>
            </a:r>
            <a:r>
              <a:rPr dirty="0" spc="-1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354200"/>
            <a:ext cx="11256645" cy="326961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259079" indent="-246379">
              <a:lnSpc>
                <a:spcPct val="100000"/>
              </a:lnSpc>
              <a:spcBef>
                <a:spcPts val="1015"/>
              </a:spcBef>
              <a:buChar char="•"/>
              <a:tabLst>
                <a:tab pos="259079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Recommendations</a:t>
            </a:r>
            <a:endParaRPr sz="2400">
              <a:latin typeface="Arial"/>
              <a:cs typeface="Arial"/>
            </a:endParaRPr>
          </a:p>
          <a:p>
            <a:pPr lvl="1" marL="753110" marR="561975" indent="-311150">
              <a:lnSpc>
                <a:spcPts val="2590"/>
              </a:lnSpc>
              <a:spcBef>
                <a:spcPts val="1240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Build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transformational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dirty="0" sz="2400" spc="-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domain-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solutions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applying generative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information-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driven</a:t>
            </a:r>
            <a:r>
              <a:rPr dirty="0" sz="24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processes.</a:t>
            </a:r>
            <a:endParaRPr sz="2400">
              <a:latin typeface="Arial"/>
              <a:cs typeface="Arial"/>
            </a:endParaRPr>
          </a:p>
          <a:p>
            <a:pPr lvl="1" marL="753110" marR="535305" indent="-311150">
              <a:lnSpc>
                <a:spcPts val="2590"/>
              </a:lnSpc>
              <a:spcBef>
                <a:spcPts val="1205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Include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veracity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part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offerings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risk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profile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cases.</a:t>
            </a:r>
            <a:endParaRPr sz="2400">
              <a:latin typeface="Arial"/>
              <a:cs typeface="Arial"/>
            </a:endParaRPr>
          </a:p>
          <a:p>
            <a:pPr lvl="1" marL="753110" marR="5080" indent="-311150">
              <a:lnSpc>
                <a:spcPts val="2590"/>
              </a:lnSpc>
              <a:spcBef>
                <a:spcPts val="1205"/>
              </a:spcBef>
              <a:buChar char="–"/>
              <a:tabLst>
                <a:tab pos="75311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Ensure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responsible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ethical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400" spc="-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being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transparent.</a:t>
            </a:r>
            <a:r>
              <a:rPr dirty="0" sz="2400" spc="-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Amend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privacy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disclosures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include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role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play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shaping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experience.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353311"/>
            <a:ext cx="1755775" cy="3291840"/>
          </a:xfrm>
          <a:custGeom>
            <a:avLst/>
            <a:gdLst/>
            <a:ahLst/>
            <a:cxnLst/>
            <a:rect l="l" t="t" r="r" b="b"/>
            <a:pathLst>
              <a:path w="1755775" h="3291840">
                <a:moveTo>
                  <a:pt x="1755648" y="0"/>
                </a:moveTo>
                <a:lnTo>
                  <a:pt x="0" y="0"/>
                </a:lnTo>
                <a:lnTo>
                  <a:pt x="0" y="3291840"/>
                </a:lnTo>
                <a:lnTo>
                  <a:pt x="1755648" y="3291840"/>
                </a:lnTo>
                <a:lnTo>
                  <a:pt x="1755648" y="0"/>
                </a:lnTo>
                <a:close/>
              </a:path>
            </a:pathLst>
          </a:custGeom>
          <a:solidFill>
            <a:srgbClr val="009A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141464" y="1353311"/>
            <a:ext cx="5047615" cy="3291840"/>
          </a:xfrm>
          <a:custGeom>
            <a:avLst/>
            <a:gdLst/>
            <a:ahLst/>
            <a:cxnLst/>
            <a:rect l="l" t="t" r="r" b="b"/>
            <a:pathLst>
              <a:path w="5047615" h="3291840">
                <a:moveTo>
                  <a:pt x="5047487" y="0"/>
                </a:moveTo>
                <a:lnTo>
                  <a:pt x="0" y="0"/>
                </a:lnTo>
                <a:lnTo>
                  <a:pt x="0" y="3291840"/>
                </a:lnTo>
                <a:lnTo>
                  <a:pt x="5047487" y="3291840"/>
                </a:lnTo>
                <a:lnTo>
                  <a:pt x="5047487" y="0"/>
                </a:lnTo>
                <a:close/>
              </a:path>
            </a:pathLst>
          </a:custGeom>
          <a:solidFill>
            <a:srgbClr val="009A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44954" y="2469007"/>
            <a:ext cx="4702810" cy="1002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Novel</a:t>
            </a:r>
            <a:r>
              <a:rPr dirty="0" spc="-1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Molecule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 spc="-50">
                <a:solidFill>
                  <a:srgbClr val="FFFFFF"/>
                </a:solidFill>
              </a:rPr>
              <a:t>&amp; </a:t>
            </a:r>
            <a:r>
              <a:rPr dirty="0">
                <a:solidFill>
                  <a:srgbClr val="FFFFFF"/>
                </a:solidFill>
              </a:rPr>
              <a:t>Compound</a:t>
            </a:r>
            <a:r>
              <a:rPr dirty="0" spc="-4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Discovery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Generative</a:t>
            </a:r>
            <a:r>
              <a:rPr dirty="0" spc="-10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AI</a:t>
            </a:r>
            <a:r>
              <a:rPr dirty="0" spc="-9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for</a:t>
            </a:r>
            <a:r>
              <a:rPr dirty="0" spc="-9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Novel</a:t>
            </a:r>
            <a:r>
              <a:rPr dirty="0" spc="-114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Molecules</a:t>
            </a:r>
            <a:r>
              <a:rPr dirty="0" spc="-11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and</a:t>
            </a:r>
            <a:r>
              <a:rPr dirty="0" spc="-9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Compounds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836547"/>
            <a:ext cx="5617845" cy="407987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Deep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models,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as:</a:t>
            </a:r>
            <a:endParaRPr sz="2400">
              <a:latin typeface="Arial"/>
              <a:cs typeface="Arial"/>
            </a:endParaRPr>
          </a:p>
          <a:p>
            <a:pPr marL="259079" marR="977900" indent="-247015">
              <a:lnSpc>
                <a:spcPts val="2590"/>
              </a:lnSpc>
              <a:spcBef>
                <a:spcPts val="1240"/>
              </a:spcBef>
              <a:buChar char="•"/>
              <a:tabLst>
                <a:tab pos="259079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dirty="0" sz="2400" spc="-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adversarial</a:t>
            </a:r>
            <a:r>
              <a:rPr dirty="0" sz="24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networks (GANs)</a:t>
            </a:r>
            <a:endParaRPr sz="24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880"/>
              </a:spcBef>
              <a:buChar char="•"/>
              <a:tabLst>
                <a:tab pos="259079" algn="l"/>
              </a:tabLst>
            </a:pP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Variational</a:t>
            </a:r>
            <a:r>
              <a:rPr dirty="0" sz="24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autoencoders</a:t>
            </a:r>
            <a:r>
              <a:rPr dirty="0" sz="24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(VAEs),</a:t>
            </a:r>
            <a:r>
              <a:rPr dirty="0" sz="2400" spc="-1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and,</a:t>
            </a:r>
            <a:endParaRPr sz="2400">
              <a:latin typeface="Arial"/>
              <a:cs typeface="Arial"/>
            </a:endParaRPr>
          </a:p>
          <a:p>
            <a:pPr marL="259079" marR="1503045" indent="-247015">
              <a:lnSpc>
                <a:spcPts val="2590"/>
              </a:lnSpc>
              <a:spcBef>
                <a:spcPts val="1240"/>
              </a:spcBef>
              <a:buChar char="•"/>
              <a:tabLst>
                <a:tab pos="259079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Deep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reinforcement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learning algorithms,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90000"/>
              </a:lnSpc>
              <a:spcBef>
                <a:spcPts val="116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utilized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generate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novel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molecules,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optimize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existing</a:t>
            </a:r>
            <a:r>
              <a:rPr dirty="0" sz="24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compounds,</a:t>
            </a:r>
            <a:r>
              <a:rPr dirty="0" sz="24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predict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properties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activities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potential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drugs,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chemicals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materials.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9255" y="2142744"/>
            <a:ext cx="5786628" cy="325526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74701"/>
            <a:ext cx="957834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Novel</a:t>
            </a:r>
            <a:r>
              <a:rPr dirty="0" spc="-7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Molecule</a:t>
            </a:r>
            <a:r>
              <a:rPr dirty="0" spc="-8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and</a:t>
            </a:r>
            <a:r>
              <a:rPr dirty="0" spc="-6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Compounds</a:t>
            </a:r>
            <a:r>
              <a:rPr dirty="0" spc="-8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Use</a:t>
            </a:r>
            <a:r>
              <a:rPr dirty="0" spc="-8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Cases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15583" y="1399921"/>
            <a:ext cx="4409440" cy="291592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939165">
              <a:lnSpc>
                <a:spcPct val="100000"/>
              </a:lnSpc>
              <a:spcBef>
                <a:spcPts val="1015"/>
              </a:spcBef>
            </a:pP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Representative</a:t>
            </a:r>
            <a:r>
              <a:rPr dirty="0" sz="2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vendors</a:t>
            </a:r>
            <a:endParaRPr sz="2400">
              <a:latin typeface="Arial"/>
              <a:cs typeface="Arial"/>
            </a:endParaRPr>
          </a:p>
          <a:p>
            <a:pPr marL="259715" indent="-247015">
              <a:lnSpc>
                <a:spcPct val="100000"/>
              </a:lnSpc>
              <a:spcBef>
                <a:spcPts val="915"/>
              </a:spcBef>
              <a:buChar char="•"/>
              <a:tabLst>
                <a:tab pos="259715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Standigm</a:t>
            </a:r>
            <a:endParaRPr sz="2400">
              <a:latin typeface="Arial"/>
              <a:cs typeface="Arial"/>
            </a:endParaRPr>
          </a:p>
          <a:p>
            <a:pPr marL="259715" indent="-247015">
              <a:lnSpc>
                <a:spcPct val="100000"/>
              </a:lnSpc>
              <a:spcBef>
                <a:spcPts val="910"/>
              </a:spcBef>
              <a:buChar char="•"/>
              <a:tabLst>
                <a:tab pos="259715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Iktos</a:t>
            </a:r>
            <a:endParaRPr sz="2400">
              <a:latin typeface="Arial"/>
              <a:cs typeface="Arial"/>
            </a:endParaRPr>
          </a:p>
          <a:p>
            <a:pPr marL="259715" indent="-247015">
              <a:lnSpc>
                <a:spcPct val="100000"/>
              </a:lnSpc>
              <a:spcBef>
                <a:spcPts val="910"/>
              </a:spcBef>
              <a:buChar char="•"/>
              <a:tabLst>
                <a:tab pos="259715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Chempass</a:t>
            </a:r>
            <a:endParaRPr sz="2400">
              <a:latin typeface="Arial"/>
              <a:cs typeface="Arial"/>
            </a:endParaRPr>
          </a:p>
          <a:p>
            <a:pPr marL="259715" indent="-247015">
              <a:lnSpc>
                <a:spcPct val="100000"/>
              </a:lnSpc>
              <a:spcBef>
                <a:spcPts val="915"/>
              </a:spcBef>
              <a:buChar char="•"/>
              <a:tabLst>
                <a:tab pos="259715" algn="l"/>
              </a:tabLst>
            </a:pP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IBM</a:t>
            </a:r>
            <a:endParaRPr sz="2400">
              <a:latin typeface="Arial"/>
              <a:cs typeface="Arial"/>
            </a:endParaRPr>
          </a:p>
          <a:p>
            <a:pPr marL="259715" indent="-247015">
              <a:lnSpc>
                <a:spcPct val="100000"/>
              </a:lnSpc>
              <a:spcBef>
                <a:spcPts val="915"/>
              </a:spcBef>
              <a:buChar char="•"/>
              <a:tabLst>
                <a:tab pos="259715" algn="l"/>
              </a:tabLst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Insilico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1613916"/>
            <a:ext cx="2590800" cy="1943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2235" y="3758184"/>
            <a:ext cx="2511552" cy="200101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9000" y="1635251"/>
            <a:ext cx="2113788" cy="194157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173886" y="1225422"/>
            <a:ext cx="1547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Drug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discovery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40328" y="1256791"/>
            <a:ext cx="16757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Material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35528" y="5872988"/>
            <a:ext cx="26409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Consumer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Packed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Goods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6572" y="3845052"/>
            <a:ext cx="2286000" cy="171450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99845" y="5682183"/>
            <a:ext cx="1801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Food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Beverage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dirty="0">
                <a:solidFill>
                  <a:srgbClr val="FFFFFF"/>
                </a:solidFill>
              </a:rPr>
              <a:t>Novel</a:t>
            </a:r>
            <a:r>
              <a:rPr dirty="0" spc="-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Molecule</a:t>
            </a:r>
            <a:r>
              <a:rPr dirty="0" spc="-9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and</a:t>
            </a:r>
            <a:r>
              <a:rPr dirty="0" spc="-8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Compounds</a:t>
            </a:r>
            <a:r>
              <a:rPr dirty="0" spc="-9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Implications</a:t>
            </a:r>
            <a:r>
              <a:rPr dirty="0" spc="-95">
                <a:solidFill>
                  <a:srgbClr val="FFFFFF"/>
                </a:solidFill>
              </a:rPr>
              <a:t> </a:t>
            </a:r>
            <a:r>
              <a:rPr dirty="0" spc="-50">
                <a:solidFill>
                  <a:srgbClr val="FFFFFF"/>
                </a:solidFill>
              </a:rPr>
              <a:t>&amp; </a:t>
            </a:r>
            <a:r>
              <a:rPr dirty="0" spc="-1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5590">
              <a:lnSpc>
                <a:spcPts val="775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5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4500" y="1323937"/>
            <a:ext cx="10862310" cy="4953000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259079" indent="-246379">
              <a:lnSpc>
                <a:spcPct val="100000"/>
              </a:lnSpc>
              <a:spcBef>
                <a:spcPts val="1250"/>
              </a:spcBef>
              <a:buFont typeface="Arial"/>
              <a:buChar char="•"/>
              <a:tabLst>
                <a:tab pos="259079" algn="l"/>
              </a:tabLst>
            </a:pP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Implications</a:t>
            </a:r>
            <a:endParaRPr sz="2400">
              <a:latin typeface="Arial"/>
              <a:cs typeface="Arial"/>
            </a:endParaRPr>
          </a:p>
          <a:p>
            <a:pPr lvl="1" marL="753110" marR="295910" indent="-342900">
              <a:lnSpc>
                <a:spcPts val="2160"/>
              </a:lnSpc>
              <a:spcBef>
                <a:spcPts val="1240"/>
              </a:spcBef>
              <a:buSzPct val="90000"/>
              <a:buChar char="•"/>
              <a:tabLst>
                <a:tab pos="753110" algn="l"/>
              </a:tabLst>
            </a:pP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Faster,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cheaper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expanded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discovery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potential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massively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advance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human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health;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Lower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costs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mean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pharma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biotech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make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bets</a:t>
            </a:r>
            <a:endParaRPr sz="2000">
              <a:latin typeface="Arial"/>
              <a:cs typeface="Arial"/>
            </a:endParaRPr>
          </a:p>
          <a:p>
            <a:pPr lvl="1" marL="753110" marR="239395" indent="-342900">
              <a:lnSpc>
                <a:spcPts val="2160"/>
              </a:lnSpc>
              <a:spcBef>
                <a:spcPts val="1200"/>
              </a:spcBef>
              <a:buSzPct val="90000"/>
              <a:buChar char="•"/>
              <a:tabLst>
                <a:tab pos="75311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Massive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fundraising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less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cost-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intensive</a:t>
            </a:r>
            <a:r>
              <a:rPr dirty="0" sz="20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vitro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lowering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capital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barriers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startup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discovery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efforts.</a:t>
            </a:r>
            <a:endParaRPr sz="2000">
              <a:latin typeface="Arial"/>
              <a:cs typeface="Arial"/>
            </a:endParaRPr>
          </a:p>
          <a:p>
            <a:pPr lvl="1" marL="753110" indent="-342900">
              <a:lnSpc>
                <a:spcPct val="100000"/>
              </a:lnSpc>
              <a:spcBef>
                <a:spcPts val="930"/>
              </a:spcBef>
              <a:buSzPct val="90000"/>
              <a:buChar char="•"/>
              <a:tabLst>
                <a:tab pos="75311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fast-growing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body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treatments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entering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preclinical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trials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over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last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five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years.</a:t>
            </a:r>
            <a:endParaRPr sz="2000">
              <a:latin typeface="Arial"/>
              <a:cs typeface="Arial"/>
            </a:endParaRPr>
          </a:p>
          <a:p>
            <a:pPr marL="259079" indent="-246379">
              <a:lnSpc>
                <a:spcPct val="100000"/>
              </a:lnSpc>
              <a:spcBef>
                <a:spcPts val="910"/>
              </a:spcBef>
              <a:buFont typeface="Arial"/>
              <a:buChar char="•"/>
              <a:tabLst>
                <a:tab pos="259079" algn="l"/>
              </a:tabLst>
            </a:pP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Recommendations</a:t>
            </a:r>
            <a:endParaRPr sz="2400">
              <a:latin typeface="Arial"/>
              <a:cs typeface="Arial"/>
            </a:endParaRPr>
          </a:p>
          <a:p>
            <a:pPr lvl="1" marL="753110" indent="-342900">
              <a:lnSpc>
                <a:spcPts val="2280"/>
              </a:lnSpc>
              <a:spcBef>
                <a:spcPts val="965"/>
              </a:spcBef>
              <a:buSzPct val="90000"/>
              <a:buChar char="•"/>
              <a:tabLst>
                <a:tab pos="75311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Selling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picks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shovels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gold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rush,</a:t>
            </a:r>
            <a:r>
              <a:rPr dirty="0" sz="20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gold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rush.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stacks,</a:t>
            </a:r>
            <a:endParaRPr sz="2000">
              <a:latin typeface="Arial"/>
              <a:cs typeface="Arial"/>
            </a:endParaRPr>
          </a:p>
          <a:p>
            <a:pPr marL="753110">
              <a:lnSpc>
                <a:spcPts val="2280"/>
              </a:lnSpc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consulting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managed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Foundation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(as-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a-Service).</a:t>
            </a:r>
            <a:endParaRPr sz="2000">
              <a:latin typeface="Arial"/>
              <a:cs typeface="Arial"/>
            </a:endParaRPr>
          </a:p>
          <a:p>
            <a:pPr lvl="1" marL="753110" marR="5080" indent="-342900">
              <a:lnSpc>
                <a:spcPts val="2160"/>
              </a:lnSpc>
              <a:spcBef>
                <a:spcPts val="1235"/>
              </a:spcBef>
              <a:buSzPct val="90000"/>
              <a:buChar char="•"/>
              <a:tabLst>
                <a:tab pos="75311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Capitalize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IP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generated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secure</a:t>
            </a:r>
            <a:r>
              <a:rPr dirty="0" sz="20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contingent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royalties,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out-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licensing,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JVs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becoming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asset-owning.</a:t>
            </a:r>
            <a:endParaRPr sz="2000">
              <a:latin typeface="Arial"/>
              <a:cs typeface="Arial"/>
            </a:endParaRPr>
          </a:p>
          <a:p>
            <a:pPr lvl="1" marL="753110" indent="-342900">
              <a:lnSpc>
                <a:spcPts val="2280"/>
              </a:lnSpc>
              <a:spcBef>
                <a:spcPts val="925"/>
              </a:spcBef>
              <a:buSzPct val="90000"/>
              <a:buChar char="•"/>
              <a:tabLst>
                <a:tab pos="75311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Pursue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specific,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high-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cases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directly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aligned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discovery</a:t>
            </a:r>
            <a:endParaRPr sz="2000">
              <a:latin typeface="Arial"/>
              <a:cs typeface="Arial"/>
            </a:endParaRPr>
          </a:p>
          <a:p>
            <a:pPr marL="753110">
              <a:lnSpc>
                <a:spcPts val="2280"/>
              </a:lnSpc>
            </a:pP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programs.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2303"/>
            <a:ext cx="1280159" cy="29108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44500" y="6421323"/>
            <a:ext cx="5265420" cy="1320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  <a:tabLst>
                <a:tab pos="286385" algn="l"/>
              </a:tabLst>
            </a:pPr>
            <a:r>
              <a:rPr dirty="0" sz="900" spc="-25">
                <a:latin typeface="Arial"/>
                <a:cs typeface="Arial"/>
              </a:rPr>
              <a:t>28</a:t>
            </a:r>
            <a:r>
              <a:rPr dirty="0" sz="900">
                <a:latin typeface="Arial"/>
                <a:cs typeface="Arial"/>
              </a:rPr>
              <a:t>	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©</a:t>
            </a:r>
            <a:r>
              <a:rPr dirty="0" sz="700" spc="-3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2023</a:t>
            </a:r>
            <a:r>
              <a:rPr dirty="0" sz="700" spc="-2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Gartner,</a:t>
            </a:r>
            <a:r>
              <a:rPr dirty="0" sz="700" spc="1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Inc.</a:t>
            </a:r>
            <a:r>
              <a:rPr dirty="0" sz="700" spc="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and/or</a:t>
            </a:r>
            <a:r>
              <a:rPr dirty="0" sz="700" spc="-1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its</a:t>
            </a:r>
            <a:r>
              <a:rPr dirty="0" sz="700" spc="-3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affiliates.</a:t>
            </a:r>
            <a:r>
              <a:rPr dirty="0" sz="700" spc="-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All</a:t>
            </a:r>
            <a:r>
              <a:rPr dirty="0" sz="700" spc="-4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rights</a:t>
            </a:r>
            <a:r>
              <a:rPr dirty="0" sz="700" spc="-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reserved.</a:t>
            </a:r>
            <a:r>
              <a:rPr dirty="0" sz="700" spc="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Gartner</a:t>
            </a:r>
            <a:r>
              <a:rPr dirty="0" sz="700" spc="1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is</a:t>
            </a:r>
            <a:r>
              <a:rPr dirty="0" sz="700" spc="-3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a</a:t>
            </a:r>
            <a:r>
              <a:rPr dirty="0" sz="700" spc="-2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E7878"/>
                </a:solidFill>
                <a:latin typeface="Arial"/>
                <a:cs typeface="Arial"/>
              </a:rPr>
              <a:t>registered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 trademark</a:t>
            </a:r>
            <a:r>
              <a:rPr dirty="0" sz="700" spc="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of</a:t>
            </a:r>
            <a:r>
              <a:rPr dirty="0" sz="700" spc="-2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Gartner,</a:t>
            </a:r>
            <a:r>
              <a:rPr dirty="0" sz="700" spc="1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Inc. and</a:t>
            </a:r>
            <a:r>
              <a:rPr dirty="0" sz="700" spc="-25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E7878"/>
                </a:solidFill>
                <a:latin typeface="Arial"/>
                <a:cs typeface="Arial"/>
              </a:rPr>
              <a:t>its</a:t>
            </a:r>
            <a:r>
              <a:rPr dirty="0" sz="700" spc="-30">
                <a:solidFill>
                  <a:srgbClr val="6E787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E7878"/>
                </a:solidFill>
                <a:latin typeface="Arial"/>
                <a:cs typeface="Arial"/>
              </a:rPr>
              <a:t>affiliates.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Recommendations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44500" y="1470786"/>
            <a:ext cx="11121390" cy="39370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59079" marR="42545" indent="-247015">
              <a:lnSpc>
                <a:spcPts val="2590"/>
              </a:lnSpc>
              <a:spcBef>
                <a:spcPts val="425"/>
              </a:spcBef>
              <a:buChar char="•"/>
              <a:tabLst>
                <a:tab pos="259079" algn="l"/>
              </a:tabLst>
            </a:pPr>
            <a:r>
              <a:rPr dirty="0" sz="2400">
                <a:latin typeface="Arial"/>
                <a:cs typeface="Arial"/>
              </a:rPr>
              <a:t>Focus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on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potential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use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cases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that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are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most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important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your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installed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base,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and </a:t>
            </a:r>
            <a:r>
              <a:rPr dirty="0" sz="2400">
                <a:latin typeface="Arial"/>
                <a:cs typeface="Arial"/>
              </a:rPr>
              <a:t>prioritize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specialized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industry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domain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solutions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when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incorporating </a:t>
            </a:r>
            <a:r>
              <a:rPr dirty="0" sz="2400" spc="-20">
                <a:latin typeface="Arial"/>
                <a:cs typeface="Arial"/>
              </a:rPr>
              <a:t>generative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AI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 your</a:t>
            </a:r>
            <a:r>
              <a:rPr dirty="0" sz="2400" spc="-10">
                <a:latin typeface="Arial"/>
                <a:cs typeface="Arial"/>
              </a:rPr>
              <a:t> products.</a:t>
            </a:r>
            <a:endParaRPr sz="2400">
              <a:latin typeface="Arial"/>
              <a:cs typeface="Arial"/>
            </a:endParaRPr>
          </a:p>
          <a:p>
            <a:pPr lvl="1" marL="753110" indent="-311150">
              <a:lnSpc>
                <a:spcPct val="100000"/>
              </a:lnSpc>
              <a:spcBef>
                <a:spcPts val="900"/>
              </a:spcBef>
              <a:buChar char="•"/>
              <a:tabLst>
                <a:tab pos="753110" algn="l"/>
              </a:tabLst>
            </a:pPr>
            <a:r>
              <a:rPr dirty="0" sz="2200">
                <a:latin typeface="Arial"/>
                <a:cs typeface="Arial"/>
              </a:rPr>
              <a:t>The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key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success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is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quantify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value</a:t>
            </a:r>
            <a:r>
              <a:rPr dirty="0" sz="2200" spc="-2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and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impact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for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your</a:t>
            </a:r>
            <a:r>
              <a:rPr dirty="0" sz="2200" spc="-1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prospects.</a:t>
            </a:r>
            <a:endParaRPr sz="2200">
              <a:latin typeface="Arial"/>
              <a:cs typeface="Arial"/>
            </a:endParaRPr>
          </a:p>
          <a:p>
            <a:pPr marL="259079" marR="412750" indent="-247015">
              <a:lnSpc>
                <a:spcPts val="2590"/>
              </a:lnSpc>
              <a:spcBef>
                <a:spcPts val="1245"/>
              </a:spcBef>
              <a:buChar char="•"/>
              <a:tabLst>
                <a:tab pos="259079" algn="l"/>
              </a:tabLst>
            </a:pPr>
            <a:r>
              <a:rPr dirty="0" sz="2400">
                <a:latin typeface="Arial"/>
                <a:cs typeface="Arial"/>
              </a:rPr>
              <a:t>Develop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new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product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service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catalogs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focused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on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existing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customer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data </a:t>
            </a:r>
            <a:r>
              <a:rPr dirty="0" sz="2400">
                <a:latin typeface="Arial"/>
                <a:cs typeface="Arial"/>
              </a:rPr>
              <a:t>assets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operationalize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Foundation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Model-</a:t>
            </a:r>
            <a:r>
              <a:rPr dirty="0" sz="2400">
                <a:latin typeface="Arial"/>
                <a:cs typeface="Arial"/>
              </a:rPr>
              <a:t>based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value.</a:t>
            </a:r>
            <a:endParaRPr sz="2400">
              <a:latin typeface="Arial"/>
              <a:cs typeface="Arial"/>
            </a:endParaRPr>
          </a:p>
          <a:p>
            <a:pPr marL="259079" indent="-246379">
              <a:lnSpc>
                <a:spcPts val="2735"/>
              </a:lnSpc>
              <a:spcBef>
                <a:spcPts val="875"/>
              </a:spcBef>
              <a:buChar char="•"/>
              <a:tabLst>
                <a:tab pos="259079" algn="l"/>
              </a:tabLst>
            </a:pPr>
            <a:r>
              <a:rPr dirty="0" sz="2400">
                <a:latin typeface="Arial"/>
                <a:cs typeface="Arial"/>
              </a:rPr>
              <a:t>Aggressively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partner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with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innovative,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generative-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native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companies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accelerate</a:t>
            </a:r>
            <a:endParaRPr sz="2400">
              <a:latin typeface="Arial"/>
              <a:cs typeface="Arial"/>
            </a:endParaRPr>
          </a:p>
          <a:p>
            <a:pPr marL="259079">
              <a:lnSpc>
                <a:spcPts val="2735"/>
              </a:lnSpc>
            </a:pPr>
            <a:r>
              <a:rPr dirty="0" sz="2400">
                <a:latin typeface="Arial"/>
                <a:cs typeface="Arial"/>
              </a:rPr>
              <a:t>customer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value.</a:t>
            </a:r>
            <a:endParaRPr sz="2400">
              <a:latin typeface="Arial"/>
              <a:cs typeface="Arial"/>
            </a:endParaRPr>
          </a:p>
          <a:p>
            <a:pPr marL="259079" marR="453390" indent="-247015">
              <a:lnSpc>
                <a:spcPts val="2590"/>
              </a:lnSpc>
              <a:spcBef>
                <a:spcPts val="1240"/>
              </a:spcBef>
              <a:buChar char="•"/>
              <a:tabLst>
                <a:tab pos="259079" algn="l"/>
              </a:tabLst>
            </a:pPr>
            <a:r>
              <a:rPr dirty="0" sz="2400" spc="-10">
                <a:latin typeface="Arial"/>
                <a:cs typeface="Arial"/>
              </a:rPr>
              <a:t>Investigate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acquihire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strategy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which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offers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intellectual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property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scarce skillsets.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2303"/>
            <a:ext cx="1280159" cy="29260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44500" y="6285991"/>
            <a:ext cx="2590165" cy="271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0">
              <a:lnSpc>
                <a:spcPts val="790"/>
              </a:lnSpc>
              <a:spcBef>
                <a:spcPts val="95"/>
              </a:spcBef>
            </a:pPr>
            <a:r>
              <a:rPr dirty="0" sz="700" b="1">
                <a:latin typeface="Arial"/>
                <a:cs typeface="Arial"/>
              </a:rPr>
              <a:t>RESTRICTED</a:t>
            </a:r>
            <a:r>
              <a:rPr dirty="0" sz="700" spc="-50" b="1">
                <a:latin typeface="Arial"/>
                <a:cs typeface="Arial"/>
              </a:rPr>
              <a:t> </a:t>
            </a:r>
            <a:r>
              <a:rPr dirty="0" sz="700" spc="-10" b="1">
                <a:latin typeface="Arial"/>
                <a:cs typeface="Arial"/>
              </a:rPr>
              <a:t>DISTRIBUTION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1150"/>
              </a:lnSpc>
            </a:pPr>
            <a:r>
              <a:rPr dirty="0" sz="1000">
                <a:latin typeface="Arial"/>
                <a:cs typeface="Arial"/>
              </a:rPr>
              <a:t>29</a:t>
            </a:r>
            <a:r>
              <a:rPr dirty="0" sz="1000" spc="32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©</a:t>
            </a:r>
            <a:r>
              <a:rPr dirty="0" sz="700" spc="-2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2023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Gartner,</a:t>
            </a:r>
            <a:r>
              <a:rPr dirty="0" sz="700" spc="2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Inc.</a:t>
            </a:r>
            <a:r>
              <a:rPr dirty="0" sz="700" spc="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and/or its</a:t>
            </a:r>
            <a:r>
              <a:rPr dirty="0" sz="700" spc="-2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affiliates. All</a:t>
            </a:r>
            <a:r>
              <a:rPr dirty="0" sz="700" spc="-3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rights </a:t>
            </a:r>
            <a:r>
              <a:rPr dirty="0" sz="700" spc="-10"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3923" rIns="0" bIns="0" rtlCol="0" vert="horz">
            <a:spAutoFit/>
          </a:bodyPr>
          <a:lstStyle/>
          <a:p>
            <a:pPr marL="32702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62B53"/>
                </a:solidFill>
              </a:rPr>
              <a:t>Ask</a:t>
            </a:r>
            <a:r>
              <a:rPr dirty="0" spc="-55">
                <a:solidFill>
                  <a:srgbClr val="162B53"/>
                </a:solidFill>
              </a:rPr>
              <a:t> </a:t>
            </a:r>
            <a:r>
              <a:rPr dirty="0">
                <a:solidFill>
                  <a:srgbClr val="162B53"/>
                </a:solidFill>
              </a:rPr>
              <a:t>the</a:t>
            </a:r>
            <a:r>
              <a:rPr dirty="0" spc="-35">
                <a:solidFill>
                  <a:srgbClr val="162B53"/>
                </a:solidFill>
              </a:rPr>
              <a:t> </a:t>
            </a:r>
            <a:r>
              <a:rPr dirty="0" spc="-10">
                <a:solidFill>
                  <a:srgbClr val="162B53"/>
                </a:solidFill>
              </a:rPr>
              <a:t>speaker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876300" y="393153"/>
            <a:ext cx="9761855" cy="5624195"/>
            <a:chOff x="876300" y="393153"/>
            <a:chExt cx="9761855" cy="562419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8255" y="2603365"/>
              <a:ext cx="1822703" cy="239821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0532" y="2668523"/>
              <a:ext cx="3782568" cy="2133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2500" y="1776983"/>
              <a:ext cx="7472172" cy="4018788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914400" y="1738883"/>
              <a:ext cx="7548880" cy="4095115"/>
            </a:xfrm>
            <a:custGeom>
              <a:avLst/>
              <a:gdLst/>
              <a:ahLst/>
              <a:cxnLst/>
              <a:rect l="l" t="t" r="r" b="b"/>
              <a:pathLst>
                <a:path w="7548880" h="4095115">
                  <a:moveTo>
                    <a:pt x="0" y="4094988"/>
                  </a:moveTo>
                  <a:lnTo>
                    <a:pt x="7548372" y="4094988"/>
                  </a:lnTo>
                  <a:lnTo>
                    <a:pt x="7548372" y="0"/>
                  </a:lnTo>
                  <a:lnTo>
                    <a:pt x="0" y="0"/>
                  </a:lnTo>
                  <a:lnTo>
                    <a:pt x="0" y="4094988"/>
                  </a:lnTo>
                  <a:close/>
                </a:path>
              </a:pathLst>
            </a:custGeom>
            <a:ln w="76200">
              <a:solidFill>
                <a:srgbClr val="162B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2303" y="393153"/>
              <a:ext cx="4395342" cy="562368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31152" y="739140"/>
              <a:ext cx="3622548" cy="4850891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912102" y="720090"/>
              <a:ext cx="3660775" cy="4889500"/>
            </a:xfrm>
            <a:custGeom>
              <a:avLst/>
              <a:gdLst/>
              <a:ahLst/>
              <a:cxnLst/>
              <a:rect l="l" t="t" r="r" b="b"/>
              <a:pathLst>
                <a:path w="3660775" h="4889500">
                  <a:moveTo>
                    <a:pt x="0" y="4888991"/>
                  </a:moveTo>
                  <a:lnTo>
                    <a:pt x="3660648" y="4888991"/>
                  </a:lnTo>
                  <a:lnTo>
                    <a:pt x="3660648" y="0"/>
                  </a:lnTo>
                  <a:lnTo>
                    <a:pt x="0" y="0"/>
                  </a:lnTo>
                  <a:lnTo>
                    <a:pt x="0" y="4888991"/>
                  </a:lnTo>
                  <a:close/>
                </a:path>
              </a:pathLst>
            </a:custGeom>
            <a:ln w="38100">
              <a:solidFill>
                <a:srgbClr val="162B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4212" y="4830775"/>
            <a:ext cx="830199" cy="7587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4500" y="6427419"/>
            <a:ext cx="236156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z="7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z="7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z="7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Inc. and/or</a:t>
            </a:r>
            <a:r>
              <a:rPr dirty="0" sz="7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dirty="0" sz="7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z="7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FFFF"/>
                </a:solidFill>
                <a:latin typeface="Arial"/>
                <a:cs typeface="Arial"/>
              </a:rPr>
              <a:t>rights</a:t>
            </a:r>
            <a:r>
              <a:rPr dirty="0" sz="700" spc="-10">
                <a:solidFill>
                  <a:srgbClr val="FFFFFF"/>
                </a:solidFill>
                <a:latin typeface="Arial"/>
                <a:cs typeface="Arial"/>
              </a:rPr>
              <a:t> reserved.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7587" y="613029"/>
            <a:ext cx="3530600" cy="833119"/>
          </a:xfrm>
          <a:prstGeom prst="rect"/>
        </p:spPr>
        <p:txBody>
          <a:bodyPr wrap="square" lIns="0" tIns="62865" rIns="0" bIns="0" rtlCol="0" vert="horz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495"/>
              </a:spcBef>
            </a:pPr>
            <a:r>
              <a:rPr dirty="0" sz="2800">
                <a:solidFill>
                  <a:srgbClr val="FFFFFF"/>
                </a:solidFill>
              </a:rPr>
              <a:t>Gartner</a:t>
            </a:r>
            <a:r>
              <a:rPr dirty="0" sz="2800" spc="100">
                <a:solidFill>
                  <a:srgbClr val="FFFFFF"/>
                </a:solidFill>
              </a:rPr>
              <a:t> </a:t>
            </a:r>
            <a:r>
              <a:rPr dirty="0" sz="2800" spc="-25">
                <a:solidFill>
                  <a:srgbClr val="FFFFFF"/>
                </a:solidFill>
              </a:rPr>
              <a:t>CIO </a:t>
            </a:r>
            <a:r>
              <a:rPr dirty="0" sz="2800">
                <a:solidFill>
                  <a:srgbClr val="FFFFFF"/>
                </a:solidFill>
              </a:rPr>
              <a:t>Leadership</a:t>
            </a:r>
            <a:r>
              <a:rPr dirty="0" sz="2800" spc="25">
                <a:solidFill>
                  <a:srgbClr val="FFFFFF"/>
                </a:solidFill>
              </a:rPr>
              <a:t> </a:t>
            </a:r>
            <a:r>
              <a:rPr dirty="0" sz="2800" spc="-10">
                <a:solidFill>
                  <a:srgbClr val="FFFFFF"/>
                </a:solidFill>
              </a:rPr>
              <a:t>Forum</a:t>
            </a:r>
            <a:endParaRPr sz="2800"/>
          </a:p>
        </p:txBody>
      </p:sp>
      <p:sp>
        <p:nvSpPr>
          <p:cNvPr id="4" name="object 4" descr=""/>
          <p:cNvSpPr/>
          <p:nvPr/>
        </p:nvSpPr>
        <p:spPr>
          <a:xfrm>
            <a:off x="0" y="452627"/>
            <a:ext cx="460375" cy="1789430"/>
          </a:xfrm>
          <a:custGeom>
            <a:avLst/>
            <a:gdLst/>
            <a:ahLst/>
            <a:cxnLst/>
            <a:rect l="l" t="t" r="r" b="b"/>
            <a:pathLst>
              <a:path w="460375" h="1789430">
                <a:moveTo>
                  <a:pt x="460248" y="0"/>
                </a:moveTo>
                <a:lnTo>
                  <a:pt x="0" y="0"/>
                </a:lnTo>
                <a:lnTo>
                  <a:pt x="0" y="1789176"/>
                </a:lnTo>
                <a:lnTo>
                  <a:pt x="460248" y="1789176"/>
                </a:lnTo>
                <a:lnTo>
                  <a:pt x="460248" y="0"/>
                </a:lnTo>
                <a:close/>
              </a:path>
            </a:pathLst>
          </a:custGeom>
          <a:solidFill>
            <a:srgbClr val="009A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582667" y="452627"/>
            <a:ext cx="7609840" cy="1789430"/>
          </a:xfrm>
          <a:custGeom>
            <a:avLst/>
            <a:gdLst/>
            <a:ahLst/>
            <a:cxnLst/>
            <a:rect l="l" t="t" r="r" b="b"/>
            <a:pathLst>
              <a:path w="7609840" h="1789430">
                <a:moveTo>
                  <a:pt x="7609332" y="0"/>
                </a:moveTo>
                <a:lnTo>
                  <a:pt x="0" y="0"/>
                </a:lnTo>
                <a:lnTo>
                  <a:pt x="0" y="1789176"/>
                </a:lnTo>
                <a:lnTo>
                  <a:pt x="7609332" y="1789176"/>
                </a:lnTo>
                <a:lnTo>
                  <a:pt x="7609332" y="0"/>
                </a:lnTo>
                <a:close/>
              </a:path>
            </a:pathLst>
          </a:custGeom>
          <a:solidFill>
            <a:srgbClr val="009AD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5831" y="5972555"/>
            <a:ext cx="1647444" cy="376428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6359652" y="3188207"/>
            <a:ext cx="501650" cy="501650"/>
          </a:xfrm>
          <a:custGeom>
            <a:avLst/>
            <a:gdLst/>
            <a:ahLst/>
            <a:cxnLst/>
            <a:rect l="l" t="t" r="r" b="b"/>
            <a:pathLst>
              <a:path w="501650" h="501650">
                <a:moveTo>
                  <a:pt x="250698" y="0"/>
                </a:moveTo>
                <a:lnTo>
                  <a:pt x="205541" y="4027"/>
                </a:lnTo>
                <a:lnTo>
                  <a:pt x="163078" y="15643"/>
                </a:lnTo>
                <a:lnTo>
                  <a:pt x="124008" y="34148"/>
                </a:lnTo>
                <a:lnTo>
                  <a:pt x="89030" y="58844"/>
                </a:lnTo>
                <a:lnTo>
                  <a:pt x="58844" y="89030"/>
                </a:lnTo>
                <a:lnTo>
                  <a:pt x="34148" y="124008"/>
                </a:lnTo>
                <a:lnTo>
                  <a:pt x="15643" y="163078"/>
                </a:lnTo>
                <a:lnTo>
                  <a:pt x="4027" y="205541"/>
                </a:lnTo>
                <a:lnTo>
                  <a:pt x="0" y="250697"/>
                </a:lnTo>
                <a:lnTo>
                  <a:pt x="3987" y="295401"/>
                </a:lnTo>
                <a:lnTo>
                  <a:pt x="15643" y="338317"/>
                </a:lnTo>
                <a:lnTo>
                  <a:pt x="34148" y="377387"/>
                </a:lnTo>
                <a:lnTo>
                  <a:pt x="58844" y="412365"/>
                </a:lnTo>
                <a:lnTo>
                  <a:pt x="89030" y="442551"/>
                </a:lnTo>
                <a:lnTo>
                  <a:pt x="124008" y="467247"/>
                </a:lnTo>
                <a:lnTo>
                  <a:pt x="163078" y="485752"/>
                </a:lnTo>
                <a:lnTo>
                  <a:pt x="205541" y="497368"/>
                </a:lnTo>
                <a:lnTo>
                  <a:pt x="250698" y="501395"/>
                </a:lnTo>
                <a:lnTo>
                  <a:pt x="295854" y="497368"/>
                </a:lnTo>
                <a:lnTo>
                  <a:pt x="338317" y="485752"/>
                </a:lnTo>
                <a:lnTo>
                  <a:pt x="377387" y="467247"/>
                </a:lnTo>
                <a:lnTo>
                  <a:pt x="379745" y="465581"/>
                </a:lnTo>
                <a:lnTo>
                  <a:pt x="250698" y="465581"/>
                </a:lnTo>
                <a:lnTo>
                  <a:pt x="201445" y="459903"/>
                </a:lnTo>
                <a:lnTo>
                  <a:pt x="156223" y="443730"/>
                </a:lnTo>
                <a:lnTo>
                  <a:pt x="116323" y="418355"/>
                </a:lnTo>
                <a:lnTo>
                  <a:pt x="83040" y="385072"/>
                </a:lnTo>
                <a:lnTo>
                  <a:pt x="57665" y="345172"/>
                </a:lnTo>
                <a:lnTo>
                  <a:pt x="41500" y="299974"/>
                </a:lnTo>
                <a:lnTo>
                  <a:pt x="35813" y="250697"/>
                </a:lnTo>
                <a:lnTo>
                  <a:pt x="41492" y="201445"/>
                </a:lnTo>
                <a:lnTo>
                  <a:pt x="57665" y="156223"/>
                </a:lnTo>
                <a:lnTo>
                  <a:pt x="83040" y="116323"/>
                </a:lnTo>
                <a:lnTo>
                  <a:pt x="116323" y="83040"/>
                </a:lnTo>
                <a:lnTo>
                  <a:pt x="156223" y="57665"/>
                </a:lnTo>
                <a:lnTo>
                  <a:pt x="201445" y="41492"/>
                </a:lnTo>
                <a:lnTo>
                  <a:pt x="250698" y="35813"/>
                </a:lnTo>
                <a:lnTo>
                  <a:pt x="379745" y="35813"/>
                </a:lnTo>
                <a:lnTo>
                  <a:pt x="377387" y="34148"/>
                </a:lnTo>
                <a:lnTo>
                  <a:pt x="338317" y="15643"/>
                </a:lnTo>
                <a:lnTo>
                  <a:pt x="295854" y="4027"/>
                </a:lnTo>
                <a:lnTo>
                  <a:pt x="250698" y="0"/>
                </a:lnTo>
                <a:close/>
              </a:path>
              <a:path w="501650" h="501650">
                <a:moveTo>
                  <a:pt x="379745" y="35813"/>
                </a:moveTo>
                <a:lnTo>
                  <a:pt x="250698" y="35813"/>
                </a:lnTo>
                <a:lnTo>
                  <a:pt x="299950" y="41492"/>
                </a:lnTo>
                <a:lnTo>
                  <a:pt x="345172" y="57665"/>
                </a:lnTo>
                <a:lnTo>
                  <a:pt x="385072" y="83040"/>
                </a:lnTo>
                <a:lnTo>
                  <a:pt x="418355" y="116323"/>
                </a:lnTo>
                <a:lnTo>
                  <a:pt x="443730" y="156223"/>
                </a:lnTo>
                <a:lnTo>
                  <a:pt x="459903" y="201445"/>
                </a:lnTo>
                <a:lnTo>
                  <a:pt x="465581" y="250697"/>
                </a:lnTo>
                <a:lnTo>
                  <a:pt x="459895" y="299974"/>
                </a:lnTo>
                <a:lnTo>
                  <a:pt x="443730" y="345172"/>
                </a:lnTo>
                <a:lnTo>
                  <a:pt x="418355" y="385072"/>
                </a:lnTo>
                <a:lnTo>
                  <a:pt x="385072" y="418355"/>
                </a:lnTo>
                <a:lnTo>
                  <a:pt x="345172" y="443730"/>
                </a:lnTo>
                <a:lnTo>
                  <a:pt x="299950" y="459903"/>
                </a:lnTo>
                <a:lnTo>
                  <a:pt x="250698" y="465581"/>
                </a:lnTo>
                <a:lnTo>
                  <a:pt x="379745" y="465581"/>
                </a:lnTo>
                <a:lnTo>
                  <a:pt x="412365" y="442551"/>
                </a:lnTo>
                <a:lnTo>
                  <a:pt x="442551" y="412365"/>
                </a:lnTo>
                <a:lnTo>
                  <a:pt x="467247" y="377387"/>
                </a:lnTo>
                <a:lnTo>
                  <a:pt x="485752" y="338317"/>
                </a:lnTo>
                <a:lnTo>
                  <a:pt x="497368" y="295854"/>
                </a:lnTo>
                <a:lnTo>
                  <a:pt x="501396" y="250697"/>
                </a:lnTo>
                <a:lnTo>
                  <a:pt x="497368" y="205541"/>
                </a:lnTo>
                <a:lnTo>
                  <a:pt x="485752" y="163078"/>
                </a:lnTo>
                <a:lnTo>
                  <a:pt x="467247" y="124008"/>
                </a:lnTo>
                <a:lnTo>
                  <a:pt x="442551" y="89030"/>
                </a:lnTo>
                <a:lnTo>
                  <a:pt x="412365" y="58844"/>
                </a:lnTo>
                <a:lnTo>
                  <a:pt x="379745" y="35813"/>
                </a:lnTo>
                <a:close/>
              </a:path>
              <a:path w="501650" h="501650">
                <a:moveTo>
                  <a:pt x="268604" y="407415"/>
                </a:moveTo>
                <a:lnTo>
                  <a:pt x="232791" y="407415"/>
                </a:lnTo>
                <a:lnTo>
                  <a:pt x="232791" y="443229"/>
                </a:lnTo>
                <a:lnTo>
                  <a:pt x="268604" y="443229"/>
                </a:lnTo>
                <a:lnTo>
                  <a:pt x="268604" y="407415"/>
                </a:lnTo>
                <a:close/>
              </a:path>
              <a:path w="501650" h="501650">
                <a:moveTo>
                  <a:pt x="371601" y="125349"/>
                </a:moveTo>
                <a:lnTo>
                  <a:pt x="201422" y="196976"/>
                </a:lnTo>
                <a:lnTo>
                  <a:pt x="129794" y="367029"/>
                </a:lnTo>
                <a:lnTo>
                  <a:pt x="289111" y="299974"/>
                </a:lnTo>
                <a:lnTo>
                  <a:pt x="196976" y="299974"/>
                </a:lnTo>
                <a:lnTo>
                  <a:pt x="228346" y="223774"/>
                </a:lnTo>
                <a:lnTo>
                  <a:pt x="304419" y="192531"/>
                </a:lnTo>
                <a:lnTo>
                  <a:pt x="343303" y="192531"/>
                </a:lnTo>
                <a:lnTo>
                  <a:pt x="371601" y="125349"/>
                </a:lnTo>
                <a:close/>
              </a:path>
              <a:path w="501650" h="501650">
                <a:moveTo>
                  <a:pt x="343303" y="192531"/>
                </a:moveTo>
                <a:lnTo>
                  <a:pt x="304419" y="192531"/>
                </a:lnTo>
                <a:lnTo>
                  <a:pt x="273050" y="268604"/>
                </a:lnTo>
                <a:lnTo>
                  <a:pt x="196976" y="299974"/>
                </a:lnTo>
                <a:lnTo>
                  <a:pt x="289111" y="299974"/>
                </a:lnTo>
                <a:lnTo>
                  <a:pt x="299974" y="295401"/>
                </a:lnTo>
                <a:lnTo>
                  <a:pt x="343303" y="192531"/>
                </a:lnTo>
                <a:close/>
              </a:path>
              <a:path w="501650" h="501650">
                <a:moveTo>
                  <a:pt x="93980" y="232790"/>
                </a:moveTo>
                <a:lnTo>
                  <a:pt x="58165" y="232790"/>
                </a:lnTo>
                <a:lnTo>
                  <a:pt x="58165" y="268604"/>
                </a:lnTo>
                <a:lnTo>
                  <a:pt x="93980" y="268604"/>
                </a:lnTo>
                <a:lnTo>
                  <a:pt x="93980" y="232790"/>
                </a:lnTo>
                <a:close/>
              </a:path>
              <a:path w="501650" h="501650">
                <a:moveTo>
                  <a:pt x="443229" y="232790"/>
                </a:moveTo>
                <a:lnTo>
                  <a:pt x="407416" y="232790"/>
                </a:lnTo>
                <a:lnTo>
                  <a:pt x="407416" y="268604"/>
                </a:lnTo>
                <a:lnTo>
                  <a:pt x="443229" y="268604"/>
                </a:lnTo>
                <a:lnTo>
                  <a:pt x="443229" y="232790"/>
                </a:lnTo>
                <a:close/>
              </a:path>
              <a:path w="501650" h="501650">
                <a:moveTo>
                  <a:pt x="268604" y="58165"/>
                </a:moveTo>
                <a:lnTo>
                  <a:pt x="232791" y="58165"/>
                </a:lnTo>
                <a:lnTo>
                  <a:pt x="232791" y="93979"/>
                </a:lnTo>
                <a:lnTo>
                  <a:pt x="268604" y="93979"/>
                </a:lnTo>
                <a:lnTo>
                  <a:pt x="268604" y="58165"/>
                </a:lnTo>
                <a:close/>
              </a:path>
            </a:pathLst>
          </a:custGeom>
          <a:solidFill>
            <a:srgbClr val="009A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348221" y="2735326"/>
            <a:ext cx="4787900" cy="265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09AD6"/>
                </a:solidFill>
                <a:latin typeface="Arial"/>
                <a:cs typeface="Arial"/>
              </a:rPr>
              <a:t>At</a:t>
            </a:r>
            <a:r>
              <a:rPr dirty="0" sz="1500" spc="-15" b="1">
                <a:solidFill>
                  <a:srgbClr val="009AD6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09AD6"/>
                </a:solidFill>
                <a:latin typeface="Arial"/>
                <a:cs typeface="Arial"/>
              </a:rPr>
              <a:t>this</a:t>
            </a:r>
            <a:r>
              <a:rPr dirty="0" sz="1500" spc="-75" b="1">
                <a:solidFill>
                  <a:srgbClr val="009AD6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09AD6"/>
                </a:solidFill>
                <a:latin typeface="Arial"/>
                <a:cs typeface="Arial"/>
              </a:rPr>
              <a:t>year’s</a:t>
            </a:r>
            <a:r>
              <a:rPr dirty="0" sz="1500" spc="-20" b="1">
                <a:solidFill>
                  <a:srgbClr val="009AD6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09AD6"/>
                </a:solidFill>
                <a:latin typeface="Arial"/>
                <a:cs typeface="Arial"/>
              </a:rPr>
              <a:t>conference,</a:t>
            </a:r>
            <a:r>
              <a:rPr dirty="0" sz="1500" spc="-85" b="1">
                <a:solidFill>
                  <a:srgbClr val="009AD6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09AD6"/>
                </a:solidFill>
                <a:latin typeface="Arial"/>
                <a:cs typeface="Arial"/>
              </a:rPr>
              <a:t>you’ll</a:t>
            </a:r>
            <a:r>
              <a:rPr dirty="0" sz="1500" spc="-25" b="1">
                <a:solidFill>
                  <a:srgbClr val="009AD6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09AD6"/>
                </a:solidFill>
                <a:latin typeface="Arial"/>
                <a:cs typeface="Arial"/>
              </a:rPr>
              <a:t>learn:</a:t>
            </a:r>
            <a:endParaRPr sz="1500">
              <a:latin typeface="Arial"/>
              <a:cs typeface="Arial"/>
            </a:endParaRPr>
          </a:p>
          <a:p>
            <a:pPr marL="748030" marR="111125">
              <a:lnSpc>
                <a:spcPct val="100000"/>
              </a:lnSpc>
              <a:spcBef>
                <a:spcPts val="1490"/>
              </a:spcBef>
            </a:pP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Short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long-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term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strategies</a:t>
            </a:r>
            <a:r>
              <a:rPr dirty="0" sz="15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lead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dirty="0" sz="15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success</a:t>
            </a:r>
            <a:r>
              <a:rPr dirty="0" sz="15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dynamic</a:t>
            </a:r>
            <a:r>
              <a:rPr dirty="0" sz="15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times.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500">
              <a:latin typeface="Arial"/>
              <a:cs typeface="Arial"/>
            </a:endParaRPr>
          </a:p>
          <a:p>
            <a:pPr marL="748030" marR="76771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Reshape</a:t>
            </a:r>
            <a:r>
              <a:rPr dirty="0" sz="15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organizational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structures</a:t>
            </a:r>
            <a:r>
              <a:rPr dirty="0" sz="15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attitudes</a:t>
            </a:r>
            <a:r>
              <a:rPr dirty="0" sz="15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greater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agility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500">
              <a:latin typeface="Arial"/>
              <a:cs typeface="Arial"/>
            </a:endParaRPr>
          </a:p>
          <a:p>
            <a:pPr marL="748030" marR="5080">
              <a:lnSpc>
                <a:spcPct val="100000"/>
              </a:lnSpc>
            </a:pP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Engage</a:t>
            </a:r>
            <a:r>
              <a:rPr dirty="0" sz="15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peers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co-create</a:t>
            </a:r>
            <a:r>
              <a:rPr dirty="0" sz="15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ways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working</a:t>
            </a:r>
            <a:r>
              <a:rPr dirty="0" sz="15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remove</a:t>
            </a:r>
            <a:r>
              <a:rPr dirty="0" sz="15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friction</a:t>
            </a:r>
            <a:r>
              <a:rPr dirty="0" sz="15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dirty="0" sz="15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business outcomes.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31470">
              <a:lnSpc>
                <a:spcPct val="100000"/>
              </a:lnSpc>
              <a:spcBef>
                <a:spcPts val="105"/>
              </a:spcBef>
              <a:tabLst>
                <a:tab pos="2209800" algn="l"/>
              </a:tabLst>
            </a:pPr>
            <a:r>
              <a:rPr dirty="0" spc="-30"/>
              <a:t>11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/>
              <a:t>12</a:t>
            </a:r>
            <a:r>
              <a:rPr dirty="0" spc="-30"/>
              <a:t> </a:t>
            </a:r>
            <a:r>
              <a:rPr dirty="0"/>
              <a:t>July</a:t>
            </a:r>
            <a:r>
              <a:rPr dirty="0" spc="-25"/>
              <a:t> </a:t>
            </a:r>
            <a:r>
              <a:rPr dirty="0" spc="-20"/>
              <a:t>2023</a:t>
            </a:r>
            <a:r>
              <a:rPr dirty="0"/>
              <a:t>	|</a:t>
            </a:r>
            <a:r>
              <a:rPr dirty="0" spc="310"/>
              <a:t> </a:t>
            </a:r>
            <a:r>
              <a:rPr dirty="0" spc="-25"/>
              <a:t>Tokyo, </a:t>
            </a:r>
            <a:r>
              <a:rPr dirty="0" spc="-10"/>
              <a:t>Japan</a:t>
            </a:r>
          </a:p>
          <a:p>
            <a:pPr marL="331470">
              <a:lnSpc>
                <a:spcPct val="100000"/>
              </a:lnSpc>
            </a:pPr>
            <a:r>
              <a:rPr dirty="0"/>
              <a:t>26</a:t>
            </a:r>
            <a:r>
              <a:rPr dirty="0" spc="-15"/>
              <a:t> </a:t>
            </a:r>
            <a:r>
              <a:rPr dirty="0"/>
              <a:t>–</a:t>
            </a:r>
            <a:r>
              <a:rPr dirty="0" spc="-5"/>
              <a:t> </a:t>
            </a:r>
            <a:r>
              <a:rPr dirty="0"/>
              <a:t>27</a:t>
            </a:r>
            <a:r>
              <a:rPr dirty="0" spc="-5"/>
              <a:t> </a:t>
            </a:r>
            <a:r>
              <a:rPr dirty="0"/>
              <a:t>February</a:t>
            </a:r>
            <a:r>
              <a:rPr dirty="0" spc="-35"/>
              <a:t> </a:t>
            </a:r>
            <a:r>
              <a:rPr dirty="0"/>
              <a:t>2024</a:t>
            </a:r>
            <a:r>
              <a:rPr dirty="0" spc="-30"/>
              <a:t> </a:t>
            </a:r>
            <a:r>
              <a:rPr dirty="0"/>
              <a:t>|</a:t>
            </a:r>
            <a:r>
              <a:rPr dirty="0" spc="10"/>
              <a:t> </a:t>
            </a:r>
            <a:r>
              <a:rPr dirty="0" spc="-10"/>
              <a:t>Phoenix,</a:t>
            </a:r>
            <a:r>
              <a:rPr dirty="0" spc="-80"/>
              <a:t> </a:t>
            </a:r>
            <a:r>
              <a:rPr dirty="0" spc="-25"/>
              <a:t>AZ</a:t>
            </a:r>
          </a:p>
          <a:p>
            <a:pPr marL="331470">
              <a:lnSpc>
                <a:spcPct val="100000"/>
              </a:lnSpc>
              <a:tabLst>
                <a:tab pos="2202180" algn="l"/>
              </a:tabLst>
            </a:pPr>
            <a:r>
              <a:rPr dirty="0"/>
              <a:t>26</a:t>
            </a:r>
            <a:r>
              <a:rPr dirty="0" spc="-35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/>
              <a:t>27</a:t>
            </a:r>
            <a:r>
              <a:rPr dirty="0" spc="-15"/>
              <a:t> </a:t>
            </a:r>
            <a:r>
              <a:rPr dirty="0"/>
              <a:t>March</a:t>
            </a:r>
            <a:r>
              <a:rPr dirty="0" spc="-30"/>
              <a:t> </a:t>
            </a:r>
            <a:r>
              <a:rPr dirty="0" spc="-20"/>
              <a:t>2024</a:t>
            </a:r>
            <a:r>
              <a:rPr dirty="0"/>
              <a:t>	|</a:t>
            </a:r>
            <a:r>
              <a:rPr dirty="0" spc="-40"/>
              <a:t> </a:t>
            </a:r>
            <a:r>
              <a:rPr dirty="0"/>
              <a:t>Hollywood,</a:t>
            </a:r>
            <a:r>
              <a:rPr dirty="0" spc="-20"/>
              <a:t> </a:t>
            </a:r>
            <a:r>
              <a:rPr dirty="0" spc="-25"/>
              <a:t>FL</a:t>
            </a:r>
          </a:p>
          <a:p>
            <a:pPr>
              <a:lnSpc>
                <a:spcPct val="100000"/>
              </a:lnSpc>
              <a:spcBef>
                <a:spcPts val="1445"/>
              </a:spcBef>
            </a:pPr>
          </a:p>
          <a:p>
            <a:pPr marL="23495" marR="5080">
              <a:lnSpc>
                <a:spcPct val="100000"/>
              </a:lnSpc>
            </a:pPr>
            <a:r>
              <a:rPr dirty="0" sz="2000"/>
              <a:t>Gartner</a:t>
            </a:r>
            <a:r>
              <a:rPr dirty="0" sz="2000" spc="-60"/>
              <a:t> </a:t>
            </a:r>
            <a:r>
              <a:rPr dirty="0" sz="2000"/>
              <a:t>CIO</a:t>
            </a:r>
            <a:r>
              <a:rPr dirty="0" sz="2000" spc="-25"/>
              <a:t> </a:t>
            </a:r>
            <a:r>
              <a:rPr dirty="0" sz="2000"/>
              <a:t>Leadership</a:t>
            </a:r>
            <a:r>
              <a:rPr dirty="0" sz="2000" spc="-50"/>
              <a:t> </a:t>
            </a:r>
            <a:r>
              <a:rPr dirty="0" sz="2000"/>
              <a:t>Forum</a:t>
            </a:r>
            <a:r>
              <a:rPr dirty="0" sz="2000" spc="-40"/>
              <a:t> </a:t>
            </a:r>
            <a:r>
              <a:rPr dirty="0" sz="2000"/>
              <a:t>is</a:t>
            </a:r>
            <a:r>
              <a:rPr dirty="0" sz="2000" spc="-15"/>
              <a:t> </a:t>
            </a:r>
            <a:r>
              <a:rPr dirty="0" sz="2000" spc="-25"/>
              <a:t>an </a:t>
            </a:r>
            <a:r>
              <a:rPr dirty="0" sz="2000"/>
              <a:t>unrivaled</a:t>
            </a:r>
            <a:r>
              <a:rPr dirty="0" sz="2000" spc="-30"/>
              <a:t> </a:t>
            </a:r>
            <a:r>
              <a:rPr dirty="0" sz="2000"/>
              <a:t>experience</a:t>
            </a:r>
            <a:r>
              <a:rPr dirty="0" sz="2000" spc="-45"/>
              <a:t> </a:t>
            </a:r>
            <a:r>
              <a:rPr dirty="0" sz="2000"/>
              <a:t>—</a:t>
            </a:r>
            <a:r>
              <a:rPr dirty="0" sz="2000" spc="-20"/>
              <a:t> </a:t>
            </a:r>
            <a:r>
              <a:rPr dirty="0" sz="2000"/>
              <a:t>a</a:t>
            </a:r>
            <a:r>
              <a:rPr dirty="0" sz="2000" spc="-30"/>
              <a:t> </a:t>
            </a:r>
            <a:r>
              <a:rPr dirty="0" sz="2000"/>
              <a:t>place</a:t>
            </a:r>
            <a:r>
              <a:rPr dirty="0" sz="2000" spc="-25"/>
              <a:t> </a:t>
            </a:r>
            <a:r>
              <a:rPr dirty="0" sz="2000" spc="-10"/>
              <a:t>where </a:t>
            </a:r>
            <a:r>
              <a:rPr dirty="0" sz="2000"/>
              <a:t>you’ll</a:t>
            </a:r>
            <a:r>
              <a:rPr dirty="0" sz="2000" spc="-25"/>
              <a:t> </a:t>
            </a:r>
            <a:r>
              <a:rPr dirty="0" sz="2000"/>
              <a:t>access</a:t>
            </a:r>
            <a:r>
              <a:rPr dirty="0" sz="2000" spc="-55"/>
              <a:t> </a:t>
            </a:r>
            <a:r>
              <a:rPr dirty="0" sz="2000"/>
              <a:t>the</a:t>
            </a:r>
            <a:r>
              <a:rPr dirty="0" sz="2000" spc="-30"/>
              <a:t> </a:t>
            </a:r>
            <a:r>
              <a:rPr dirty="0" sz="2000"/>
              <a:t>most</a:t>
            </a:r>
            <a:r>
              <a:rPr dirty="0" sz="2000" spc="-55"/>
              <a:t> </a:t>
            </a:r>
            <a:r>
              <a:rPr dirty="0" sz="2000"/>
              <a:t>timely</a:t>
            </a:r>
            <a:r>
              <a:rPr dirty="0" sz="2000" spc="-35"/>
              <a:t> </a:t>
            </a:r>
            <a:r>
              <a:rPr dirty="0" sz="2000" spc="-10"/>
              <a:t>advice, </a:t>
            </a:r>
            <a:r>
              <a:rPr dirty="0" sz="2000"/>
              <a:t>actionable</a:t>
            </a:r>
            <a:r>
              <a:rPr dirty="0" sz="2000" spc="-45"/>
              <a:t> </a:t>
            </a:r>
            <a:r>
              <a:rPr dirty="0" sz="2000"/>
              <a:t>tools</a:t>
            </a:r>
            <a:r>
              <a:rPr dirty="0" sz="2000" spc="-25"/>
              <a:t> </a:t>
            </a:r>
            <a:r>
              <a:rPr dirty="0" sz="2000"/>
              <a:t>and</a:t>
            </a:r>
            <a:r>
              <a:rPr dirty="0" sz="2000" spc="-25"/>
              <a:t> </a:t>
            </a:r>
            <a:r>
              <a:rPr dirty="0" sz="2000"/>
              <a:t>CIO</a:t>
            </a:r>
            <a:r>
              <a:rPr dirty="0" sz="2000" spc="-25"/>
              <a:t> </a:t>
            </a:r>
            <a:r>
              <a:rPr dirty="0" sz="2000"/>
              <a:t>peer</a:t>
            </a:r>
            <a:r>
              <a:rPr dirty="0" sz="2000" spc="-35"/>
              <a:t> </a:t>
            </a:r>
            <a:r>
              <a:rPr dirty="0" sz="2000"/>
              <a:t>insights</a:t>
            </a:r>
            <a:r>
              <a:rPr dirty="0" sz="2000" spc="-40"/>
              <a:t> </a:t>
            </a:r>
            <a:r>
              <a:rPr dirty="0" sz="2000" spc="-25"/>
              <a:t>to </a:t>
            </a:r>
            <a:r>
              <a:rPr dirty="0" sz="2000"/>
              <a:t>adapt</a:t>
            </a:r>
            <a:r>
              <a:rPr dirty="0" sz="2000" spc="-55"/>
              <a:t> </a:t>
            </a:r>
            <a:r>
              <a:rPr dirty="0" sz="2000"/>
              <a:t>faster</a:t>
            </a:r>
            <a:r>
              <a:rPr dirty="0" sz="2000" spc="-30"/>
              <a:t> </a:t>
            </a:r>
            <a:r>
              <a:rPr dirty="0" sz="2000"/>
              <a:t>and</a:t>
            </a:r>
            <a:r>
              <a:rPr dirty="0" sz="2000" spc="-20"/>
              <a:t> </a:t>
            </a:r>
            <a:r>
              <a:rPr dirty="0" sz="2000"/>
              <a:t>stay</a:t>
            </a:r>
            <a:r>
              <a:rPr dirty="0" sz="2000" spc="-35"/>
              <a:t> </a:t>
            </a:r>
            <a:r>
              <a:rPr dirty="0" sz="2000"/>
              <a:t>ahead</a:t>
            </a:r>
            <a:r>
              <a:rPr dirty="0" sz="2000" spc="-35"/>
              <a:t> </a:t>
            </a:r>
            <a:r>
              <a:rPr dirty="0" sz="2000"/>
              <a:t>of</a:t>
            </a:r>
            <a:r>
              <a:rPr dirty="0" sz="2000" spc="-15"/>
              <a:t> </a:t>
            </a:r>
            <a:r>
              <a:rPr dirty="0" sz="2000" spc="-10"/>
              <a:t>change.</a:t>
            </a:r>
            <a:endParaRPr sz="2000"/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2000"/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009AD6"/>
                </a:solidFill>
                <a:latin typeface="Arial"/>
                <a:cs typeface="Arial"/>
              </a:rPr>
              <a:t>Learn</a:t>
            </a:r>
            <a:r>
              <a:rPr dirty="0" sz="2000" spc="-25" b="1">
                <a:solidFill>
                  <a:srgbClr val="009AD6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9AD6"/>
                </a:solidFill>
                <a:latin typeface="Arial"/>
                <a:cs typeface="Arial"/>
              </a:rPr>
              <a:t>more:</a:t>
            </a:r>
            <a:r>
              <a:rPr dirty="0" sz="2000" spc="-30" b="1">
                <a:solidFill>
                  <a:srgbClr val="009AD6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gartner.com/conf/cio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2000">
                <a:solidFill>
                  <a:srgbClr val="009AD6"/>
                </a:solidFill>
              </a:rPr>
              <a:t>Register</a:t>
            </a:r>
            <a:r>
              <a:rPr dirty="0" sz="2000" spc="-55">
                <a:solidFill>
                  <a:srgbClr val="009AD6"/>
                </a:solidFill>
              </a:rPr>
              <a:t> </a:t>
            </a:r>
            <a:r>
              <a:rPr dirty="0" sz="2000">
                <a:solidFill>
                  <a:srgbClr val="009AD6"/>
                </a:solidFill>
              </a:rPr>
              <a:t>with</a:t>
            </a:r>
            <a:r>
              <a:rPr dirty="0" sz="2000" spc="-45">
                <a:solidFill>
                  <a:srgbClr val="009AD6"/>
                </a:solidFill>
              </a:rPr>
              <a:t> </a:t>
            </a:r>
            <a:r>
              <a:rPr dirty="0" sz="2000">
                <a:solidFill>
                  <a:srgbClr val="009AD6"/>
                </a:solidFill>
              </a:rPr>
              <a:t>code</a:t>
            </a:r>
            <a:r>
              <a:rPr dirty="0" sz="2000" spc="-30">
                <a:solidFill>
                  <a:srgbClr val="009AD6"/>
                </a:solidFill>
              </a:rPr>
              <a:t> </a:t>
            </a:r>
            <a:r>
              <a:rPr dirty="0" sz="2000" spc="-10" b="1">
                <a:solidFill>
                  <a:srgbClr val="009AD6"/>
                </a:solidFill>
                <a:latin typeface="Arial"/>
                <a:cs typeface="Arial"/>
              </a:rPr>
              <a:t>WEBINAR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009AD6"/>
                </a:solidFill>
              </a:rPr>
              <a:t>for</a:t>
            </a:r>
            <a:r>
              <a:rPr dirty="0" sz="2000" spc="-35">
                <a:solidFill>
                  <a:srgbClr val="009AD6"/>
                </a:solidFill>
              </a:rPr>
              <a:t> </a:t>
            </a:r>
            <a:r>
              <a:rPr dirty="0" sz="2000">
                <a:solidFill>
                  <a:srgbClr val="009AD6"/>
                </a:solidFill>
              </a:rPr>
              <a:t>an</a:t>
            </a:r>
            <a:r>
              <a:rPr dirty="0" sz="2000" spc="-25">
                <a:solidFill>
                  <a:srgbClr val="009AD6"/>
                </a:solidFill>
              </a:rPr>
              <a:t> </a:t>
            </a:r>
            <a:r>
              <a:rPr dirty="0" sz="2000">
                <a:solidFill>
                  <a:srgbClr val="009AD6"/>
                </a:solidFill>
              </a:rPr>
              <a:t>exclusive</a:t>
            </a:r>
            <a:r>
              <a:rPr dirty="0" sz="2000" spc="-30">
                <a:solidFill>
                  <a:srgbClr val="009AD6"/>
                </a:solidFill>
              </a:rPr>
              <a:t> </a:t>
            </a:r>
            <a:r>
              <a:rPr dirty="0" sz="2000" spc="-10">
                <a:solidFill>
                  <a:srgbClr val="009AD6"/>
                </a:solidFill>
              </a:rPr>
              <a:t>discount.</a:t>
            </a:r>
            <a:endParaRPr sz="2000"/>
          </a:p>
        </p:txBody>
      </p:sp>
      <p:sp>
        <p:nvSpPr>
          <p:cNvPr id="10" name="object 10" descr=""/>
          <p:cNvSpPr/>
          <p:nvPr/>
        </p:nvSpPr>
        <p:spPr>
          <a:xfrm>
            <a:off x="6355079" y="4735067"/>
            <a:ext cx="585470" cy="538480"/>
          </a:xfrm>
          <a:custGeom>
            <a:avLst/>
            <a:gdLst/>
            <a:ahLst/>
            <a:cxnLst/>
            <a:rect l="l" t="t" r="r" b="b"/>
            <a:pathLst>
              <a:path w="585470" h="538479">
                <a:moveTo>
                  <a:pt x="109982" y="392810"/>
                </a:moveTo>
                <a:lnTo>
                  <a:pt x="75057" y="392810"/>
                </a:lnTo>
                <a:lnTo>
                  <a:pt x="75057" y="535431"/>
                </a:lnTo>
                <a:lnTo>
                  <a:pt x="272542" y="535431"/>
                </a:lnTo>
                <a:lnTo>
                  <a:pt x="272542" y="500379"/>
                </a:lnTo>
                <a:lnTo>
                  <a:pt x="109982" y="500379"/>
                </a:lnTo>
                <a:lnTo>
                  <a:pt x="109982" y="392810"/>
                </a:lnTo>
                <a:close/>
              </a:path>
              <a:path w="585470" h="538479">
                <a:moveTo>
                  <a:pt x="92583" y="327786"/>
                </a:moveTo>
                <a:lnTo>
                  <a:pt x="0" y="417829"/>
                </a:lnTo>
                <a:lnTo>
                  <a:pt x="25019" y="442848"/>
                </a:lnTo>
                <a:lnTo>
                  <a:pt x="75057" y="392810"/>
                </a:lnTo>
                <a:lnTo>
                  <a:pt x="159349" y="392810"/>
                </a:lnTo>
                <a:lnTo>
                  <a:pt x="92583" y="327786"/>
                </a:lnTo>
                <a:close/>
              </a:path>
              <a:path w="585470" h="538479">
                <a:moveTo>
                  <a:pt x="159349" y="392810"/>
                </a:moveTo>
                <a:lnTo>
                  <a:pt x="109982" y="392810"/>
                </a:lnTo>
                <a:lnTo>
                  <a:pt x="160020" y="442848"/>
                </a:lnTo>
                <a:lnTo>
                  <a:pt x="185039" y="417829"/>
                </a:lnTo>
                <a:lnTo>
                  <a:pt x="159349" y="392810"/>
                </a:lnTo>
                <a:close/>
              </a:path>
              <a:path w="585470" h="538479">
                <a:moveTo>
                  <a:pt x="270128" y="162686"/>
                </a:moveTo>
                <a:lnTo>
                  <a:pt x="35052" y="162686"/>
                </a:lnTo>
                <a:lnTo>
                  <a:pt x="35052" y="287781"/>
                </a:lnTo>
                <a:lnTo>
                  <a:pt x="69977" y="287781"/>
                </a:lnTo>
                <a:lnTo>
                  <a:pt x="69977" y="197611"/>
                </a:lnTo>
                <a:lnTo>
                  <a:pt x="270128" y="197611"/>
                </a:lnTo>
                <a:lnTo>
                  <a:pt x="270128" y="162686"/>
                </a:lnTo>
                <a:close/>
              </a:path>
              <a:path w="585470" h="538479">
                <a:moveTo>
                  <a:pt x="270128" y="197611"/>
                </a:moveTo>
                <a:lnTo>
                  <a:pt x="235076" y="197611"/>
                </a:lnTo>
                <a:lnTo>
                  <a:pt x="235076" y="287781"/>
                </a:lnTo>
                <a:lnTo>
                  <a:pt x="270128" y="287781"/>
                </a:lnTo>
                <a:lnTo>
                  <a:pt x="270128" y="197611"/>
                </a:lnTo>
                <a:close/>
              </a:path>
              <a:path w="585470" h="538479">
                <a:moveTo>
                  <a:pt x="152526" y="0"/>
                </a:moveTo>
                <a:lnTo>
                  <a:pt x="116970" y="7072"/>
                </a:lnTo>
                <a:lnTo>
                  <a:pt x="87534" y="26574"/>
                </a:lnTo>
                <a:lnTo>
                  <a:pt x="67480" y="55935"/>
                </a:lnTo>
                <a:lnTo>
                  <a:pt x="60071" y="92582"/>
                </a:lnTo>
                <a:lnTo>
                  <a:pt x="62329" y="112698"/>
                </a:lnTo>
                <a:lnTo>
                  <a:pt x="68802" y="131397"/>
                </a:lnTo>
                <a:lnTo>
                  <a:pt x="79037" y="148214"/>
                </a:lnTo>
                <a:lnTo>
                  <a:pt x="92583" y="162686"/>
                </a:lnTo>
                <a:lnTo>
                  <a:pt x="212598" y="162686"/>
                </a:lnTo>
                <a:lnTo>
                  <a:pt x="226089" y="148214"/>
                </a:lnTo>
                <a:lnTo>
                  <a:pt x="226480" y="147573"/>
                </a:lnTo>
                <a:lnTo>
                  <a:pt x="152526" y="147573"/>
                </a:lnTo>
                <a:lnTo>
                  <a:pt x="129821" y="143196"/>
                </a:lnTo>
                <a:lnTo>
                  <a:pt x="111691" y="131397"/>
                </a:lnTo>
                <a:lnTo>
                  <a:pt x="99413" y="113819"/>
                </a:lnTo>
                <a:lnTo>
                  <a:pt x="94996" y="92582"/>
                </a:lnTo>
                <a:lnTo>
                  <a:pt x="99413" y="69877"/>
                </a:lnTo>
                <a:lnTo>
                  <a:pt x="111569" y="51625"/>
                </a:lnTo>
                <a:lnTo>
                  <a:pt x="129821" y="39469"/>
                </a:lnTo>
                <a:lnTo>
                  <a:pt x="152526" y="35051"/>
                </a:lnTo>
                <a:lnTo>
                  <a:pt x="223385" y="35051"/>
                </a:lnTo>
                <a:lnTo>
                  <a:pt x="217582" y="26574"/>
                </a:lnTo>
                <a:lnTo>
                  <a:pt x="188102" y="7072"/>
                </a:lnTo>
                <a:lnTo>
                  <a:pt x="152526" y="0"/>
                </a:lnTo>
                <a:close/>
              </a:path>
              <a:path w="585470" h="538479">
                <a:moveTo>
                  <a:pt x="223385" y="35051"/>
                </a:moveTo>
                <a:lnTo>
                  <a:pt x="152526" y="35051"/>
                </a:lnTo>
                <a:lnTo>
                  <a:pt x="175232" y="39469"/>
                </a:lnTo>
                <a:lnTo>
                  <a:pt x="193484" y="51625"/>
                </a:lnTo>
                <a:lnTo>
                  <a:pt x="205640" y="69877"/>
                </a:lnTo>
                <a:lnTo>
                  <a:pt x="210058" y="92582"/>
                </a:lnTo>
                <a:lnTo>
                  <a:pt x="205640" y="113819"/>
                </a:lnTo>
                <a:lnTo>
                  <a:pt x="193362" y="131397"/>
                </a:lnTo>
                <a:lnTo>
                  <a:pt x="175232" y="143196"/>
                </a:lnTo>
                <a:lnTo>
                  <a:pt x="152526" y="147573"/>
                </a:lnTo>
                <a:lnTo>
                  <a:pt x="226480" y="147573"/>
                </a:lnTo>
                <a:lnTo>
                  <a:pt x="236331" y="131397"/>
                </a:lnTo>
                <a:lnTo>
                  <a:pt x="242833" y="112698"/>
                </a:lnTo>
                <a:lnTo>
                  <a:pt x="245110" y="92582"/>
                </a:lnTo>
                <a:lnTo>
                  <a:pt x="237680" y="55935"/>
                </a:lnTo>
                <a:lnTo>
                  <a:pt x="223385" y="35051"/>
                </a:lnTo>
                <a:close/>
              </a:path>
              <a:path w="585470" h="538479">
                <a:moveTo>
                  <a:pt x="550164" y="410336"/>
                </a:moveTo>
                <a:lnTo>
                  <a:pt x="315087" y="410336"/>
                </a:lnTo>
                <a:lnTo>
                  <a:pt x="315087" y="537971"/>
                </a:lnTo>
                <a:lnTo>
                  <a:pt x="350139" y="537971"/>
                </a:lnTo>
                <a:lnTo>
                  <a:pt x="350139" y="445388"/>
                </a:lnTo>
                <a:lnTo>
                  <a:pt x="550164" y="445388"/>
                </a:lnTo>
                <a:lnTo>
                  <a:pt x="550164" y="410336"/>
                </a:lnTo>
                <a:close/>
              </a:path>
              <a:path w="585470" h="538479">
                <a:moveTo>
                  <a:pt x="550164" y="445388"/>
                </a:moveTo>
                <a:lnTo>
                  <a:pt x="515239" y="445388"/>
                </a:lnTo>
                <a:lnTo>
                  <a:pt x="515239" y="537971"/>
                </a:lnTo>
                <a:lnTo>
                  <a:pt x="550164" y="537971"/>
                </a:lnTo>
                <a:lnTo>
                  <a:pt x="550164" y="445388"/>
                </a:lnTo>
                <a:close/>
              </a:path>
              <a:path w="585470" h="538479">
                <a:moveTo>
                  <a:pt x="432689" y="250189"/>
                </a:moveTo>
                <a:lnTo>
                  <a:pt x="397113" y="257224"/>
                </a:lnTo>
                <a:lnTo>
                  <a:pt x="367633" y="276463"/>
                </a:lnTo>
                <a:lnTo>
                  <a:pt x="347535" y="305107"/>
                </a:lnTo>
                <a:lnTo>
                  <a:pt x="340105" y="340359"/>
                </a:lnTo>
                <a:lnTo>
                  <a:pt x="342382" y="361830"/>
                </a:lnTo>
                <a:lnTo>
                  <a:pt x="348884" y="380968"/>
                </a:lnTo>
                <a:lnTo>
                  <a:pt x="359126" y="397295"/>
                </a:lnTo>
                <a:lnTo>
                  <a:pt x="372618" y="410336"/>
                </a:lnTo>
                <a:lnTo>
                  <a:pt x="492633" y="410336"/>
                </a:lnTo>
                <a:lnTo>
                  <a:pt x="505560" y="397890"/>
                </a:lnTo>
                <a:lnTo>
                  <a:pt x="432689" y="397890"/>
                </a:lnTo>
                <a:lnTo>
                  <a:pt x="409983" y="393473"/>
                </a:lnTo>
                <a:lnTo>
                  <a:pt x="391731" y="381317"/>
                </a:lnTo>
                <a:lnTo>
                  <a:pt x="379575" y="363065"/>
                </a:lnTo>
                <a:lnTo>
                  <a:pt x="375158" y="340359"/>
                </a:lnTo>
                <a:lnTo>
                  <a:pt x="379575" y="319049"/>
                </a:lnTo>
                <a:lnTo>
                  <a:pt x="391731" y="301513"/>
                </a:lnTo>
                <a:lnTo>
                  <a:pt x="409983" y="289621"/>
                </a:lnTo>
                <a:lnTo>
                  <a:pt x="432689" y="285241"/>
                </a:lnTo>
                <a:lnTo>
                  <a:pt x="503827" y="285241"/>
                </a:lnTo>
                <a:lnTo>
                  <a:pt x="497681" y="276463"/>
                </a:lnTo>
                <a:lnTo>
                  <a:pt x="468245" y="257224"/>
                </a:lnTo>
                <a:lnTo>
                  <a:pt x="432689" y="250189"/>
                </a:lnTo>
                <a:close/>
              </a:path>
              <a:path w="585470" h="538479">
                <a:moveTo>
                  <a:pt x="503827" y="285241"/>
                </a:moveTo>
                <a:lnTo>
                  <a:pt x="432689" y="285241"/>
                </a:lnTo>
                <a:lnTo>
                  <a:pt x="455394" y="289621"/>
                </a:lnTo>
                <a:lnTo>
                  <a:pt x="473646" y="301513"/>
                </a:lnTo>
                <a:lnTo>
                  <a:pt x="485802" y="319049"/>
                </a:lnTo>
                <a:lnTo>
                  <a:pt x="490220" y="340359"/>
                </a:lnTo>
                <a:lnTo>
                  <a:pt x="485802" y="363065"/>
                </a:lnTo>
                <a:lnTo>
                  <a:pt x="473646" y="381317"/>
                </a:lnTo>
                <a:lnTo>
                  <a:pt x="455394" y="393473"/>
                </a:lnTo>
                <a:lnTo>
                  <a:pt x="432689" y="397890"/>
                </a:lnTo>
                <a:lnTo>
                  <a:pt x="505560" y="397890"/>
                </a:lnTo>
                <a:lnTo>
                  <a:pt x="506178" y="397295"/>
                </a:lnTo>
                <a:lnTo>
                  <a:pt x="516413" y="380968"/>
                </a:lnTo>
                <a:lnTo>
                  <a:pt x="522886" y="361830"/>
                </a:lnTo>
                <a:lnTo>
                  <a:pt x="525145" y="340359"/>
                </a:lnTo>
                <a:lnTo>
                  <a:pt x="517735" y="305107"/>
                </a:lnTo>
                <a:lnTo>
                  <a:pt x="503827" y="285241"/>
                </a:lnTo>
                <a:close/>
              </a:path>
              <a:path w="585470" h="538479">
                <a:moveTo>
                  <a:pt x="425196" y="102615"/>
                </a:moveTo>
                <a:lnTo>
                  <a:pt x="400176" y="127634"/>
                </a:lnTo>
                <a:lnTo>
                  <a:pt x="492633" y="217677"/>
                </a:lnTo>
                <a:lnTo>
                  <a:pt x="559491" y="152653"/>
                </a:lnTo>
                <a:lnTo>
                  <a:pt x="475234" y="152653"/>
                </a:lnTo>
                <a:lnTo>
                  <a:pt x="425196" y="102615"/>
                </a:lnTo>
                <a:close/>
              </a:path>
              <a:path w="585470" h="538479">
                <a:moveTo>
                  <a:pt x="510159" y="0"/>
                </a:moveTo>
                <a:lnTo>
                  <a:pt x="312674" y="0"/>
                </a:lnTo>
                <a:lnTo>
                  <a:pt x="312674" y="35051"/>
                </a:lnTo>
                <a:lnTo>
                  <a:pt x="475234" y="35051"/>
                </a:lnTo>
                <a:lnTo>
                  <a:pt x="475234" y="152653"/>
                </a:lnTo>
                <a:lnTo>
                  <a:pt x="510159" y="152653"/>
                </a:lnTo>
                <a:lnTo>
                  <a:pt x="510159" y="0"/>
                </a:lnTo>
                <a:close/>
              </a:path>
              <a:path w="585470" h="538479">
                <a:moveTo>
                  <a:pt x="560197" y="102615"/>
                </a:moveTo>
                <a:lnTo>
                  <a:pt x="510159" y="152653"/>
                </a:lnTo>
                <a:lnTo>
                  <a:pt x="559491" y="152653"/>
                </a:lnTo>
                <a:lnTo>
                  <a:pt x="585216" y="127634"/>
                </a:lnTo>
                <a:lnTo>
                  <a:pt x="560197" y="102615"/>
                </a:lnTo>
                <a:close/>
              </a:path>
            </a:pathLst>
          </a:custGeom>
          <a:solidFill>
            <a:srgbClr val="009A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393179" y="3956303"/>
            <a:ext cx="508000" cy="512445"/>
          </a:xfrm>
          <a:custGeom>
            <a:avLst/>
            <a:gdLst/>
            <a:ahLst/>
            <a:cxnLst/>
            <a:rect l="l" t="t" r="r" b="b"/>
            <a:pathLst>
              <a:path w="508000" h="512445">
                <a:moveTo>
                  <a:pt x="354729" y="416941"/>
                </a:moveTo>
                <a:lnTo>
                  <a:pt x="299720" y="416941"/>
                </a:lnTo>
                <a:lnTo>
                  <a:pt x="394843" y="512064"/>
                </a:lnTo>
                <a:lnTo>
                  <a:pt x="448751" y="458216"/>
                </a:lnTo>
                <a:lnTo>
                  <a:pt x="394843" y="458216"/>
                </a:lnTo>
                <a:lnTo>
                  <a:pt x="354729" y="416941"/>
                </a:lnTo>
                <a:close/>
              </a:path>
              <a:path w="508000" h="512445">
                <a:moveTo>
                  <a:pt x="450342" y="342392"/>
                </a:moveTo>
                <a:lnTo>
                  <a:pt x="394843" y="342392"/>
                </a:lnTo>
                <a:lnTo>
                  <a:pt x="451993" y="399542"/>
                </a:lnTo>
                <a:lnTo>
                  <a:pt x="394843" y="458216"/>
                </a:lnTo>
                <a:lnTo>
                  <a:pt x="448751" y="458216"/>
                </a:lnTo>
                <a:lnTo>
                  <a:pt x="507492" y="399542"/>
                </a:lnTo>
                <a:lnTo>
                  <a:pt x="450342" y="342392"/>
                </a:lnTo>
                <a:close/>
              </a:path>
              <a:path w="508000" h="512445">
                <a:moveTo>
                  <a:pt x="120523" y="320294"/>
                </a:moveTo>
                <a:lnTo>
                  <a:pt x="80899" y="320294"/>
                </a:lnTo>
                <a:lnTo>
                  <a:pt x="80899" y="420116"/>
                </a:lnTo>
                <a:lnTo>
                  <a:pt x="299720" y="420116"/>
                </a:lnTo>
                <a:lnTo>
                  <a:pt x="299720" y="416941"/>
                </a:lnTo>
                <a:lnTo>
                  <a:pt x="354729" y="416941"/>
                </a:lnTo>
                <a:lnTo>
                  <a:pt x="337820" y="399542"/>
                </a:lnTo>
                <a:lnTo>
                  <a:pt x="355307" y="382016"/>
                </a:lnTo>
                <a:lnTo>
                  <a:pt x="299720" y="382016"/>
                </a:lnTo>
                <a:lnTo>
                  <a:pt x="299720" y="380492"/>
                </a:lnTo>
                <a:lnTo>
                  <a:pt x="120523" y="380492"/>
                </a:lnTo>
                <a:lnTo>
                  <a:pt x="120523" y="320294"/>
                </a:lnTo>
                <a:close/>
              </a:path>
              <a:path w="508000" h="512445">
                <a:moveTo>
                  <a:pt x="394843" y="286893"/>
                </a:moveTo>
                <a:lnTo>
                  <a:pt x="299720" y="382016"/>
                </a:lnTo>
                <a:lnTo>
                  <a:pt x="355307" y="382016"/>
                </a:lnTo>
                <a:lnTo>
                  <a:pt x="394843" y="342392"/>
                </a:lnTo>
                <a:lnTo>
                  <a:pt x="450342" y="342392"/>
                </a:lnTo>
                <a:lnTo>
                  <a:pt x="394843" y="286893"/>
                </a:lnTo>
                <a:close/>
              </a:path>
              <a:path w="508000" h="512445">
                <a:moveTo>
                  <a:pt x="199771" y="160147"/>
                </a:moveTo>
                <a:lnTo>
                  <a:pt x="0" y="160147"/>
                </a:lnTo>
                <a:lnTo>
                  <a:pt x="0" y="320294"/>
                </a:lnTo>
                <a:lnTo>
                  <a:pt x="199771" y="320294"/>
                </a:lnTo>
                <a:lnTo>
                  <a:pt x="199771" y="280543"/>
                </a:lnTo>
                <a:lnTo>
                  <a:pt x="41275" y="280543"/>
                </a:lnTo>
                <a:lnTo>
                  <a:pt x="41275" y="199771"/>
                </a:lnTo>
                <a:lnTo>
                  <a:pt x="199771" y="199771"/>
                </a:lnTo>
                <a:lnTo>
                  <a:pt x="199771" y="160147"/>
                </a:lnTo>
                <a:close/>
              </a:path>
              <a:path w="508000" h="512445">
                <a:moveTo>
                  <a:pt x="199771" y="199771"/>
                </a:moveTo>
                <a:lnTo>
                  <a:pt x="160147" y="199771"/>
                </a:lnTo>
                <a:lnTo>
                  <a:pt x="160147" y="280543"/>
                </a:lnTo>
                <a:lnTo>
                  <a:pt x="199771" y="280543"/>
                </a:lnTo>
                <a:lnTo>
                  <a:pt x="199771" y="199771"/>
                </a:lnTo>
                <a:close/>
              </a:path>
              <a:path w="508000" h="512445">
                <a:moveTo>
                  <a:pt x="480568" y="0"/>
                </a:moveTo>
                <a:lnTo>
                  <a:pt x="280670" y="0"/>
                </a:lnTo>
                <a:lnTo>
                  <a:pt x="280670" y="60198"/>
                </a:lnTo>
                <a:lnTo>
                  <a:pt x="80899" y="60198"/>
                </a:lnTo>
                <a:lnTo>
                  <a:pt x="80899" y="160147"/>
                </a:lnTo>
                <a:lnTo>
                  <a:pt x="120523" y="160147"/>
                </a:lnTo>
                <a:lnTo>
                  <a:pt x="120523" y="99822"/>
                </a:lnTo>
                <a:lnTo>
                  <a:pt x="320294" y="99822"/>
                </a:lnTo>
                <a:lnTo>
                  <a:pt x="320294" y="41275"/>
                </a:lnTo>
                <a:lnTo>
                  <a:pt x="480568" y="41275"/>
                </a:lnTo>
                <a:lnTo>
                  <a:pt x="480568" y="0"/>
                </a:lnTo>
                <a:close/>
              </a:path>
              <a:path w="508000" h="512445">
                <a:moveTo>
                  <a:pt x="320294" y="99822"/>
                </a:moveTo>
                <a:lnTo>
                  <a:pt x="280670" y="99822"/>
                </a:lnTo>
                <a:lnTo>
                  <a:pt x="280670" y="160147"/>
                </a:lnTo>
                <a:lnTo>
                  <a:pt x="480568" y="160147"/>
                </a:lnTo>
                <a:lnTo>
                  <a:pt x="480568" y="120523"/>
                </a:lnTo>
                <a:lnTo>
                  <a:pt x="320294" y="120523"/>
                </a:lnTo>
                <a:lnTo>
                  <a:pt x="320294" y="99822"/>
                </a:lnTo>
                <a:close/>
              </a:path>
              <a:path w="508000" h="512445">
                <a:moveTo>
                  <a:pt x="480568" y="41275"/>
                </a:moveTo>
                <a:lnTo>
                  <a:pt x="440944" y="41275"/>
                </a:lnTo>
                <a:lnTo>
                  <a:pt x="440944" y="120523"/>
                </a:lnTo>
                <a:lnTo>
                  <a:pt x="480568" y="120523"/>
                </a:lnTo>
                <a:lnTo>
                  <a:pt x="480568" y="41275"/>
                </a:lnTo>
                <a:close/>
              </a:path>
            </a:pathLst>
          </a:custGeom>
          <a:solidFill>
            <a:srgbClr val="009AD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2303"/>
            <a:ext cx="1280159" cy="292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8898" y="751713"/>
            <a:ext cx="5365115" cy="1126490"/>
          </a:xfrm>
          <a:prstGeom prst="rect"/>
        </p:spPr>
        <p:txBody>
          <a:bodyPr wrap="square" lIns="0" tIns="79375" rIns="0" bIns="0" rtlCol="0" vert="horz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5"/>
              </a:spcBef>
              <a:tabLst>
                <a:tab pos="2669540" algn="l"/>
                <a:tab pos="3150870" algn="l"/>
                <a:tab pos="4036695" algn="l"/>
              </a:tabLst>
            </a:pPr>
            <a:r>
              <a:rPr dirty="0" sz="3800"/>
              <a:t>Top</a:t>
            </a:r>
            <a:r>
              <a:rPr dirty="0" sz="3800" spc="-85"/>
              <a:t> </a:t>
            </a:r>
            <a:r>
              <a:rPr dirty="0" sz="3800" spc="-10"/>
              <a:t>Trends</a:t>
            </a:r>
            <a:r>
              <a:rPr dirty="0" sz="3800"/>
              <a:t>	</a:t>
            </a:r>
            <a:r>
              <a:rPr dirty="0" sz="3800" spc="-25"/>
              <a:t>for</a:t>
            </a:r>
            <a:r>
              <a:rPr dirty="0" sz="3800"/>
              <a:t>	</a:t>
            </a:r>
            <a:r>
              <a:rPr dirty="0" sz="3800" spc="-20"/>
              <a:t>Tech </a:t>
            </a:r>
            <a:r>
              <a:rPr dirty="0" sz="3800" spc="-10"/>
              <a:t>Providers</a:t>
            </a:r>
            <a:r>
              <a:rPr dirty="0" sz="3800"/>
              <a:t>	in</a:t>
            </a:r>
            <a:r>
              <a:rPr dirty="0" sz="3800" spc="-15"/>
              <a:t> </a:t>
            </a:r>
            <a:r>
              <a:rPr dirty="0" sz="3800" spc="-20"/>
              <a:t>2023</a:t>
            </a:r>
            <a:endParaRPr sz="3800"/>
          </a:p>
        </p:txBody>
      </p:sp>
      <p:sp>
        <p:nvSpPr>
          <p:cNvPr id="4" name="object 4" descr=""/>
          <p:cNvSpPr txBox="1"/>
          <p:nvPr/>
        </p:nvSpPr>
        <p:spPr>
          <a:xfrm>
            <a:off x="989177" y="2527808"/>
            <a:ext cx="5854065" cy="169926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just" marL="12700" marR="5080">
              <a:lnSpc>
                <a:spcPts val="1939"/>
              </a:lnSpc>
              <a:spcBef>
                <a:spcPts val="345"/>
              </a:spcBef>
            </a:pP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Explore</a:t>
            </a:r>
            <a:r>
              <a:rPr dirty="0" sz="1800" spc="-3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the</a:t>
            </a:r>
            <a:r>
              <a:rPr dirty="0" sz="1800" spc="-3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top</a:t>
            </a:r>
            <a:r>
              <a:rPr dirty="0" sz="1800" spc="-3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trends</a:t>
            </a:r>
            <a:r>
              <a:rPr dirty="0" sz="18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product</a:t>
            </a:r>
            <a:r>
              <a:rPr dirty="0" sz="1800" spc="-3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leaders</a:t>
            </a:r>
            <a:r>
              <a:rPr dirty="0" sz="1800" spc="-2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must</a:t>
            </a:r>
            <a:r>
              <a:rPr dirty="0" sz="1800" spc="-3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2855"/>
                </a:solidFill>
                <a:latin typeface="Arial"/>
                <a:cs typeface="Arial"/>
              </a:rPr>
              <a:t>evaluate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across</a:t>
            </a:r>
            <a:r>
              <a:rPr dirty="0" sz="1800" spc="-2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all</a:t>
            </a:r>
            <a:r>
              <a:rPr dirty="0" sz="1800" spc="-3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dimensions</a:t>
            </a:r>
            <a:r>
              <a:rPr dirty="0" sz="1800" spc="-3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of</a:t>
            </a:r>
            <a:r>
              <a:rPr dirty="0" sz="1800" spc="-1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their</a:t>
            </a:r>
            <a:r>
              <a:rPr dirty="0" sz="1800" spc="-3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business.</a:t>
            </a:r>
            <a:r>
              <a:rPr dirty="0" sz="18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These</a:t>
            </a:r>
            <a:r>
              <a:rPr dirty="0" sz="18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2855"/>
                </a:solidFill>
                <a:latin typeface="Arial"/>
                <a:cs typeface="Arial"/>
              </a:rPr>
              <a:t>trends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are</a:t>
            </a:r>
            <a:r>
              <a:rPr dirty="0" sz="1800" spc="-3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the</a:t>
            </a:r>
            <a:r>
              <a:rPr dirty="0" sz="1800" spc="-3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effects</a:t>
            </a:r>
            <a:r>
              <a:rPr dirty="0" sz="1800" spc="-1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of</a:t>
            </a:r>
            <a:r>
              <a:rPr dirty="0" sz="1800" spc="-2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three</a:t>
            </a:r>
            <a:r>
              <a:rPr dirty="0" sz="18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broad</a:t>
            </a:r>
            <a:r>
              <a:rPr dirty="0" sz="1800" spc="-3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themes</a:t>
            </a:r>
            <a:r>
              <a:rPr dirty="0" sz="1800" spc="-1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2855"/>
                </a:solidFill>
                <a:latin typeface="Arial"/>
                <a:cs typeface="Arial"/>
              </a:rPr>
              <a:t>grouped</a:t>
            </a:r>
            <a:r>
              <a:rPr dirty="0" sz="1800" spc="-3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2855"/>
                </a:solidFill>
                <a:latin typeface="Arial"/>
                <a:cs typeface="Arial"/>
              </a:rPr>
              <a:t>below:</a:t>
            </a:r>
            <a:endParaRPr sz="1800">
              <a:latin typeface="Arial"/>
              <a:cs typeface="Arial"/>
            </a:endParaRPr>
          </a:p>
          <a:p>
            <a:pPr marL="368935" indent="-342265">
              <a:lnSpc>
                <a:spcPts val="2050"/>
              </a:lnSpc>
              <a:spcBef>
                <a:spcPts val="1065"/>
              </a:spcBef>
              <a:buChar char="•"/>
              <a:tabLst>
                <a:tab pos="368935" algn="l"/>
              </a:tabLst>
            </a:pPr>
            <a:r>
              <a:rPr dirty="0" sz="1800">
                <a:solidFill>
                  <a:srgbClr val="002855"/>
                </a:solidFill>
                <a:latin typeface="Arial"/>
                <a:cs typeface="Arial"/>
              </a:rPr>
              <a:t>Increased</a:t>
            </a:r>
            <a:r>
              <a:rPr dirty="0" sz="1800" spc="-30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2855"/>
                </a:solidFill>
                <a:latin typeface="Arial"/>
                <a:cs typeface="Arial"/>
              </a:rPr>
              <a:t>reliance</a:t>
            </a:r>
            <a:r>
              <a:rPr dirty="0" sz="1800" spc="-20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2855"/>
                </a:solidFill>
                <a:latin typeface="Arial"/>
                <a:cs typeface="Arial"/>
              </a:rPr>
              <a:t>on</a:t>
            </a:r>
            <a:r>
              <a:rPr dirty="0" sz="1800" spc="-40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002855"/>
                </a:solidFill>
                <a:latin typeface="Arial"/>
                <a:cs typeface="Arial"/>
              </a:rPr>
              <a:t>tech</a:t>
            </a:r>
            <a:endParaRPr sz="1800">
              <a:latin typeface="Arial"/>
              <a:cs typeface="Arial"/>
            </a:endParaRPr>
          </a:p>
          <a:p>
            <a:pPr marL="368935" indent="-342265">
              <a:lnSpc>
                <a:spcPts val="1945"/>
              </a:lnSpc>
              <a:buChar char="•"/>
              <a:tabLst>
                <a:tab pos="368935" algn="l"/>
              </a:tabLst>
            </a:pPr>
            <a:r>
              <a:rPr dirty="0" sz="1800">
                <a:solidFill>
                  <a:srgbClr val="002855"/>
                </a:solidFill>
                <a:latin typeface="Arial"/>
                <a:cs typeface="Arial"/>
              </a:rPr>
              <a:t>Opportunities</a:t>
            </a:r>
            <a:r>
              <a:rPr dirty="0" sz="1800" spc="-40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2855"/>
                </a:solidFill>
                <a:latin typeface="Arial"/>
                <a:cs typeface="Arial"/>
              </a:rPr>
              <a:t>through</a:t>
            </a:r>
            <a:r>
              <a:rPr dirty="0" sz="1800" spc="-40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2855"/>
                </a:solidFill>
                <a:latin typeface="Arial"/>
                <a:cs typeface="Arial"/>
              </a:rPr>
              <a:t>new</a:t>
            </a:r>
            <a:r>
              <a:rPr dirty="0" sz="1800" spc="-35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002855"/>
                </a:solidFill>
                <a:latin typeface="Arial"/>
                <a:cs typeface="Arial"/>
              </a:rPr>
              <a:t>tech</a:t>
            </a:r>
            <a:endParaRPr sz="1800">
              <a:latin typeface="Arial"/>
              <a:cs typeface="Arial"/>
            </a:endParaRPr>
          </a:p>
          <a:p>
            <a:pPr marL="368935" indent="-342265">
              <a:lnSpc>
                <a:spcPts val="2050"/>
              </a:lnSpc>
              <a:buChar char="•"/>
              <a:tabLst>
                <a:tab pos="368935" algn="l"/>
              </a:tabLst>
            </a:pPr>
            <a:r>
              <a:rPr dirty="0" sz="1800">
                <a:solidFill>
                  <a:srgbClr val="002855"/>
                </a:solidFill>
                <a:latin typeface="Arial"/>
                <a:cs typeface="Arial"/>
              </a:rPr>
              <a:t>Impact</a:t>
            </a:r>
            <a:r>
              <a:rPr dirty="0" sz="1800" spc="-15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2855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2855"/>
                </a:solidFill>
                <a:latin typeface="Arial"/>
                <a:cs typeface="Arial"/>
              </a:rPr>
              <a:t>macro</a:t>
            </a:r>
            <a:r>
              <a:rPr dirty="0" sz="1800" spc="-10">
                <a:solidFill>
                  <a:srgbClr val="002855"/>
                </a:solidFill>
                <a:latin typeface="Arial"/>
                <a:cs typeface="Arial"/>
              </a:rPr>
              <a:t> forces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 descr="">
            <a:hlinkClick r:id="rId3"/>
          </p:cNvPr>
          <p:cNvSpPr/>
          <p:nvPr/>
        </p:nvSpPr>
        <p:spPr>
          <a:xfrm>
            <a:off x="902208" y="5084064"/>
            <a:ext cx="467995" cy="431800"/>
          </a:xfrm>
          <a:custGeom>
            <a:avLst/>
            <a:gdLst/>
            <a:ahLst/>
            <a:cxnLst/>
            <a:rect l="l" t="t" r="r" b="b"/>
            <a:pathLst>
              <a:path w="467994" h="431800">
                <a:moveTo>
                  <a:pt x="253364" y="0"/>
                </a:moveTo>
                <a:lnTo>
                  <a:pt x="225882" y="27559"/>
                </a:lnTo>
                <a:lnTo>
                  <a:pt x="391286" y="194945"/>
                </a:lnTo>
                <a:lnTo>
                  <a:pt x="0" y="194945"/>
                </a:lnTo>
                <a:lnTo>
                  <a:pt x="0" y="235585"/>
                </a:lnTo>
                <a:lnTo>
                  <a:pt x="391286" y="235585"/>
                </a:lnTo>
                <a:lnTo>
                  <a:pt x="225882" y="403225"/>
                </a:lnTo>
                <a:lnTo>
                  <a:pt x="253364" y="431292"/>
                </a:lnTo>
                <a:lnTo>
                  <a:pt x="467867" y="215011"/>
                </a:lnTo>
                <a:lnTo>
                  <a:pt x="253364" y="0"/>
                </a:lnTo>
                <a:close/>
              </a:path>
            </a:pathLst>
          </a:custGeom>
          <a:solidFill>
            <a:srgbClr val="FF53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492758" y="5025974"/>
            <a:ext cx="53155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2855"/>
                </a:solidFill>
                <a:latin typeface="Arial Black"/>
                <a:cs typeface="Arial Black"/>
                <a:hlinkClick r:id="rId3"/>
              </a:rPr>
              <a:t>Download</a:t>
            </a:r>
            <a:r>
              <a:rPr dirty="0" sz="3200" spc="-35">
                <a:solidFill>
                  <a:srgbClr val="002855"/>
                </a:solidFill>
                <a:latin typeface="Arial Black"/>
                <a:cs typeface="Arial Black"/>
                <a:hlinkClick r:id="rId3"/>
              </a:rPr>
              <a:t> </a:t>
            </a:r>
            <a:r>
              <a:rPr dirty="0" sz="3200">
                <a:solidFill>
                  <a:srgbClr val="002855"/>
                </a:solidFill>
                <a:latin typeface="Arial Black"/>
                <a:cs typeface="Arial Black"/>
                <a:hlinkClick r:id="rId3"/>
              </a:rPr>
              <a:t>the</a:t>
            </a:r>
            <a:r>
              <a:rPr dirty="0" sz="3200" spc="-5">
                <a:solidFill>
                  <a:srgbClr val="002855"/>
                </a:solidFill>
                <a:latin typeface="Arial Black"/>
                <a:cs typeface="Arial Black"/>
                <a:hlinkClick r:id="rId3"/>
              </a:rPr>
              <a:t> </a:t>
            </a:r>
            <a:r>
              <a:rPr dirty="0" sz="3200" spc="-10">
                <a:solidFill>
                  <a:srgbClr val="002855"/>
                </a:solidFill>
                <a:latin typeface="Arial Black"/>
                <a:cs typeface="Arial Black"/>
                <a:hlinkClick r:id="rId3"/>
              </a:rPr>
              <a:t>Research</a:t>
            </a:r>
            <a:endParaRPr sz="3200">
              <a:latin typeface="Arial Black"/>
              <a:cs typeface="Arial Black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1795" y="851916"/>
            <a:ext cx="3813048" cy="4747260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6225">
              <a:lnSpc>
                <a:spcPts val="770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0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32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636778"/>
            <a:ext cx="3875404" cy="2244725"/>
          </a:xfrm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720"/>
              </a:spcBef>
            </a:pPr>
            <a:r>
              <a:rPr dirty="0" sz="5200">
                <a:solidFill>
                  <a:srgbClr val="FFFFFF"/>
                </a:solidFill>
              </a:rPr>
              <a:t>Want</a:t>
            </a:r>
            <a:r>
              <a:rPr dirty="0" sz="5200" spc="-145">
                <a:solidFill>
                  <a:srgbClr val="FFFFFF"/>
                </a:solidFill>
              </a:rPr>
              <a:t> </a:t>
            </a:r>
            <a:r>
              <a:rPr dirty="0" sz="5200" spc="-20">
                <a:solidFill>
                  <a:srgbClr val="FFFFFF"/>
                </a:solidFill>
              </a:rPr>
              <a:t>More </a:t>
            </a:r>
            <a:r>
              <a:rPr dirty="0" sz="5200">
                <a:solidFill>
                  <a:srgbClr val="FDC10D"/>
                </a:solidFill>
              </a:rPr>
              <a:t>High</a:t>
            </a:r>
            <a:r>
              <a:rPr dirty="0" sz="5200" spc="-135">
                <a:solidFill>
                  <a:srgbClr val="FDC10D"/>
                </a:solidFill>
              </a:rPr>
              <a:t> </a:t>
            </a:r>
            <a:r>
              <a:rPr dirty="0" sz="5200" spc="-20">
                <a:solidFill>
                  <a:srgbClr val="FDC10D"/>
                </a:solidFill>
              </a:rPr>
              <a:t>Tech </a:t>
            </a:r>
            <a:r>
              <a:rPr dirty="0" sz="5200" spc="-10">
                <a:solidFill>
                  <a:srgbClr val="FFFFFF"/>
                </a:solidFill>
              </a:rPr>
              <a:t>Insights?</a:t>
            </a:r>
            <a:endParaRPr sz="5200"/>
          </a:p>
        </p:txBody>
      </p:sp>
      <p:grpSp>
        <p:nvGrpSpPr>
          <p:cNvPr id="3" name="object 3" descr=""/>
          <p:cNvGrpSpPr/>
          <p:nvPr/>
        </p:nvGrpSpPr>
        <p:grpSpPr>
          <a:xfrm>
            <a:off x="5846064" y="1851660"/>
            <a:ext cx="6065520" cy="3299460"/>
            <a:chOff x="5846064" y="1851660"/>
            <a:chExt cx="6065520" cy="3299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6064" y="1851660"/>
              <a:ext cx="6065520" cy="329946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6456" y="2124456"/>
              <a:ext cx="4427220" cy="2602992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3374135" y="4610100"/>
            <a:ext cx="1379220" cy="550545"/>
            <a:chOff x="3374135" y="4610100"/>
            <a:chExt cx="1379220" cy="550545"/>
          </a:xfrm>
        </p:grpSpPr>
        <p:pic>
          <p:nvPicPr>
            <p:cNvPr id="7" name="object 7" descr="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74135" y="4623816"/>
              <a:ext cx="688848" cy="536448"/>
            </a:xfrm>
            <a:prstGeom prst="rect">
              <a:avLst/>
            </a:prstGeom>
          </p:spPr>
        </p:pic>
        <p:pic>
          <p:nvPicPr>
            <p:cNvPr id="8" name="object 8" descr="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50791" y="4610100"/>
              <a:ext cx="702563" cy="545592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481076" y="3096259"/>
            <a:ext cx="4545965" cy="2842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Gartner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Tech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LinkedIn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dedicated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providing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with the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latest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insights,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practices,</a:t>
            </a:r>
            <a:r>
              <a:rPr dirty="0" sz="18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strategic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views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topics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impacting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tech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providers.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3200">
                <a:solidFill>
                  <a:srgbClr val="FDC10D"/>
                </a:solidFill>
                <a:latin typeface="Arial Black"/>
                <a:cs typeface="Arial Black"/>
              </a:rPr>
              <a:t>Follow</a:t>
            </a:r>
            <a:r>
              <a:rPr dirty="0" sz="3200" spc="-25">
                <a:solidFill>
                  <a:srgbClr val="FDC10D"/>
                </a:solidFill>
                <a:latin typeface="Arial Black"/>
                <a:cs typeface="Arial Black"/>
              </a:rPr>
              <a:t> </a:t>
            </a:r>
            <a:r>
              <a:rPr dirty="0" sz="3200">
                <a:solidFill>
                  <a:srgbClr val="FDC10D"/>
                </a:solidFill>
                <a:latin typeface="Arial Black"/>
                <a:cs typeface="Arial Black"/>
              </a:rPr>
              <a:t>us</a:t>
            </a:r>
            <a:r>
              <a:rPr dirty="0" sz="3200" spc="-15">
                <a:solidFill>
                  <a:srgbClr val="FDC10D"/>
                </a:solidFill>
                <a:latin typeface="Arial Black"/>
                <a:cs typeface="Arial Black"/>
              </a:rPr>
              <a:t> </a:t>
            </a:r>
            <a:r>
              <a:rPr dirty="0" sz="3200" spc="-25">
                <a:solidFill>
                  <a:srgbClr val="FDC10D"/>
                </a:solidFill>
                <a:latin typeface="Arial Black"/>
                <a:cs typeface="Arial Black"/>
              </a:rPr>
              <a:t>on</a:t>
            </a:r>
            <a:endParaRPr sz="3200">
              <a:latin typeface="Arial Black"/>
              <a:cs typeface="Arial Black"/>
            </a:endParaRPr>
          </a:p>
          <a:p>
            <a:pPr marL="67310" marR="367030">
              <a:lnSpc>
                <a:spcPts val="1939"/>
              </a:lnSpc>
              <a:spcBef>
                <a:spcPts val="274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Looking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delivered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inbox?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Subscribe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8"/>
              </a:rPr>
              <a:t>bi-</a:t>
            </a:r>
            <a:r>
              <a:rPr dirty="0" u="sng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8"/>
              </a:rPr>
              <a:t>weekly</a:t>
            </a:r>
            <a:r>
              <a:rPr dirty="0" u="sng" sz="1800" spc="-3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dirty="0" u="sng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  <a:hlinkClick r:id="rId8"/>
              </a:rPr>
              <a:t>newsletter</a:t>
            </a:r>
            <a:r>
              <a:rPr dirty="0" u="none" sz="1800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6225">
              <a:lnSpc>
                <a:spcPts val="770"/>
              </a:lnSpc>
              <a:spcBef>
                <a:spcPts val="30"/>
              </a:spcBef>
            </a:pPr>
            <a:r>
              <a:rPr dirty="0">
                <a:solidFill>
                  <a:srgbClr val="FFFFFF"/>
                </a:solidFill>
              </a:rPr>
              <a:t>RESTRICTED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DISTRIBUTION</a:t>
            </a:r>
          </a:p>
          <a:p>
            <a:pPr marL="38100">
              <a:lnSpc>
                <a:spcPts val="1130"/>
              </a:lnSpc>
            </a:pPr>
            <a:fld id="{81D60167-4931-47E6-BA6A-407CBD079E47}" type="slidenum">
              <a:rPr dirty="0" sz="1000" b="0">
                <a:solidFill>
                  <a:srgbClr val="FFFFFF"/>
                </a:solidFill>
                <a:latin typeface="Arial"/>
                <a:cs typeface="Arial"/>
              </a:rPr>
              <a:t>32</a:t>
            </a:fld>
            <a:r>
              <a:rPr dirty="0" sz="1000" spc="33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dirty="0" spc="-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Gartner,</a:t>
            </a:r>
            <a:r>
              <a:rPr dirty="0" spc="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pc="1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and/or its</a:t>
            </a:r>
            <a:r>
              <a:rPr dirty="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affiliates.</a:t>
            </a:r>
            <a:r>
              <a:rPr dirty="0" spc="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pc="-3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="0">
                <a:solidFill>
                  <a:srgbClr val="FFFFFF"/>
                </a:solidFill>
                <a:latin typeface="Arial"/>
                <a:cs typeface="Arial"/>
              </a:rPr>
              <a:t>rights </a:t>
            </a:r>
            <a:r>
              <a:rPr dirty="0" spc="-10" b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7200" y="6311941"/>
            <a:ext cx="2564765" cy="234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8125">
              <a:lnSpc>
                <a:spcPts val="700"/>
              </a:lnSpc>
            </a:pPr>
            <a:r>
              <a:rPr dirty="0" sz="700" b="1">
                <a:latin typeface="Arial"/>
                <a:cs typeface="Arial"/>
              </a:rPr>
              <a:t>RESTRICTED</a:t>
            </a:r>
            <a:r>
              <a:rPr dirty="0" sz="700" spc="-50" b="1">
                <a:latin typeface="Arial"/>
                <a:cs typeface="Arial"/>
              </a:rPr>
              <a:t> </a:t>
            </a:r>
            <a:r>
              <a:rPr dirty="0" sz="700" spc="-10" b="1">
                <a:latin typeface="Arial"/>
                <a:cs typeface="Arial"/>
              </a:rPr>
              <a:t>DISTRIBUTION</a:t>
            </a:r>
            <a:endParaRPr sz="700">
              <a:latin typeface="Arial"/>
              <a:cs typeface="Arial"/>
            </a:endParaRPr>
          </a:p>
          <a:p>
            <a:pPr>
              <a:lnSpc>
                <a:spcPts val="1130"/>
              </a:lnSpc>
            </a:pPr>
            <a:r>
              <a:rPr dirty="0" sz="1000">
                <a:latin typeface="Arial"/>
                <a:cs typeface="Arial"/>
              </a:rPr>
              <a:t>33</a:t>
            </a:r>
            <a:r>
              <a:rPr dirty="0" sz="1000" spc="32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©</a:t>
            </a:r>
            <a:r>
              <a:rPr dirty="0" sz="700" spc="-2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2023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Gartner,</a:t>
            </a:r>
            <a:r>
              <a:rPr dirty="0" sz="700" spc="2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Inc.</a:t>
            </a:r>
            <a:r>
              <a:rPr dirty="0" sz="700" spc="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and/or its</a:t>
            </a:r>
            <a:r>
              <a:rPr dirty="0" sz="700" spc="-2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affiliates. All</a:t>
            </a:r>
            <a:r>
              <a:rPr dirty="0" sz="700" spc="-3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rights </a:t>
            </a:r>
            <a:r>
              <a:rPr dirty="0" sz="700" spc="-10">
                <a:latin typeface="Arial"/>
                <a:cs typeface="Arial"/>
              </a:rPr>
              <a:t>reserved.</a:t>
            </a:r>
            <a:endParaRPr sz="7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3828"/>
            <a:ext cx="1280159" cy="29108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353311"/>
            <a:ext cx="1755775" cy="3291840"/>
          </a:xfrm>
          <a:custGeom>
            <a:avLst/>
            <a:gdLst/>
            <a:ahLst/>
            <a:cxnLst/>
            <a:rect l="l" t="t" r="r" b="b"/>
            <a:pathLst>
              <a:path w="1755775" h="3291840">
                <a:moveTo>
                  <a:pt x="1755648" y="0"/>
                </a:moveTo>
                <a:lnTo>
                  <a:pt x="0" y="0"/>
                </a:lnTo>
                <a:lnTo>
                  <a:pt x="0" y="3291840"/>
                </a:lnTo>
                <a:lnTo>
                  <a:pt x="1755648" y="3291840"/>
                </a:lnTo>
                <a:lnTo>
                  <a:pt x="1755648" y="0"/>
                </a:lnTo>
                <a:close/>
              </a:path>
            </a:pathLst>
          </a:custGeom>
          <a:solidFill>
            <a:srgbClr val="0028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141464" y="1353311"/>
            <a:ext cx="5047615" cy="3291840"/>
          </a:xfrm>
          <a:custGeom>
            <a:avLst/>
            <a:gdLst/>
            <a:ahLst/>
            <a:cxnLst/>
            <a:rect l="l" t="t" r="r" b="b"/>
            <a:pathLst>
              <a:path w="5047615" h="3291840">
                <a:moveTo>
                  <a:pt x="5047487" y="0"/>
                </a:moveTo>
                <a:lnTo>
                  <a:pt x="0" y="0"/>
                </a:lnTo>
                <a:lnTo>
                  <a:pt x="0" y="3291840"/>
                </a:lnTo>
                <a:lnTo>
                  <a:pt x="5047487" y="3291840"/>
                </a:lnTo>
                <a:lnTo>
                  <a:pt x="5047487" y="0"/>
                </a:lnTo>
                <a:close/>
              </a:path>
            </a:pathLst>
          </a:custGeom>
          <a:solidFill>
            <a:srgbClr val="0028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985772" y="3956303"/>
            <a:ext cx="2451100" cy="603885"/>
          </a:xfrm>
          <a:prstGeom prst="rect">
            <a:avLst/>
          </a:prstGeom>
          <a:solidFill>
            <a:srgbClr val="FF5309"/>
          </a:solidFill>
        </p:spPr>
        <p:txBody>
          <a:bodyPr wrap="square" lIns="0" tIns="158750" rIns="0" bIns="0" rtlCol="0" vert="horz">
            <a:spAutoFit/>
          </a:bodyPr>
          <a:lstStyle/>
          <a:p>
            <a:pPr marL="610235">
              <a:lnSpc>
                <a:spcPct val="100000"/>
              </a:lnSpc>
              <a:spcBef>
                <a:spcPts val="125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  <a:hlinkClick r:id="rId3"/>
              </a:rPr>
              <a:t>Learn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  <a:hlinkClick r:id="rId3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  <a:hlinkClick r:id="rId3"/>
              </a:rPr>
              <a:t>More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66115" y="6292596"/>
            <a:ext cx="10246360" cy="277495"/>
          </a:xfrm>
          <a:custGeom>
            <a:avLst/>
            <a:gdLst/>
            <a:ahLst/>
            <a:cxnLst/>
            <a:rect l="l" t="t" r="r" b="b"/>
            <a:pathLst>
              <a:path w="10246360" h="277495">
                <a:moveTo>
                  <a:pt x="10245852" y="0"/>
                </a:moveTo>
                <a:lnTo>
                  <a:pt x="0" y="0"/>
                </a:lnTo>
                <a:lnTo>
                  <a:pt x="0" y="277367"/>
                </a:lnTo>
                <a:lnTo>
                  <a:pt x="10245852" y="277367"/>
                </a:lnTo>
                <a:lnTo>
                  <a:pt x="102458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73326" y="1350009"/>
            <a:ext cx="368935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Become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 spc="-10"/>
              <a:t>Client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973326" y="2346401"/>
            <a:ext cx="4934585" cy="1489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Clients</a:t>
            </a:r>
            <a:r>
              <a:rPr dirty="0" sz="1600" spc="-3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receive</a:t>
            </a:r>
            <a:r>
              <a:rPr dirty="0" sz="1600" spc="-1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24/7</a:t>
            </a:r>
            <a:r>
              <a:rPr dirty="0" sz="1600" spc="-4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access</a:t>
            </a:r>
            <a:r>
              <a:rPr dirty="0" sz="1600" spc="-5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to</a:t>
            </a:r>
            <a:r>
              <a:rPr dirty="0" sz="1600" spc="-3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proven</a:t>
            </a:r>
            <a:r>
              <a:rPr dirty="0" sz="1600" spc="-1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002855"/>
                </a:solidFill>
                <a:latin typeface="Arial"/>
                <a:cs typeface="Arial"/>
              </a:rPr>
              <a:t>management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and</a:t>
            </a:r>
            <a:r>
              <a:rPr dirty="0" sz="1600" spc="-7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technology</a:t>
            </a:r>
            <a:r>
              <a:rPr dirty="0" sz="1600" spc="-4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research,</a:t>
            </a:r>
            <a:r>
              <a:rPr dirty="0" sz="1600" spc="-5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expert</a:t>
            </a:r>
            <a:r>
              <a:rPr dirty="0" sz="1600" spc="-5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002855"/>
                </a:solidFill>
                <a:latin typeface="Arial"/>
                <a:cs typeface="Arial"/>
              </a:rPr>
              <a:t>advice, benchmarks,</a:t>
            </a:r>
            <a:r>
              <a:rPr dirty="0" sz="1600" spc="-3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diagnostics</a:t>
            </a:r>
            <a:r>
              <a:rPr dirty="0" sz="1600" spc="-1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and</a:t>
            </a:r>
            <a:r>
              <a:rPr dirty="0" sz="1600" spc="-6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002855"/>
                </a:solidFill>
                <a:latin typeface="Arial"/>
                <a:cs typeface="Arial"/>
              </a:rPr>
              <a:t>more.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600">
              <a:latin typeface="Arial"/>
              <a:cs typeface="Arial"/>
            </a:endParaRPr>
          </a:p>
          <a:p>
            <a:pPr marL="12700" marR="216535">
              <a:lnSpc>
                <a:spcPct val="100000"/>
              </a:lnSpc>
            </a:pP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Fill</a:t>
            </a:r>
            <a:r>
              <a:rPr dirty="0" sz="1600" spc="-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out</a:t>
            </a:r>
            <a:r>
              <a:rPr dirty="0" sz="1600" spc="-1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the</a:t>
            </a:r>
            <a:r>
              <a:rPr dirty="0" sz="1600" spc="-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form</a:t>
            </a:r>
            <a:r>
              <a:rPr dirty="0" sz="1600" spc="-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to</a:t>
            </a:r>
            <a:r>
              <a:rPr dirty="0" sz="1600" spc="-2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connect</a:t>
            </a:r>
            <a:r>
              <a:rPr dirty="0" sz="1600" spc="-1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with</a:t>
            </a:r>
            <a:r>
              <a:rPr dirty="0" sz="1600" spc="-3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a</a:t>
            </a:r>
            <a:r>
              <a:rPr dirty="0" sz="16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002855"/>
                </a:solidFill>
                <a:latin typeface="Arial"/>
                <a:cs typeface="Arial"/>
              </a:rPr>
              <a:t>representative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and</a:t>
            </a:r>
            <a:r>
              <a:rPr dirty="0" sz="1600" spc="-4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002855"/>
                </a:solidFill>
                <a:latin typeface="Arial"/>
                <a:cs typeface="Arial"/>
              </a:rPr>
              <a:t>learn</a:t>
            </a:r>
            <a:r>
              <a:rPr dirty="0" sz="16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002855"/>
                </a:solidFill>
                <a:latin typeface="Arial"/>
                <a:cs typeface="Arial"/>
              </a:rPr>
              <a:t>more.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064766" y="4863465"/>
            <a:ext cx="5486400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Or</a:t>
            </a:r>
            <a:r>
              <a:rPr dirty="0" sz="1800" spc="-1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give</a:t>
            </a:r>
            <a:r>
              <a:rPr dirty="0" sz="1800" spc="1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us</a:t>
            </a:r>
            <a:r>
              <a:rPr dirty="0" sz="1800" spc="-1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a</a:t>
            </a:r>
            <a:r>
              <a:rPr dirty="0" sz="1800" spc="-1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call:</a:t>
            </a:r>
            <a:r>
              <a:rPr dirty="0" sz="1800" spc="-2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+441784614280</a:t>
            </a:r>
            <a:r>
              <a:rPr dirty="0" sz="1800" spc="1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|</a:t>
            </a:r>
            <a:r>
              <a:rPr dirty="0" sz="1800" spc="-2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+1</a:t>
            </a:r>
            <a:r>
              <a:rPr dirty="0" sz="1800" spc="-10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855</a:t>
            </a:r>
            <a:r>
              <a:rPr dirty="0" sz="1800" spc="-2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5309"/>
                </a:solidFill>
                <a:latin typeface="Arial"/>
                <a:cs typeface="Arial"/>
              </a:rPr>
              <a:t>637</a:t>
            </a:r>
            <a:r>
              <a:rPr dirty="0" sz="1800" spc="-5" b="1">
                <a:solidFill>
                  <a:srgbClr val="FF5309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F5309"/>
                </a:solidFill>
                <a:latin typeface="Arial"/>
                <a:cs typeface="Arial"/>
              </a:rPr>
              <a:t>0291</a:t>
            </a:r>
            <a:endParaRPr sz="18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8</a:t>
            </a:r>
            <a:r>
              <a:rPr dirty="0" sz="1400" spc="-1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a.m.</a:t>
            </a:r>
            <a:r>
              <a:rPr dirty="0" sz="14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–</a:t>
            </a:r>
            <a:r>
              <a:rPr dirty="0" sz="1400" spc="-1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7</a:t>
            </a:r>
            <a:r>
              <a:rPr dirty="0" sz="1400" spc="-1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p.m.</a:t>
            </a:r>
            <a:r>
              <a:rPr dirty="0" sz="1400" spc="-1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002855"/>
                </a:solidFill>
                <a:latin typeface="Arial"/>
                <a:cs typeface="Arial"/>
              </a:rPr>
              <a:t>ET</a:t>
            </a:r>
            <a:endParaRPr sz="14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8</a:t>
            </a:r>
            <a:r>
              <a:rPr dirty="0" sz="1400" spc="-1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a.m.</a:t>
            </a:r>
            <a:r>
              <a:rPr dirty="0" sz="1400" spc="-2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–</a:t>
            </a:r>
            <a:r>
              <a:rPr dirty="0" sz="1400" spc="-1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5</a:t>
            </a:r>
            <a:r>
              <a:rPr dirty="0" sz="1400" spc="-1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p.m.</a:t>
            </a:r>
            <a:r>
              <a:rPr dirty="0" sz="1400" spc="-15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002855"/>
                </a:solidFill>
                <a:latin typeface="Arial"/>
                <a:cs typeface="Arial"/>
              </a:rPr>
              <a:t>GMT</a:t>
            </a:r>
            <a:endParaRPr sz="14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Monday</a:t>
            </a:r>
            <a:r>
              <a:rPr dirty="0" sz="1400" spc="-8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002855"/>
                </a:solidFill>
                <a:latin typeface="Arial"/>
                <a:cs typeface="Arial"/>
              </a:rPr>
              <a:t>through</a:t>
            </a:r>
            <a:r>
              <a:rPr dirty="0" sz="1400" spc="-60" b="1">
                <a:solidFill>
                  <a:srgbClr val="002855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002855"/>
                </a:solidFill>
                <a:latin typeface="Arial"/>
                <a:cs typeface="Arial"/>
              </a:rPr>
              <a:t>Friday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2303"/>
            <a:ext cx="1280159" cy="2926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2276" y="413080"/>
            <a:ext cx="583692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60825" algn="l"/>
              </a:tabLst>
            </a:pPr>
            <a:r>
              <a:rPr dirty="0">
                <a:solidFill>
                  <a:srgbClr val="162B53"/>
                </a:solidFill>
              </a:rPr>
              <a:t>Get</a:t>
            </a:r>
            <a:r>
              <a:rPr dirty="0" spc="-5">
                <a:solidFill>
                  <a:srgbClr val="162B53"/>
                </a:solidFill>
              </a:rPr>
              <a:t> </a:t>
            </a:r>
            <a:r>
              <a:rPr dirty="0">
                <a:solidFill>
                  <a:srgbClr val="162B53"/>
                </a:solidFill>
              </a:rPr>
              <a:t>more</a:t>
            </a:r>
            <a:r>
              <a:rPr dirty="0" spc="25">
                <a:solidFill>
                  <a:srgbClr val="162B53"/>
                </a:solidFill>
              </a:rPr>
              <a:t> </a:t>
            </a:r>
            <a:r>
              <a:rPr dirty="0" spc="-10">
                <a:solidFill>
                  <a:srgbClr val="162B53"/>
                </a:solidFill>
              </a:rPr>
              <a:t>Gartner</a:t>
            </a:r>
            <a:r>
              <a:rPr dirty="0">
                <a:solidFill>
                  <a:srgbClr val="162B53"/>
                </a:solidFill>
              </a:rPr>
              <a:t>	</a:t>
            </a:r>
            <a:r>
              <a:rPr dirty="0" spc="-10"/>
              <a:t>insights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30224" y="3323844"/>
            <a:ext cx="1079500" cy="745490"/>
          </a:xfrm>
          <a:custGeom>
            <a:avLst/>
            <a:gdLst/>
            <a:ahLst/>
            <a:cxnLst/>
            <a:rect l="l" t="t" r="r" b="b"/>
            <a:pathLst>
              <a:path w="1079500" h="745489">
                <a:moveTo>
                  <a:pt x="1078992" y="671321"/>
                </a:moveTo>
                <a:lnTo>
                  <a:pt x="0" y="671321"/>
                </a:lnTo>
                <a:lnTo>
                  <a:pt x="0" y="745235"/>
                </a:lnTo>
                <a:lnTo>
                  <a:pt x="1078992" y="745235"/>
                </a:lnTo>
                <a:lnTo>
                  <a:pt x="1078992" y="671321"/>
                </a:lnTo>
                <a:close/>
              </a:path>
              <a:path w="1079500" h="745489">
                <a:moveTo>
                  <a:pt x="933450" y="0"/>
                </a:moveTo>
                <a:lnTo>
                  <a:pt x="142722" y="0"/>
                </a:lnTo>
                <a:lnTo>
                  <a:pt x="142722" y="597407"/>
                </a:lnTo>
                <a:lnTo>
                  <a:pt x="933450" y="597407"/>
                </a:lnTo>
                <a:lnTo>
                  <a:pt x="933450" y="520445"/>
                </a:lnTo>
                <a:lnTo>
                  <a:pt x="214083" y="520445"/>
                </a:lnTo>
                <a:lnTo>
                  <a:pt x="214083" y="73913"/>
                </a:lnTo>
                <a:lnTo>
                  <a:pt x="933450" y="73913"/>
                </a:lnTo>
                <a:lnTo>
                  <a:pt x="933450" y="0"/>
                </a:lnTo>
                <a:close/>
              </a:path>
              <a:path w="1079500" h="745489">
                <a:moveTo>
                  <a:pt x="933450" y="73913"/>
                </a:moveTo>
                <a:lnTo>
                  <a:pt x="862076" y="73913"/>
                </a:lnTo>
                <a:lnTo>
                  <a:pt x="862076" y="520445"/>
                </a:lnTo>
                <a:lnTo>
                  <a:pt x="933450" y="520445"/>
                </a:lnTo>
                <a:lnTo>
                  <a:pt x="933450" y="73913"/>
                </a:lnTo>
                <a:close/>
              </a:path>
              <a:path w="1079500" h="745489">
                <a:moveTo>
                  <a:pt x="465328" y="195198"/>
                </a:moveTo>
                <a:lnTo>
                  <a:pt x="465328" y="399287"/>
                </a:lnTo>
                <a:lnTo>
                  <a:pt x="642238" y="298703"/>
                </a:lnTo>
                <a:lnTo>
                  <a:pt x="465328" y="195198"/>
                </a:lnTo>
                <a:close/>
              </a:path>
            </a:pathLst>
          </a:custGeom>
          <a:solidFill>
            <a:srgbClr val="FF53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473579" y="2138933"/>
            <a:ext cx="8398510" cy="3042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162B53"/>
                </a:solidFill>
                <a:latin typeface="Arial"/>
                <a:cs typeface="Arial"/>
              </a:rPr>
              <a:t>Download</a:t>
            </a:r>
            <a:r>
              <a:rPr dirty="0" sz="2800" spc="-80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62B53"/>
                </a:solidFill>
                <a:latin typeface="Arial"/>
                <a:cs typeface="Arial"/>
              </a:rPr>
              <a:t>the</a:t>
            </a:r>
            <a:r>
              <a:rPr dirty="0" sz="2800" spc="-90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62B53"/>
                </a:solidFill>
                <a:latin typeface="Arial"/>
                <a:cs typeface="Arial"/>
              </a:rPr>
              <a:t>research</a:t>
            </a:r>
            <a:r>
              <a:rPr dirty="0" sz="2800" spc="-110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162B53"/>
                </a:solidFill>
                <a:latin typeface="Arial"/>
                <a:cs typeface="Arial"/>
              </a:rPr>
              <a:t>slides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2800" b="1">
                <a:solidFill>
                  <a:srgbClr val="162B53"/>
                </a:solidFill>
                <a:latin typeface="Arial"/>
                <a:cs typeface="Arial"/>
              </a:rPr>
              <a:t>View</a:t>
            </a:r>
            <a:r>
              <a:rPr dirty="0" sz="2800" spc="-100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62B53"/>
                </a:solidFill>
                <a:latin typeface="Arial"/>
                <a:cs typeface="Arial"/>
              </a:rPr>
              <a:t>upcoming</a:t>
            </a:r>
            <a:r>
              <a:rPr dirty="0" sz="2800" spc="-70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62B53"/>
                </a:solidFill>
                <a:latin typeface="Arial"/>
                <a:cs typeface="Arial"/>
              </a:rPr>
              <a:t>and</a:t>
            </a:r>
            <a:r>
              <a:rPr dirty="0" sz="2800" spc="-90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2800" spc="-25" b="1">
                <a:solidFill>
                  <a:srgbClr val="162B53"/>
                </a:solidFill>
                <a:latin typeface="Arial"/>
                <a:cs typeface="Arial"/>
              </a:rPr>
              <a:t>on-</a:t>
            </a:r>
            <a:r>
              <a:rPr dirty="0" sz="2800" b="1">
                <a:solidFill>
                  <a:srgbClr val="162B53"/>
                </a:solidFill>
                <a:latin typeface="Arial"/>
                <a:cs typeface="Arial"/>
              </a:rPr>
              <a:t>demand</a:t>
            </a:r>
            <a:r>
              <a:rPr dirty="0" sz="2800" spc="-55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62B53"/>
                </a:solidFill>
                <a:latin typeface="Arial"/>
                <a:cs typeface="Arial"/>
              </a:rPr>
              <a:t>Gartner</a:t>
            </a:r>
            <a:r>
              <a:rPr dirty="0" sz="2800" spc="-100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162B53"/>
                </a:solidFill>
                <a:latin typeface="Arial"/>
                <a:cs typeface="Arial"/>
              </a:rPr>
              <a:t>webinars </a:t>
            </a:r>
            <a:r>
              <a:rPr dirty="0" sz="2800" b="1">
                <a:solidFill>
                  <a:srgbClr val="162B53"/>
                </a:solidFill>
                <a:latin typeface="Arial"/>
                <a:cs typeface="Arial"/>
              </a:rPr>
              <a:t>at</a:t>
            </a:r>
            <a:r>
              <a:rPr dirty="0" sz="2800" spc="-30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u="sng" sz="2800" spc="-10">
                <a:solidFill>
                  <a:srgbClr val="002855"/>
                </a:solidFill>
                <a:uFill>
                  <a:solidFill>
                    <a:srgbClr val="002855"/>
                  </a:solidFill>
                </a:uFill>
                <a:latin typeface="Arial"/>
                <a:cs typeface="Arial"/>
                <a:hlinkClick r:id="rId3"/>
              </a:rPr>
              <a:t>gartner.com/webinars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solidFill>
                  <a:srgbClr val="162B53"/>
                </a:solidFill>
                <a:latin typeface="Arial"/>
                <a:cs typeface="Arial"/>
              </a:rPr>
              <a:t>Rate</a:t>
            </a:r>
            <a:r>
              <a:rPr dirty="0" sz="2800" spc="-55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62B53"/>
                </a:solidFill>
                <a:latin typeface="Arial"/>
                <a:cs typeface="Arial"/>
              </a:rPr>
              <a:t>this</a:t>
            </a:r>
            <a:r>
              <a:rPr dirty="0" sz="2800" spc="-70" b="1">
                <a:solidFill>
                  <a:srgbClr val="162B53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162B53"/>
                </a:solidFill>
                <a:latin typeface="Arial"/>
                <a:cs typeface="Arial"/>
              </a:rPr>
              <a:t>session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0224" y="1895855"/>
            <a:ext cx="1078991" cy="89763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6903" y="4600955"/>
            <a:ext cx="867156" cy="858123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6225">
              <a:lnSpc>
                <a:spcPts val="770"/>
              </a:lnSpc>
              <a:spcBef>
                <a:spcPts val="30"/>
              </a:spcBef>
            </a:pPr>
            <a:r>
              <a:rPr dirty="0"/>
              <a:t>RESTRICTED</a:t>
            </a:r>
            <a:r>
              <a:rPr dirty="0" spc="-50"/>
              <a:t> </a:t>
            </a:r>
            <a:r>
              <a:rPr dirty="0" spc="-10"/>
              <a:t>DISTRIBUTION</a:t>
            </a:r>
          </a:p>
          <a:p>
            <a:pPr marL="38100">
              <a:lnSpc>
                <a:spcPts val="1130"/>
              </a:lnSpc>
            </a:pPr>
            <a:fld id="{81D60167-4931-47E6-BA6A-407CBD079E47}" type="slidenum">
              <a:rPr dirty="0" sz="1000" b="0">
                <a:latin typeface="Arial"/>
                <a:cs typeface="Arial"/>
              </a:rPr>
              <a:t>35</a:t>
            </a:fld>
            <a:r>
              <a:rPr dirty="0" sz="1000" spc="33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©</a:t>
            </a:r>
            <a:r>
              <a:rPr dirty="0" spc="-2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2023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Gartner,</a:t>
            </a:r>
            <a:r>
              <a:rPr dirty="0" spc="2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Inc.</a:t>
            </a:r>
            <a:r>
              <a:rPr dirty="0" spc="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and/or its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affiliates.</a:t>
            </a:r>
            <a:r>
              <a:rPr dirty="0" spc="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All</a:t>
            </a:r>
            <a:r>
              <a:rPr dirty="0" spc="-3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rights </a:t>
            </a:r>
            <a:r>
              <a:rPr dirty="0" spc="-10" b="0"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3116" y="6243828"/>
            <a:ext cx="1280159" cy="2910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Rate</a:t>
            </a:r>
            <a:r>
              <a:rPr dirty="0" spc="-5"/>
              <a:t> </a:t>
            </a:r>
            <a:r>
              <a:rPr dirty="0"/>
              <a:t>this</a:t>
            </a:r>
            <a:r>
              <a:rPr dirty="0" spc="-25"/>
              <a:t> </a:t>
            </a:r>
            <a:r>
              <a:rPr dirty="0" spc="-10"/>
              <a:t>session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6085" y="762000"/>
            <a:ext cx="11555095" cy="5334000"/>
            <a:chOff x="6085" y="762000"/>
            <a:chExt cx="11555095" cy="53340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9640" y="893780"/>
              <a:ext cx="6783323" cy="516411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720590" y="781050"/>
              <a:ext cx="6821805" cy="5295900"/>
            </a:xfrm>
            <a:custGeom>
              <a:avLst/>
              <a:gdLst/>
              <a:ahLst/>
              <a:cxnLst/>
              <a:rect l="l" t="t" r="r" b="b"/>
              <a:pathLst>
                <a:path w="6821805" h="5295900">
                  <a:moveTo>
                    <a:pt x="0" y="5295900"/>
                  </a:moveTo>
                  <a:lnTo>
                    <a:pt x="6821423" y="5295900"/>
                  </a:lnTo>
                  <a:lnTo>
                    <a:pt x="6821423" y="0"/>
                  </a:lnTo>
                  <a:lnTo>
                    <a:pt x="0" y="0"/>
                  </a:lnTo>
                  <a:lnTo>
                    <a:pt x="0" y="52959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6067" y="1519427"/>
              <a:ext cx="1374648" cy="176631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39640" y="871728"/>
              <a:ext cx="996696" cy="31851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85" y="1074420"/>
              <a:ext cx="4162121" cy="420014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62912" y="5212079"/>
              <a:ext cx="4172712" cy="51663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044446" y="5311902"/>
              <a:ext cx="4053204" cy="358775"/>
            </a:xfrm>
            <a:custGeom>
              <a:avLst/>
              <a:gdLst/>
              <a:ahLst/>
              <a:cxnLst/>
              <a:rect l="l" t="t" r="r" b="b"/>
              <a:pathLst>
                <a:path w="4053204" h="358775">
                  <a:moveTo>
                    <a:pt x="50800" y="63500"/>
                  </a:moveTo>
                  <a:lnTo>
                    <a:pt x="25400" y="63500"/>
                  </a:lnTo>
                  <a:lnTo>
                    <a:pt x="25400" y="353085"/>
                  </a:lnTo>
                  <a:lnTo>
                    <a:pt x="31115" y="358775"/>
                  </a:lnTo>
                  <a:lnTo>
                    <a:pt x="4052824" y="358775"/>
                  </a:lnTo>
                  <a:lnTo>
                    <a:pt x="4052824" y="346075"/>
                  </a:lnTo>
                  <a:lnTo>
                    <a:pt x="50800" y="346075"/>
                  </a:lnTo>
                  <a:lnTo>
                    <a:pt x="38100" y="333375"/>
                  </a:lnTo>
                  <a:lnTo>
                    <a:pt x="50800" y="333375"/>
                  </a:lnTo>
                  <a:lnTo>
                    <a:pt x="50800" y="63500"/>
                  </a:lnTo>
                  <a:close/>
                </a:path>
                <a:path w="4053204" h="358775">
                  <a:moveTo>
                    <a:pt x="50800" y="333375"/>
                  </a:moveTo>
                  <a:lnTo>
                    <a:pt x="38100" y="333375"/>
                  </a:lnTo>
                  <a:lnTo>
                    <a:pt x="50800" y="346075"/>
                  </a:lnTo>
                  <a:lnTo>
                    <a:pt x="50800" y="333375"/>
                  </a:lnTo>
                  <a:close/>
                </a:path>
                <a:path w="4053204" h="358775">
                  <a:moveTo>
                    <a:pt x="4052824" y="333375"/>
                  </a:moveTo>
                  <a:lnTo>
                    <a:pt x="50800" y="333375"/>
                  </a:lnTo>
                  <a:lnTo>
                    <a:pt x="50800" y="346075"/>
                  </a:lnTo>
                  <a:lnTo>
                    <a:pt x="4052824" y="346075"/>
                  </a:lnTo>
                  <a:lnTo>
                    <a:pt x="4052824" y="333375"/>
                  </a:lnTo>
                  <a:close/>
                </a:path>
                <a:path w="4053204" h="358775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4053204" h="358775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530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63411" y="1443227"/>
              <a:ext cx="2878836" cy="1618488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249924" y="5530596"/>
              <a:ext cx="1292860" cy="254635"/>
            </a:xfrm>
            <a:custGeom>
              <a:avLst/>
              <a:gdLst/>
              <a:ahLst/>
              <a:cxnLst/>
              <a:rect l="l" t="t" r="r" b="b"/>
              <a:pathLst>
                <a:path w="1292859" h="254635">
                  <a:moveTo>
                    <a:pt x="0" y="254507"/>
                  </a:moveTo>
                  <a:lnTo>
                    <a:pt x="1292352" y="254507"/>
                  </a:lnTo>
                  <a:lnTo>
                    <a:pt x="1292352" y="0"/>
                  </a:lnTo>
                  <a:lnTo>
                    <a:pt x="0" y="0"/>
                  </a:lnTo>
                  <a:lnTo>
                    <a:pt x="0" y="254507"/>
                  </a:lnTo>
                  <a:close/>
                </a:path>
              </a:pathLst>
            </a:custGeom>
            <a:ln w="57150">
              <a:solidFill>
                <a:srgbClr val="FF530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76225">
              <a:lnSpc>
                <a:spcPts val="770"/>
              </a:lnSpc>
              <a:spcBef>
                <a:spcPts val="30"/>
              </a:spcBef>
            </a:pPr>
            <a:r>
              <a:rPr dirty="0"/>
              <a:t>RESTRICTED</a:t>
            </a:r>
            <a:r>
              <a:rPr dirty="0" spc="-50"/>
              <a:t> </a:t>
            </a:r>
            <a:r>
              <a:rPr dirty="0" spc="-10"/>
              <a:t>DISTRIBUTION</a:t>
            </a:r>
          </a:p>
          <a:p>
            <a:pPr marL="38100">
              <a:lnSpc>
                <a:spcPts val="1130"/>
              </a:lnSpc>
            </a:pPr>
            <a:fld id="{81D60167-4931-47E6-BA6A-407CBD079E47}" type="slidenum">
              <a:rPr dirty="0" sz="1000" b="0">
                <a:latin typeface="Arial"/>
                <a:cs typeface="Arial"/>
              </a:rPr>
              <a:t>35</a:t>
            </a:fld>
            <a:r>
              <a:rPr dirty="0" sz="1000" spc="33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©</a:t>
            </a:r>
            <a:r>
              <a:rPr dirty="0" spc="-2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2023</a:t>
            </a:r>
            <a:r>
              <a:rPr dirty="0" spc="-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Gartner,</a:t>
            </a:r>
            <a:r>
              <a:rPr dirty="0" spc="2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Inc.</a:t>
            </a:r>
            <a:r>
              <a:rPr dirty="0" spc="1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and/or its</a:t>
            </a:r>
            <a:r>
              <a:rPr dirty="0" spc="-20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affiliates.</a:t>
            </a:r>
            <a:r>
              <a:rPr dirty="0" spc="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All</a:t>
            </a:r>
            <a:r>
              <a:rPr dirty="0" spc="-35" b="0">
                <a:latin typeface="Arial"/>
                <a:cs typeface="Arial"/>
              </a:rPr>
              <a:t> </a:t>
            </a:r>
            <a:r>
              <a:rPr dirty="0" b="0">
                <a:latin typeface="Arial"/>
                <a:cs typeface="Arial"/>
              </a:rPr>
              <a:t>rights </a:t>
            </a:r>
            <a:r>
              <a:rPr dirty="0" spc="-10" b="0">
                <a:latin typeface="Arial"/>
                <a:cs typeface="Arial"/>
              </a:rPr>
              <a:t>reserved.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Sanny.Mual@gartner.com</dc:creator>
  <dc:title>Gartner Webinars</dc:title>
  <dcterms:created xsi:type="dcterms:W3CDTF">2025-06-08T15:56:10Z</dcterms:created>
  <dcterms:modified xsi:type="dcterms:W3CDTF">2025-06-08T15:56:10Z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2023-05-31T00:00:00Z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2025-06-08T00:00:00Z</vt:filetime>
  </property>
  <property fmtid="{D5CDD505-2E9C-101B-9397-08002B2CF9AE}" pid="5" name="Producer">
    <vt:lpwstr>Microsoft® PowerPoint® for Microsoft 365</vt:lpwstr>
  </property>
</Properties>
</file>